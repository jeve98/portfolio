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00000" cy="6858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8000"/>
            <a:ext cx="1160000" cy="16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000" y="6698000"/>
            <a:ext cx="1160000" cy="16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20000" y="6698000"/>
            <a:ext cx="1160000" cy="16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80000" y="6698000"/>
            <a:ext cx="1160000" cy="16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40000" y="6698000"/>
            <a:ext cx="1160000" cy="16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000" y="1200000"/>
            <a:ext cx="5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6EDF3"/>
                </a:solidFill>
              </a:rPr>
              <a:t>전연욱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2100000"/>
            <a:ext cx="5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</a:rPr>
              <a:t>Game Developer  /  Game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000" y="2700000"/>
            <a:ext cx="2500000" cy="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000" y="2850000"/>
            <a:ext cx="5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Unity / C#  ·  Phaser  ·  Django  ·  Vue.js
멀티플레이 네트워크 최적화  ·  게임 시스템 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370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</a:rPr>
              <a:t>삼성 청년 SW 아카데미 (SSAFY) 수료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800000"/>
            <a:ext cx="5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</a:rPr>
              <a:t>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1400000"/>
            <a:ext cx="5800000" cy="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000" y="1400000"/>
            <a:ext cx="18000" cy="90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0000" y="148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371F7"/>
                </a:solidFill>
              </a:rPr>
              <a:t>마네킹: 헌티드 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0000" y="189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비대칭 멀티플레이 PVP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0000" y="2400000"/>
            <a:ext cx="5800000" cy="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000" y="2400000"/>
            <a:ext cx="18000" cy="90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000" y="248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C5CF"/>
                </a:solidFill>
              </a:rPr>
              <a:t>프라가라흐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0000" y="289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웹 기반 액션 RPG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0" y="3400000"/>
            <a:ext cx="5800000" cy="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0000" y="3400000"/>
            <a:ext cx="18000" cy="90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0000" y="348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</a:rPr>
              <a:t>헤이터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0000" y="389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전략 디펜스  [기획]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4400000"/>
            <a:ext cx="5800000" cy="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0" y="4400000"/>
            <a:ext cx="18000" cy="90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0000" y="448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3B341"/>
                </a:solidFill>
              </a:rPr>
              <a:t>노룸베가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0000" y="489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모바일 액션 RPG  [기획]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0" y="5400000"/>
            <a:ext cx="5800000" cy="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0000" y="5400000"/>
            <a:ext cx="18000" cy="90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0000" y="5480000"/>
            <a:ext cx="5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B72"/>
                </a:solidFill>
              </a:rPr>
              <a:t>펌블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0000" y="589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TRPG 모바일 RPG  [기획]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000" y="6478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jadam41817@gmail.com  |  jeve98.github.io/Portfolio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000"/>
            <a:ext cx="12192000" cy="12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" y="400000"/>
            <a:ext cx="12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" y="8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6EDF3"/>
                </a:solidFill>
              </a:rPr>
              <a:t>마네킹: 헌티드 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371F7"/>
                </a:solidFill>
              </a:rPr>
              <a:t>Mannequin: Haunted Mall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" y="3400000"/>
            <a:ext cx="1600000" cy="9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" y="3560000"/>
            <a:ext cx="1195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비대칭 멀티플레이 PVP  |  Unity · Photon PUN2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2000" y="5058000"/>
            <a:ext cx="1800000" cy="180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2000" y="5658000"/>
            <a:ext cx="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1B22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3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6EDF3"/>
                </a:solidFill>
              </a:rPr>
              <a:t>마네킹: 헌티드 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8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A371F7"/>
                </a:solidFill>
              </a:rPr>
              <a:t>Mannequin: Haunted Mall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90000"/>
            <a:ext cx="2100000" cy="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9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비대칭 멀티플레이 PVP  |  Unity · Photon PUN2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0" y="3125000"/>
            <a:ext cx="4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3545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71F7"/>
                </a:solidFill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2026.02 ~ 2026.03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71F7"/>
                </a:solidFill>
              </a:rPr>
              <a:t>팀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6인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6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71F7"/>
                </a:solidFill>
              </a:rPr>
              <a:t>기술 스택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Unity (C#) · Photon PUN2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71F7"/>
                </a:solidFill>
              </a:rPr>
              <a:t>담당 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· 구현 ·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00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71F7"/>
                </a:solidFill>
              </a:rPr>
              <a:t>기획 의도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1280000"/>
            <a:ext cx="5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현대 게이머의 평균 플레이 타임 감소 추세를 반영하여
로그라이크 장르의 핵심 요소를 비대칭 PVP에 접목했다.
• 짧은 단판 플레이
• 매 판 새로운 경험  →  증강 시스템
• 자연스러운 반복 플레이 유도
증강 시스템을 통해 플레이 템포를 가속화하고
리플레이어빌리티를 확보하는 것이 핵심 목표다.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71F7"/>
                </a:solidFill>
              </a:rPr>
              <a:t>프로젝트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000" y="133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장르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0000" y="133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비대칭 멀티플레이 PVP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000" y="169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0000" y="169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2026.02.20 ~ 03.25  (5주)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000" y="20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0000" y="205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6인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000" y="241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0000" y="241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Unity (C#), Photon PUN2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000" y="277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0000" y="277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SSAFY 원내 배포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3500000"/>
            <a:ext cx="6100000" cy="327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000" y="4839000"/>
            <a:ext cx="6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000" y="5259000"/>
            <a:ext cx="6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플레이 영상 캡처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담당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9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기획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440" y="121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살인마 스킬 기획 및 밸런스 논의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1440" y="82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71440" y="82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1440" y="9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살인마 진영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1440" y="121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더미 설치 · 전이 · 교란 · 위장 스킬 4종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61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61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16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스폰 시스템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0" y="20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네트워크 트래픽 50%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1440" y="161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71440" y="161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1440" y="16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상호작용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1440" y="20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IInteractable 인터페이스 기반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0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240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24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증강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0" y="27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AbilityBase 추상 클래스 기반 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71440" y="240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71440" y="240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1440" y="24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렌더링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1440" y="27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Occlusion Culling — 13 fps → 63.6 fps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319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" y="3190000"/>
            <a:ext cx="18288" cy="71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440" y="327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네트워크 안정화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440" y="35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Jitter 완화  (서버 동기화 기준 일원화)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80000" y="820000"/>
            <a:ext cx="60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0000" y="3499000"/>
            <a:ext cx="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80000" y="3919000"/>
            <a:ext cx="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인게임 스크린샷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4010000"/>
            <a:ext cx="5600000" cy="276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5094000"/>
            <a:ext cx="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" y="5514000"/>
            <a:ext cx="5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인게임 화면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살인마 진영 스킬 4종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각 스킬은 마네킹의 위장·기만·심리전 컨셉을 강화하는 방향으로 설계됨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800000" cy="27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5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더미 설치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7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맵의 정해진 구역에 마네킹을 배치.
설치 가능 위치 리스트를 순회하여
가장 가까운 유효 지점을 자동 선택.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1440" y="112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1440" y="198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1440" y="240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440" y="82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1440" y="820000"/>
            <a:ext cx="5800000" cy="27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1440" y="85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1440" y="117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더미 마네킹만 렌더링하는 전용 카메라 추가.
맵 안개로 인한 시야 차단을 막기 위해
커스텀 쉐이더를 제작 적용.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1440" y="112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1440" y="198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1440" y="240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377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3770000"/>
            <a:ext cx="5800000" cy="27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440" y="380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교란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0" y="412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전이 스킬이 애니메이션으로 간파되는 문제 해결.
교란 시 모든 더미에 동시 애니메이션 재생 →
실제 전이와 구분 불가능하도록 설계.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1440" y="407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1440" y="493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1440" y="535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1440" y="377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1440" y="3770000"/>
            <a:ext cx="5800000" cy="27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1440" y="380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위장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440" y="412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1인칭 시점의 제한된 색적 보완을 위해
3인칭 전환 기능 추가.
근처 생존자 효음 신호 차단 → 마네킹으로 위장.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1440" y="407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1440" y="493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1440" y="535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스폰 시스템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문제 발견 &amp; 원인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7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160000"/>
            <a:ext cx="5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position(x, y, z) + rotation(x, y, z)
총 6개 값을 매 프레임 네트워크로 전송
→ 멀티플레이 환경에서 불필요한 트래픽 지속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370000"/>
            <a:ext cx="5700000" cy="20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370000"/>
            <a:ext cx="570000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00" y="33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" y="3710000"/>
            <a:ext cx="5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position.y  →  고정값  (살인마 108f / 생존자 1f)
rotation.x  →  고정값  (항상 0)
rotation.z  →  고정값  (항상 0)
실제 변수:  position.x / position.z / rotation.y  →  3개만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000" y="820000"/>
            <a:ext cx="6100000" cy="1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0000" y="900000"/>
            <a:ext cx="6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71F7"/>
                </a:solidFill>
              </a:rPr>
              <a:t>전송 값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전송 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기존  (6개)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최적화  (3개)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0000" y="2390000"/>
            <a:ext cx="6100000" cy="300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00000" y="2390000"/>
            <a:ext cx="600000" cy="22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20000" y="240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000" y="2660000"/>
            <a:ext cx="5940000" cy="2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// 기존 스폰 데이터 구조
float posX, posY, posZ;
float rotX, rotY, rotZ;
// → 6개 float 전송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스폰 시스템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최적화 적용 코드 &amp;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8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600000" cy="22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44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090000"/>
            <a:ext cx="66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// 최적화 후 스폰 데이터 구조
float posX, posZ;      // posY 고정
float rotY;            // rotX, rotZ 고정
// 살인마 스폰
SpawnData GetKillerSpawnData() {
    return new SpawnData {
        posX = spawnPoint.x,
        posZ = spawnPoint.z,
        rotY = spawnPoint.eulerAngles.y
    };
}
// 생존자 스폰
SpawnData GetSurvivorSpawnData(int order) {
    var pt = survivorSpawnPoints[order];
    return new SpawnData {
        posX = pt.x, posZ = pt.z, rotY = 0f
    };
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000" y="820000"/>
            <a:ext cx="50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0000" y="132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네트워크 트래픽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182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3FB950"/>
                </a:solidFill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000" y="387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FB950"/>
                </a:solidFill>
              </a:rPr>
              <a:t>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0000" y="4720000"/>
            <a:ext cx="4600000" cy="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0000" y="487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전송 값:  6개  →  3개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000" y="5370000"/>
            <a:ext cx="5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position.y  /  rotation.x  /  rotation.z
고정값으로 처리하여 전송 제외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상호작용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인터페이스를 선택한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71F7"/>
                </a:solidFill>
              </a:rPr>
              <a:t>설계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29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대상:  파괴  /  정화  /  뛰어넘기
선택 근거 ①
부모-자식 수직 확장이 아닌 수평 확장 관계.
공통 구현 없이 계약(Contract)만 필요한 구조.
선택 근거 ②
C# 단일 상속 제약.
파괴·정화는 NetworkBehaviour 상속 필요,
뛰어넘기는 MonoBehaviour 상속 필요.
→ 추상 클래스로는 동시에 충족 불가.
결론:  인터페이스로 계약만 강제하고
각 클래스가 필요한 베이스를 자유롭게 상속.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public interface IInteractable
{
    // UI에 표시될 안내 텍스트
    string GetInteractionText();
    // 재생할 애니메이션 트리거
    string GetAnimationTrigger();
    // 실제 상호작용 실행
    void OnInteract();
}
// 뛰어넘기 — MonoBehaviour 상속
public class VaultableObject
    : MonoBehaviour, IInteractable
{
    public string GetInteractionText()
        =&gt; "뛰어넘기";
    public string GetAnimationTrigger()
        =&gt; "Vault";
    public void OnInteract()
    {
        // 뛰어넘기 로직
    }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증강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추상 클래스를 선택한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71F7"/>
                </a:solidFill>
              </a:rPr>
              <a:t>설계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29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대상:  SpeedUpAbility 등 각종 증강
선택 근거 ①
기능이 계층적으로 확장되는 수직 구조.
모든 증강이 공통 초기화 로직을 공유함.
Activate()  →  추상 함수
미구현 시 게임이 동작하지 않음.
컴파일 타임에 강제하는 것이 안전.
Awake()  →  가상 함수
방어 코드 성격의 선택적 초기화.
오버라이드 여지를 남겨 유연성 부여.
결론:  상호작용(수평 확장)에는 인터페이스,
증강(수직 확장)에는 추상 클래스. 기준을 분리.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// 모든 증강의 베이스
public abstract class AbilityBase
    : NetworkBehaviour
{
    // 미구현 시 치명적 → 강제화
    public abstract void Activate();
    // 선택적 초기화 → 유연성
    protected virtual void Awake() { }
}
// 속도 증강 구현 예시
public class SpeedUpAbility : AbilityBase
{
    public override void Activate()
    {
        runSpeed += 150f;
        StartCoroutine(Deactivate(180f));
    }
    IEnumerator Deactivate(float delay)
    {
        yield return new WaitForSeconds(delay);
        runSpeed -= 150f;
        gameObject.SetActive(false);
    }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Occlusion Culling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Frustum Culling만으로 부족했던 이유와 선택 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</a:rPr>
              <a:t>Frustum Culling의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300000"/>
            <a:ext cx="5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AI로 생성된 3D 메시가 많아 vertex가 복잡
• 맵 규모가 상당하여 화면 밖 오브젝트도 많음
• Frustum Culling만으로는 성능 부족
  → 카메라 절두체 안에 있으나 가려진 오브젝트까지
     모두 렌더링하는 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" y="3420000"/>
            <a:ext cx="5700000" cy="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355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Occlusion Culling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" y="3920000"/>
            <a:ext cx="5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가려진 오브젝트를 공간 단위로 렌더링 제외
• 약 5주 개발 기간 → 개별 LOD 적용은 비현실적
• 공간 단위 Culling이 비용 대비 효과 최대
• Unity 내장 기능이므로 추가 구현 비용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820000"/>
            <a:ext cx="5800000" cy="2899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19695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389500"/>
            <a:ext cx="5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적용 전 (Frustum Only)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3879000"/>
            <a:ext cx="5800000" cy="2899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50285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448500"/>
            <a:ext cx="5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적용 후 (Occlusion 적용)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Occlusion Culling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성능 측정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3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122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5149"/>
                </a:solidFill>
              </a:rPr>
              <a:t>적용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720000"/>
            <a:ext cx="5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85149"/>
                </a:solidFill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4020000"/>
            <a:ext cx="5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85149"/>
                </a:solidFill>
              </a:rPr>
              <a:t>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0" y="2920000"/>
            <a:ext cx="1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A371F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0000" y="820000"/>
            <a:ext cx="53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000" y="122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FB950"/>
                </a:solidFill>
              </a:rPr>
              <a:t>적용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1720000"/>
            <a:ext cx="5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3FB950"/>
                </a:solidFill>
              </a:rPr>
              <a:t>63.6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4020000"/>
            <a:ext cx="5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FB950"/>
                </a:solidFill>
              </a:rPr>
              <a:t>fps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5878000"/>
            <a:ext cx="12000000" cy="82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5938000"/>
            <a:ext cx="12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FB950"/>
                </a:solidFill>
              </a:rPr>
              <a:t>약 390% 성능 향상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Jitter 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문제 발생과 원인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700000" cy="26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7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문제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170000"/>
            <a:ext cx="55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특정 증강 아이템 획득 시 Jitter 발생
→ 캐릭터가 시각적으로 떨리며 부자연스러운 이동
→ 플레이어 경험에 직접적인 영향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570000"/>
            <a:ext cx="5700000" cy="28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570000"/>
            <a:ext cx="570000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00" y="35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원인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" y="3930000"/>
            <a:ext cx="55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서버와 클라이언트가
서로 다른 시간축으로 상태(State)를 변경
→ 증강 적용 타이밍이 서버/클라이언트 간 불일치
→ 위치 보정 값이 누적되며 Jitter로 시각화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000" y="820000"/>
            <a:ext cx="6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371F7"/>
                </a:solidFill>
              </a:rPr>
              <a:t>타이밍 불일치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0000" y="1420000"/>
            <a:ext cx="1500000" cy="28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0000" y="14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0000" y="14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t=0.0s  증강 상태 변경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0000" y="237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  ↓  네트워크 지연 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0000" y="3320000"/>
            <a:ext cx="1500000" cy="28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0000" y="33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클라이언트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0000" y="33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t=0.1s  상태 수신 및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0000" y="427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  ↓  위치 보정 계산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0000" y="5220000"/>
            <a:ext cx="1500000" cy="28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0000" y="52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렌더링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0000" y="52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t=0.1s  보정 값 누적 → Jitter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Jitter 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해결 방법 및 적용 코드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해결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30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① RPC로 상태값 추가 확정
   서버에서 상태를 변경한 뒤
   RPC로 클라이언트에 명시적으로 전달.
   (방어 코드 삽입)
② 동기화 기준을 서버로 일원화
   클라이언트가 로컬에서 먼저 처리하지 않고
   서버 확인 후 상태 적용.
③ 증강 적용을 의도적으로 지연
   동기화 확인 후 일정 시간 대기 후 적용.
   → 서버-클라이언트 타이밍 일치.
결과:  Jitter 발생 안정화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// ① RPC로 상태 확정 (방어 코드)
[Rpc(RpcSources.StateAuthority,
     RpcTargets.All)]
public void RPC_ConfirmAbility(int abilityId)
{
    ApplyAbility(abilityId);
}
// ② 서버 기준 동기화 후 지연 적용
IEnumerator ApplyAfterSync(int abilityId)
{
    // ③ 동기화 확인을 위한 의도적 대기
    yield return new WaitForSeconds(0.1f);
    if (Object.HasStateAuthority)
    {
        RPC_ConfirmAbility(abilityId);
    }
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성과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네트워크 트래픽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FB950"/>
                </a:solidFill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FB950"/>
                </a:solidFill>
              </a:rPr>
              <a:t>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렌더링 성능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A371F7"/>
                </a:solidFill>
              </a:rPr>
              <a:t>390%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371F7"/>
                </a:solidFill>
              </a:rPr>
              <a:t>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Jitter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29922"/>
                </a:solidFill>
              </a:rPr>
              <a:t>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29922"/>
                </a:solidFill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420000"/>
            <a:ext cx="12000000" cy="2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0000" y="353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71F7"/>
                </a:solidFill>
              </a:rPr>
              <a:t>핵심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000" y="400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설계 판단에 근거를 두는 것 — 인터페이스/추상 클래스 선택 기준을 직접 언어로 설명할 수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" y="468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수치로 증명하는 최적화 — 13fps → 63.6fps, 트래픽 50% 감소라는 구체적 결과를 만들었다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00" y="536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멀티플레이 실전 디버깅 — Jitter 원인 분석과 서버 동기화 일원화로 문제를 해결했다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000"/>
            <a:ext cx="12192000" cy="12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" y="400000"/>
            <a:ext cx="12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" y="8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6EDF3"/>
                </a:solidFill>
              </a:rPr>
              <a:t>프라가라흐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9C5CF"/>
                </a:solidFill>
              </a:rPr>
              <a:t>Fragarach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" y="3400000"/>
            <a:ext cx="1600000" cy="9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" y="3560000"/>
            <a:ext cx="1195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웹 기반 액션 RPG  |  Phaser · Django · Vue.js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2000" y="5058000"/>
            <a:ext cx="1800000" cy="180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2000" y="5658000"/>
            <a:ext cx="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1B22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프라가라흐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9C5CF"/>
                </a:solidFill>
              </a:rPr>
              <a:t>Fragarach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웹 기반 액션 RPG  |  Phaser · Django · Vue.js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2025.09 ~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</a:rPr>
              <a:t>팀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2인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6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</a:rPr>
              <a:t>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Phaser · Django · Vue.js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</a:rPr>
              <a:t>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SSAFY 원내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기획 의도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2인 팀으로 약 3개월간 개발한 웹 기반 액션 RPG.
Phaser를 게임 클라이언트로, Django를 REST API 서버로,
Vue.js를 프론트엔드로 사용하는 풀스택 구성.
팀원이 AI 코딩 도구로 생성한 코드의 구조화와
핵심 시스템 설계를 주도했다.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프로젝트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000" y="133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장르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133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웹 기반 액션 RPG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0000" y="1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2025.09.30 ~ 12.25  (약 3개월)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000" y="207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207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2인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000" y="244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0000" y="244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Phaser(JS) · Django(Python) · Vue.js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000" y="281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00" y="281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SSAFY 원내 배포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3500000"/>
            <a:ext cx="6100000" cy="327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000" y="4839000"/>
            <a:ext cx="6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000" y="5229000"/>
            <a:ext cx="6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플레이 영상 캡처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담당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90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보스 패턴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440" y="121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Min-Heap 기반 패턴 관리 설계 및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1000" y="82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1000" y="82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000" y="90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스폰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000" y="121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안전 구역 기반 스폰 — 프레임별 충돌 연산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63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63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171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컷씬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0" y="202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비트 연산으로 시청 기록 압축 저장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1000" y="163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1000" y="163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000" y="171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Scene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000" y="202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지연 로딩 전환 — 유령 오브젝트 및 중복 import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4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244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252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Django 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0" y="283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SQLite3 기반 서버 구축 — 조회 중심 구조 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1000" y="244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1000" y="2440000"/>
            <a:ext cx="18288" cy="73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000" y="252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코드 구조화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000" y="283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팀원 AI 생성 코드 분석 및 리팩토링 주도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패턴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기존 방식의 문제점과 Min-Heap 채택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3836373" cy="27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랜덤 함수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random.choice(patterns)
문제: 편차가 크다
→ 같은 패턴이 연속 3회 나오거나
   강한 패턴이 나오지 않을 수도 있음
난이도 일관성 확보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7813" y="820000"/>
            <a:ext cx="3836373" cy="27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7813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쿨타임 기반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813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각 패턴에 쿨타임 설정
문제: 강한 패턴이 집중된다
→ 쿨타임이 동시에 풀리면
   고강도 패턴이 몰려서 등장
플레이어 피로도 급상승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4186" y="820000"/>
            <a:ext cx="3836373" cy="27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4186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Min-Heap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186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heapq로 우선순위 관리
해결: 패턴이 균형있게 섞임
→ 실행 후 우선순위 갱신하여 재삽입
→ 자동으로 다양한 패턴 보장
확장: Dictionary 구조로 리팩토링
→ 새 패턴 추가 시 등록만으로 완료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패턴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Min-Heap 구현 코드 및 Dictionary 리팩토링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8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800000" cy="22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440" y="83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00000"/>
            <a:ext cx="6640000" cy="56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import heapq
class BossPatternManager:
    def __init__(self):
        self._heap = []     # (priority, pattern_id)
        self._handlers = {} # pattern_id: callable
    def register(self, pid, handler, priority):
        heapq.heappush(self._heap, (priority, pid))
        self._handlers[pid] = handler
    def execute_next(self):
        if not self._heap:
            return
        priority, pid = heapq.heappop(self._heap)
        self._handlers[pid]()
        # 실행 후 우선순위 갱신 → 재삽입
        heapq.heappush(self._heap,
                       (priority + WEIGHT[pid], pid))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000" y="820000"/>
            <a:ext cx="5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92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Dictionary 리팩토링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0" y="1320000"/>
            <a:ext cx="4800000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기존: switch-case 방식
→ 새 패턴 추가 시 분기문 수정 필요
→ 패턴 수 증가할수록 복잡도 증가
개선: Dictionary 기반 구조
→ handlers['pattern_id'] = func
→ 새 패턴은 register()만 호출
→ 기존 코드 수정 없이 확장 가능
결과
• 패턴 추가 비용: O(n) → O(1)
• 균형있는 패턴 순환 보장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안전 구역 기반 스폰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프레임별 충돌 연산 제거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500000" cy="27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5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기존 방식 —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70000"/>
            <a:ext cx="534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지형지물과 몬스터의 겹침 현상 발생
해결 시도: 매 프레임 충돌 감지 후 위치 보정
→ 스폰되는 모든 몬스터에 대해 충돌 연산 반복
→ 몬스터 수 증가 시 성능 비용이 선형으로 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670000"/>
            <a:ext cx="5500000" cy="30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670000"/>
            <a:ext cx="5500000" cy="26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440" y="36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개선 방식 — 안전 구역 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0" y="4040000"/>
            <a:ext cx="534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미리 설정해둔 안전 좌표 리스트에서 스폰 위치 선택
• 프레임별 충돌 연산 완전 제거
• 다중 안전 좌표 + 반발 로직으로 중복 배치 최소화
• 몬스터 수 증가해도 성능 비용 일정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0000" y="820000"/>
            <a:ext cx="630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0000" y="3499000"/>
            <a:ext cx="63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0000" y="3889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스폰 안전 구역 다이어그램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컷씬 중복 재생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비트 연산으로 시청 기록 압축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44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설계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440" y="1300000"/>
            <a:ext cx="4900000" cy="54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컷씬 수만큼 DB 컬럼을 늘리는 방식은
컷씬 추가 시마다 스키마 변경이 필요.
비트 플래그를 사용하면:
• 정수 1개로 N개 컷씬 시청 여부 저장
• DB 컬럼 1개로 고정
• 조회 연산 O(1)
• 컷씬 추가 시 스키마 변경 불필요
1인용 게임 특성상 동시 쓰기 없음
→ SQLite3 write-lock 제약 영향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800000" cy="220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100000"/>
            <a:ext cx="6540000" cy="56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# 비트 플래그 기반 시청 기록
def has_watched(flags: int,
                cid: int) -&gt; bool:
    return bool(flags &amp; (1 &lt;&lt; cid))
def mark_watched(flags: int,
                 cid: int) -&gt; int:
    return flags | (1 &lt;&lt; cid)
# 예시: 컷씬 0, 2번 시청 완료
# flags = 0b0101 = 5
# has_watched(5, 0) → True
# has_watched(5, 1) → False
# mark_watched(5, 3) → 0b1101
# Django 뷰에서 사용
class CutsceneView(APIView):
    def post(self, request, uid):
        cid = request.data['cutscene_id']
        user = User.objects.get(id=uid)
        user.cutscene_flags = mark_watched(
            user.cutscene_flags, cid)
        user.save()
        return Response({'status': 'ok'})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Phaser Scene 최적화  &amp;  Django REST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7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0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Phaser Scene 로딩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270000"/>
            <a:ext cx="11809120" cy="23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문제: 전체 Scene을 한 번에 로드 → 유령 오브젝트 / import 중복 발생 / 초기 로딩 지연
해결: Scene 단위 지연 로딩(Lazy Load) 전환 → 현재 Scene에 필요한 에셋만 로드
결과: 초기 로딩 시간 단축 / 메모리 점유 감소 / 유령 오브젝트 제거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899000"/>
            <a:ext cx="12009120" cy="287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40" y="3989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Django REST API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40" y="4379000"/>
            <a:ext cx="11809120" cy="23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SQLite3 기반 서버 구축.  SQLite3는 write-lock 제약으로 동시 쓰기에 취약하나,
이 게임은 1인용이고 조회 중심 구조이므로 실제 운영 환경에서 충분히 대응 가능하다고 판단.
→ 컷씬 / 진행도 / 사용자 정보 조회가 대부분이며 쓰기 빈도는 매우 낮음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AI 생성 코드 구조화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팀원 코드 분석 및 리팩토링 주도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920000"/>
            <a:ext cx="571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사례 1 — 스킬 시스템 재구조화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300000"/>
            <a:ext cx="5719560" cy="54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상황
팀원이 AI로 생성한 스킬 시스템 코드.
기능은 동작하지만 구조가 없어 수정·확장 불가.
접근
1. 코드 전체 흐름도를 직접 작성
2. 이상적인 클래스 구조 문서화
3. 리팩토링 방향 제시 및 구현 지원
결과
• 스킬 추가 시 기존 코드 수정 불필요
• 팀원이 이후 스킬을 독립적으로 추가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100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000" y="920000"/>
            <a:ext cx="571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C5CF"/>
                </a:solidFill>
              </a:rPr>
              <a:t>사례 2 — 데이터 동기화 버그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000" y="1300000"/>
            <a:ext cx="5719560" cy="54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상황
특정 조건에서 API 데이터가 UI에
반영되지 않는 버그 발생.
팀원이 원인을 찾지 못한 상태.
접근
데이터 흐름을 역방향으로 추적.
API 응답 → 상태 저장 → UI 렌더링
각 단계를 역추적하여 동기화 누락
지점을 발견.
결과
• 비동기 처리 순서 오류 수정
• 동일 패턴의 잠재 버그 2개 추가 발견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성과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보스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FB950"/>
                </a:solidFill>
              </a:rPr>
              <a:t>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FB950"/>
                </a:solidFill>
              </a:rPr>
              <a:t>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7813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7813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스폰 연산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7813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9C5CF"/>
                </a:solidFill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7813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9C5CF"/>
                </a:solidFill>
              </a:rPr>
              <a:t>→ O(1)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4186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186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컷씬 컬럼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186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29922"/>
                </a:solidFill>
              </a:rPr>
              <a:t>N개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186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29922"/>
                </a:solidFill>
              </a:rPr>
              <a:t>→ 1개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420000"/>
            <a:ext cx="12009120" cy="3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1440" y="3530000"/>
            <a:ext cx="120091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</a:rPr>
              <a:t>핵심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440" y="398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Min-Heap과 Dictionary를 결합하여 확장 가능한 보스 패턴 시스템을 설계했다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440" y="466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프레임별 충돌 연산을 안전 구역 리스트로 대체하여 성능 비용을 고정했다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440" y="534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비트 연산으로 DB 구조를 단순화하고 AI 생성 코드를 직접 분석하여 구조화했다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000"/>
            <a:ext cx="12192000" cy="12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" y="400000"/>
            <a:ext cx="12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" y="8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6EDF3"/>
                </a:solidFill>
              </a:rPr>
              <a:t>헤이터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0883E"/>
                </a:solidFill>
              </a:rPr>
              <a:t>Hater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" y="3400000"/>
            <a:ext cx="1600000" cy="9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" y="3560000"/>
            <a:ext cx="1195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전략 디펜스  |  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2000" y="5058000"/>
            <a:ext cx="1800000" cy="180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2000" y="5658000"/>
            <a:ext cx="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1B22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헤이터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883E"/>
                </a:solidFill>
              </a:rPr>
              <a:t>Hater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전략 디펜스 게임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전략 디펜스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1인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영구 손실 · 인과 전략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개발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"매 스테이지의 병력 손실이 다음 스테이지에
 그대로 이어지는 디펜스 게임.
 현재의 선택이 미래를 바꾸기 때문에
 플레이어는 항상 두 스테이지를 동시에 생각해야 한다."
기존 디펜스 게임은 각 스테이지가 독립적이다.
헤이터는 병력 손실이 누적되어
현실의 전쟁처럼 인과관계가 연결된다.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기획 배경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0000" y="1320000"/>
            <a:ext cx="61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0000" y="1320000"/>
            <a:ext cx="6100000" cy="25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000" y="1335000"/>
            <a:ext cx="59000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기존 디펜스의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000" y="1660000"/>
            <a:ext cx="59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현재 행동이 다음 스테이지에 영향 없음
→ 지금만 이기면 된다는 단기적 사고만 유발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000" y="3920000"/>
            <a:ext cx="61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000" y="3920000"/>
            <a:ext cx="6100000" cy="25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000" y="3935000"/>
            <a:ext cx="59000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</a:rPr>
              <a:t>헤이터의 해결책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000" y="4260000"/>
            <a:ext cx="59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병력 손실 영구 적용
→ 미래를 고려하며 현재를 플레이
→ 전력 분배의 긴장감 생성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지도에서 스테이지 선택
(연대기 형식)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4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9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7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배치 단계
병력·사령관을 셀에 배치
(웨이브 정보 미공개)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1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6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4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전쟁 단계
시뮬레이션 자동 전투
(배치 변경 불가)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82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000" y="90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결과 처리
병력 손실 영구 적용
골드 획득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64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000" y="179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0000" y="187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선택 분기
사령관 모집  or  탐사 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000" y="2610000"/>
            <a:ext cx="3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0000" y="2760000"/>
            <a:ext cx="3600000" cy="82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000" y="2840000"/>
            <a:ext cx="346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저장 후 지도 복귀
전멸·항복 시 → 초기화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0000" y="2020000"/>
            <a:ext cx="60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0000" y="820000"/>
            <a:ext cx="395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0000" y="920000"/>
            <a:ext cx="37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0000" y="1320000"/>
            <a:ext cx="3750000" cy="5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병력 손실이 누적되므로
플레이어는 매 배치 단계에서
현재 스테이지뿐 아니라
다음 스테이지까지 고려해야 한다.
탐사는 위험하지만
강한 사령관을 얻을 수 있어
매 분기마다 다른 판단이 필요하다.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아군 유닛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2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사령관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40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배치된 셀의 부대에 패시브 버프 제공
주요 버프 종류:
• 물리 / 마법 데미지 향상
• 고정 마법 데미지 추가
• 방어력 / 회복량 향상
• 범위 공격 추가
사령관 조합에 따라 전략이 달라지므로
어떤 사령관을 얻느냐가
플레이 방식을 결정한다.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000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00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병과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000" y="820000"/>
            <a:ext cx="11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0000" y="87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체력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0000" y="820000"/>
            <a:ext cx="12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0000" y="87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공격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0000" y="820000"/>
            <a:ext cx="11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000" y="87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방어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0000" y="820000"/>
            <a:ext cx="22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0000" y="87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특기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000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000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125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0000" y="130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0000" y="125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0000" y="130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0000" y="125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000" y="130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0000" y="125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0000" y="130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균형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000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000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0" y="168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0000" y="173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0000" y="1680000"/>
            <a:ext cx="1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0000" y="173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고(마법)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0000" y="168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000" y="173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0000" y="1680000"/>
            <a:ext cx="2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0000" y="173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원거리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000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000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포병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0000" y="211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0000" y="216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883E"/>
                </a:solidFill>
              </a:rPr>
              <a:t>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0000" y="211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0000" y="216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중(범위)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0000" y="211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000" y="216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883E"/>
                </a:solidFill>
              </a:rPr>
              <a:t>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0000" y="211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0000" y="216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공격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000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000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0000" y="254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0000" y="259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883E"/>
                </a:solidFill>
              </a:rPr>
              <a:t>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00000" y="2540000"/>
            <a:ext cx="1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40000" y="259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0000" y="2540000"/>
            <a:ext cx="11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0000" y="259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883E"/>
                </a:solidFill>
              </a:rPr>
              <a:t>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0000" y="2540000"/>
            <a:ext cx="22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0000" y="259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탱킹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0000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000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0000" y="297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0000" y="302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00000" y="2970000"/>
            <a:ext cx="1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40000" y="3020000"/>
            <a:ext cx="1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0000" y="2970000"/>
            <a:ext cx="11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0000" y="3020000"/>
            <a:ext cx="10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5149"/>
                </a:solidFill>
              </a:rPr>
              <a:t>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0000" y="2970000"/>
            <a:ext cx="22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40000" y="3020000"/>
            <a:ext cx="21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아군 회복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적군 특수 능력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특정 병과만 사용하는 전략을 방지하기 위한 다양성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2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440" y="87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능력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1440" y="820000"/>
            <a:ext cx="42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440" y="87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1440" y="820000"/>
            <a:ext cx="3900000" cy="39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1440" y="87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대응 필요 병과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21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0" y="126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물리 면역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1440" y="121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440" y="126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물리 공격 무효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1440" y="121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1440" y="126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160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0" y="165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 면역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1440" y="160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440" y="165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 공격 무효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1440" y="160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1440" y="165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보병·포병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199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0" y="204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면역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91440" y="199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440" y="204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범위 공격 무효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1440" y="199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1440" y="204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마법병·포병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238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0" y="243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회복 무효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91440" y="238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440" y="243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아군 회복 효과 차단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1440" y="238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1440" y="243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포병·보병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77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1440" y="282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데미지 반사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91440" y="277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440" y="282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받은 피해 일부 반사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1440" y="277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1440" y="282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" y="316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0" y="321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원거리 공격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91440" y="316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440" y="321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근접 셀 무시, 후방 직접 공격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1440" y="316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1440" y="321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방패병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3550000"/>
            <a:ext cx="2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440" y="360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관통 공격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91440" y="3550000"/>
            <a:ext cx="42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31440" y="360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벽·방패 무시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1440" y="3550000"/>
            <a:ext cx="3900000" cy="39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1440" y="360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병과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3940000"/>
            <a:ext cx="2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0" y="3990000"/>
            <a:ext cx="2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그로기 부여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91440" y="3940000"/>
            <a:ext cx="42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31440" y="3990000"/>
            <a:ext cx="41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피격 시 일시 행동 불가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1440" y="3940000"/>
            <a:ext cx="3900000" cy="39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1440" y="3990000"/>
            <a:ext cx="382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520000"/>
            <a:ext cx="12009120" cy="21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1440" y="46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</a:rPr>
              <a:t>설계 의도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1440" y="5000000"/>
            <a:ext cx="1180912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면역 조합으로 인해 어떤 단일 병과도 만능이 될 수 없다. 스테이지마다 랜덤하게 구성되는 적 조합에 따라 최적 병과가 달라지며, 이것이 사령관 선택과 맞물려 매 회차 다른 전략을 요구한다.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탐사 컨텐츠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6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탐사란?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8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스테이지 클리어 후 선택 가능한
고위험 고수익 선택적 컨텐츠.
진행 방식:
• 제한된 수의 사령관으로 5개 소규모 스테이지 연속 진행
• 각 진입 시 사령관 정신력 랜덤 감소 (능력치 페널티)
• 다음 스테이지 적 정보 사전 제공 (정보 이점)
• 최종 스테이지 클리어 시 강력한 사령관 획득
설계 의도:
탐사는 리스크가 크지만 리워드도 크다.
진행 여부를 매 회차마다 판단해야 하고,
이 선택이 이후 전체 캠페인에 영향을 미친다.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0000" y="820000"/>
            <a:ext cx="585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3499000"/>
            <a:ext cx="58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0000" y="3889000"/>
            <a:ext cx="58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탐사 진행 화면 목업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리플레이어빌리티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76478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영구 손실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병력이 쌓이지 않아
매 판 다른 상황에서 시작
→ 동일한 경험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622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6220" y="820000"/>
            <a:ext cx="276478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22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랜덤 웨이브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22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스테이지별 웨이브가 랜덤 구성
→ 같은 전략으로
연속 클리어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100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1000" y="820000"/>
            <a:ext cx="2764780" cy="26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100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탐사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00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리스크/리워드 판단이
매 회차마다 다름
→ 매번 다른 결정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5780" y="820000"/>
            <a:ext cx="276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5780" y="820000"/>
            <a:ext cx="2764780" cy="260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5780" y="840000"/>
            <a:ext cx="260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사령관 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780" y="1160000"/>
            <a:ext cx="260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어떤 사령관을 얻느냐에
따라 전략 변화
→ 같은 클리어 방법 없음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 &amp;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</a:rPr>
              <a:t>타겟 플레이어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주 타겟
전략 게임에 익숙한 20~30대
참조 게임
배틀 브라더스 (영구 손실 + 전략)
FTL (짧은 회차 + 고난이도 선택)
핵심 니즈
"매 판마다 다른 경험"
"전략적 선택의 결과를 체감하고 싶다"
기피 유형
단순 반복 클리어를 원하는 캐주얼 유저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20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0000" y="87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0000" y="820000"/>
            <a:ext cx="20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0000" y="87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기존 디펜스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0000" y="820000"/>
            <a:ext cx="2300000" cy="44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0000" y="87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883E"/>
                </a:solidFill>
              </a:rPr>
              <a:t>헤이터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000" y="126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0000" y="131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스테이지 독립성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0000" y="126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0000" y="131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독립적 (영향 없음)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0000" y="1260000"/>
            <a:ext cx="23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000" y="131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연결 (손실 누적)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170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0000" y="175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전략 지평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0000" y="170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0000" y="175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현재 스테이지만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80000" y="1700000"/>
            <a:ext cx="23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000" y="175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현재 + 미래 고려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0000" y="214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20000" y="219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리플레이 동기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0000" y="2140000"/>
            <a:ext cx="20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0000" y="219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클리어 후 종료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0000" y="2140000"/>
            <a:ext cx="2300000" cy="44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0000" y="219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매 판 다른 전황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0000" y="258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0000" y="263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고위험 선택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0000" y="2580000"/>
            <a:ext cx="20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0000" y="2630000"/>
            <a:ext cx="1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없음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0000" y="2580000"/>
            <a:ext cx="2300000" cy="44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0000" y="2630000"/>
            <a:ext cx="2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탐사 컨텐츠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9916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700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9922"/>
                </a:solidFill>
              </a:rPr>
              <a:t>개발 진행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1440" y="8700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기획 완료, 현재 개발 진행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0616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20616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21116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1440" y="21116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미진행 — 전투 화면 / 지도 화면 설계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3032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3032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33532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밸런스 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1440" y="33532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미확정 — 유닛 스탯 / 골드 수급량 검증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45448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4544800"/>
            <a:ext cx="18288" cy="991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45948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웨이브 조합 테이블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1440" y="45948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미진행 — 난이도별 적 구성 테이블 설계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5786400"/>
            <a:ext cx="12009120" cy="99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5786400"/>
            <a:ext cx="18288" cy="9916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5836400"/>
            <a:ext cx="250000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</a:rPr>
              <a:t>기획-개발 연결 링크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1440" y="5836400"/>
            <a:ext cx="9209120" cy="91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완성 후 개발 포스트와 상호 링크 예정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000"/>
            <a:ext cx="12192000" cy="12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" y="400000"/>
            <a:ext cx="12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" y="8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6EDF3"/>
                </a:solidFill>
              </a:rPr>
              <a:t>노룸베가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3B341"/>
                </a:solidFill>
              </a:rPr>
              <a:t>Norumbega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" y="3400000"/>
            <a:ext cx="1600000" cy="9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" y="3560000"/>
            <a:ext cx="1195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모바일 액션 RPG  |  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2000" y="5058000"/>
            <a:ext cx="1800000" cy="180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2000" y="5658000"/>
            <a:ext cx="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1B22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노룸베가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3B341"/>
                </a:solidFill>
              </a:rPr>
              <a:t>Norumbega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모바일 액션 RPG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모바일 액션 RPG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플랫폼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모바일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보스 반복 · 랜덤 빌드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B341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11809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</a:rPr>
              <a:t>"보스를 반복 처치하며 랜덤 스킬이 담긴 무기를 모으는 모바일 액션 RPG. 같은 등급의 무기라도 어떤 스킬이 붙느냐에 따라 가치가 달라지고, 그것이 반복 도전의 핵심 동기가 된다."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000000"/>
            <a:ext cx="5879560" cy="37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40" y="311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B341"/>
                </a:solidFill>
              </a:rPr>
              <a:t>핵심 USP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40" y="3500000"/>
            <a:ext cx="5679560" cy="32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무기에 랜덤 스킬이 붙는다
→ 같은 등급 무기도 스킬 조합에 따라
   가치가 천차만별
→ '이번엔 다른 조합이 나올 수도'
   라는 기대가 반복 도전 동기 형성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1000" y="3000000"/>
            <a:ext cx="5879560" cy="37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1000" y="311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B341"/>
                </a:solidFill>
              </a:rPr>
              <a:t>기획 배경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1000" y="3500000"/>
            <a:ext cx="5679560" cy="32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코로나 이후 개인화 + 숏폼 확산
→ 초반의 즉각적인 재미가 필수
커뮤니티 의존도 낮아지고
성장 체감·보스 몰입·아이템 획득
중요도 높아짐
던파 '종말의 숭배자 던전' 사례:
성장+보상 집중 컨텐츠의 높은 리텐션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시장 분석 — 게이머 행동 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RPG 핵심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144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144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과거 중요도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144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144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현재 중요도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1440" y="820000"/>
            <a:ext cx="40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1440" y="87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노룸베가 대응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25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0" y="130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144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144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B341"/>
                </a:solidFill>
              </a:rPr>
              <a:t>높음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144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144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더 높아짐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1440" y="125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1440" y="130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즉각적 보스 처치+보상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1680000"/>
            <a:ext cx="2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0" y="173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커뮤니티 정체성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144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144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B341"/>
                </a:solidFill>
              </a:rPr>
              <a:t>높음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9144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144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낮아짐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1440" y="1680000"/>
            <a:ext cx="40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1440" y="173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1인 컨텐츠 중심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11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16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레이드 몰입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144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144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144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144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높아짐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1440" y="211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1440" y="216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다양한 기믹 보스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" y="2540000"/>
            <a:ext cx="2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440" y="259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스토리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9144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3144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3B341"/>
                </a:solidFill>
              </a:rPr>
              <a:t>높음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9144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144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1440" y="2540000"/>
            <a:ext cx="40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1440" y="259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최소 프레임만 유지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297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440" y="302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아이템 획득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144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3144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9144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144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높아짐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1440" y="297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1440" y="302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랜덤 스킬 무기 시스템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3420000"/>
            <a:ext cx="12009120" cy="32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440" y="35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</a:rPr>
              <a:t>분석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440" y="3920000"/>
            <a:ext cx="1180912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코로나 이후 개인화된 생활 패턴과 숏폼 콘텐츠 확산으로 게이머들은 초반부의 즉각적인 재미를 요구하게 되었다. 던전앤파이터의 '종말의 숭배자 던전'은 성장과 보상에 집중한 반복 컨텐츠로 높은 리텐션을 기록했다. 노룸베가는 이 구조를 모바일 환경에 맞게 재설계한다.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B341"/>
                </a:solidFill>
              </a:rPr>
              <a:t>타겟 프로필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주 타겟
모바일 RPG에 익숙한 20대
과거 PC RPG 경험자
핵심 니즈
"짧은 시간 안에 강해지는 느낌"
"내 빌드를 직접 만드는 재미"
기피 유형
긴 스토리 위주 / 소셜 의존도 높은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18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1000" y="8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참조 게임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1000" y="820000"/>
            <a:ext cx="22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000" y="8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공통점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21000" y="820000"/>
            <a:ext cx="42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1000" y="8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차별점 (노룸베가)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1000" y="1320000"/>
            <a:ext cx="18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000" y="13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에픽세븐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1000" y="1320000"/>
            <a:ext cx="2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000" y="13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반복 도전 / 아이템 수집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21000" y="1320000"/>
            <a:ext cx="4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1000" y="13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수집 중심 vs 무기 스킬 빌드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1820000"/>
            <a:ext cx="18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18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던전앤파이터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1000" y="1820000"/>
            <a:ext cx="22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000" y="18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반복 던전 / 성장 체감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1000" y="1820000"/>
            <a:ext cx="42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1000" y="18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PC 중심 조작 vs 모바일 최적화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2320000"/>
            <a:ext cx="18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23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브롤스타즈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000" y="2320000"/>
            <a:ext cx="2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000" y="23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짧은 단판 / 즉각 보상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1000" y="2320000"/>
            <a:ext cx="4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1000" y="23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PVP 중심 vs PVE 빌드 중심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보스 선택 및 도전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5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9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7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액션 전투
보스 패턴 대응 + 기믹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2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6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4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보상 획득
랜덤 스킬이 담긴 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00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무기 스킬 조합 구성
(빌드 구성)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65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000" y="179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0000" y="187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던닝 — 일일 반복
등급 강화 도전 (5회 제한)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000" y="262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0000" y="276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000" y="284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더 높은 난이도 보스 도전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0000" y="1920000"/>
            <a:ext cx="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50000" y="820000"/>
            <a:ext cx="355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000" y="920000"/>
            <a:ext cx="3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</a:rPr>
              <a:t>루프 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000" y="1300000"/>
            <a:ext cx="335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매 클리어마다 다른 무기가 나오므로
반복 도전에도 새로운 조합 경험.
던닝 5회 제한:
일일 접속 동기 부여 + 과도한
플레이 부담 방지.
등급 강화 확률이 난이도에 비례:
더 어려운 보스를 도전하는
자연스러운 동기 형성.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아이템 등급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6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등급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44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144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무기 스킬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1440" y="820000"/>
            <a:ext cx="19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1440" y="87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성능 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440" y="820000"/>
            <a:ext cx="25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440" y="87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장신구 속성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440" y="820000"/>
            <a:ext cx="32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1440" y="87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특이사항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29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440" y="134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노멀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44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144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1440" y="129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1440" y="134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 ~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1440" y="129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440" y="134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440" y="129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1440" y="134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1760000"/>
            <a:ext cx="16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0" y="181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수작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44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144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1440" y="1760000"/>
            <a:ext cx="19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1440" y="181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 ~ 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1440" y="1760000"/>
            <a:ext cx="25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440" y="181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화염, 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1440" y="1760000"/>
            <a:ext cx="3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1440" y="181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23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228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명품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44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144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2개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91440" y="223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1440" y="228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34 ~ 55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1440" y="223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1440" y="228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바람 추가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91440" y="223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1440" y="228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2700000"/>
            <a:ext cx="16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440" y="275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유일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44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144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1440" y="2700000"/>
            <a:ext cx="19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31440" y="275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89 ~ 144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1440" y="2700000"/>
            <a:ext cx="25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1440" y="275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속성 가능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91440" y="2700000"/>
            <a:ext cx="3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31440" y="275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" y="317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1440" y="322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악몽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91440" y="317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1440" y="322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91440" y="317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31440" y="322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55 ~ 144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1440" y="317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31440" y="322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열화 속성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91440" y="317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31440" y="322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패널티 수치 포함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3620000"/>
            <a:ext cx="12009120" cy="3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1440" y="37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</a:rPr>
              <a:t>등급 설계 의도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1440" y="4120000"/>
            <a:ext cx="1180912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성능 수치가 피보나치 수열에 가까운 이유: 등급 간 격차를 체감할 수 있도록 설계.
악몽 등급은 높은 수치와 함께 패널티가 붙어 리스크/리워드 판단을 요구한다.
무기에 랜덤으로 붙는 스킬의 성능 최댓값이 등급에 따라 다르므로,
같은 등급 무기도 어떤 스킬이 붙느냐에 따라 가치가 달라진다.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기믹 (1/2) — 반전 &amp; 선고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2009120" cy="26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반전 (Reversal)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파괴 가능한 오브젝트 기반 기믹.
5가지 타입: 스탯 반전 / 조작 반전 / 데미지·회복 역변 / 속성 변경 / 시점 변경.
난이도별로 각 타입 1개씩 추가 개방.
오브젝트 파괴 시 해당 패턴은 재등장 불가.
→ 기믹 오브젝트를 먼저 찾아서 파괴할 것인가,
  보스에게 집중 딜을 넣을 것인가의 판단을 유도.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919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3919000"/>
            <a:ext cx="1200912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440" y="3939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선고 (Sentence)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40" y="4259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사망지대를 생성. 일정 시간 체류 시 '죽음 선고' 부여.
선고받은 몬스터는 보스에게만 공격, 플레이어에게 무공해.
일정 시간 후 보스가 동서남북 방향으로 확정 발사 — 해당 방향의 선고받은 개체 즉사.
→ 플레이어가 몬스터를 선고 지대로 유도하는 컨트롤 기믹.
  실수로 본인이 들어가면 자신도 선고 상태가 되는 리스크.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기믹 (2/2) — 탐욕 &amp; 저주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200912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탐욕 (Greed)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체력 1짜리 다양한 내성 몬스터 소환.
일정 시간 후 디스폰되지만, 플레이어가 처치한 수에 비례해 보스 체력 회복.
→ 처치하면 보스가 회복되고, 안 처치하면 몬스터가 방해.
  무시할지 처치할지 선택을 지속적으로 강요.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919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3919000"/>
            <a:ext cx="1200912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440" y="3939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저주 (Curse)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40" y="4259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피격 시 '저주 표식' 부여.
표식 상태에서 공격하면 준 데미지에 비례해 자신의 체력 감소.
회복하면 회복량에 비례해 보스 체력 증가.
→ 공격하면 내가 죽고, 회복하면 보스가 살아나는 딜레마.
  저주 해제 조건을 찾거나 극딜로 버티는 선택 필요.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장기 리텐션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784780" cy="26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빌드 시너지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장신구 속성 간 조합 효과 추가.
무기 스킬과의 다양한 조합 유도.
→ '이 조합을 써보고 싶다'
   라는 장기 동기 형성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622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6220" y="820000"/>
            <a:ext cx="278478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22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시즌제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22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시즌별 다른 무기 스킬
장신구 속성 / 보스 제공.
→ 매 시즌 새로운 최강 빌드
   탐구 동기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100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1000" y="820000"/>
            <a:ext cx="278478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100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보스 다변화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00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동일 보스도 고난이도에서
새로운 패턴 추가.
→ 클리어한 보스도
   상위 난이도에서 재도전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578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5780" y="820000"/>
            <a:ext cx="2784780" cy="260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578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도감 컨텐츠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78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최고 난이도에서 낮은 확률
추가 드랍 아이템.
→ 장기 수집 목표 제공
→ 극한 도전 동기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경쟁작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게임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1440" y="820000"/>
            <a:ext cx="30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440" y="87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공통점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1440" y="820000"/>
            <a:ext cx="60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1440" y="87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3B341"/>
                </a:solidFill>
              </a:rPr>
              <a:t>노룸베가와의 차이점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30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5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에픽세븐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1440" y="1300000"/>
            <a:ext cx="3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440" y="135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반복 / 아이템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1440" y="1300000"/>
            <a:ext cx="6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1440" y="135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수집 중심 vs 무기 스킬 빌드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78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83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던전앤파이터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1440" y="1780000"/>
            <a:ext cx="3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440" y="183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반복 던전 / 성장 체감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1440" y="1780000"/>
            <a:ext cx="6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1440" y="183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PC 대용량 조작 vs 모바일 터치 최적화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26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31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브롤스타즈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1440" y="2260000"/>
            <a:ext cx="3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440" y="231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짧은 단판 / 즉각 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1440" y="2260000"/>
            <a:ext cx="6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1440" y="231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PVP 중심 vs PVE + 빌드 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74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79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디아블로 이모탈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1440" y="2740000"/>
            <a:ext cx="3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440" y="279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모바일 액션 RPG / 보스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91440" y="2740000"/>
            <a:ext cx="6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1440" y="279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넓은 오픈월드 vs 보스 집중형 구조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3220000"/>
            <a:ext cx="12009120" cy="3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440" y="33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</a:rPr>
              <a:t>노룸베가의 핵심 차별점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440" y="3720000"/>
            <a:ext cx="11809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"무기에 랜덤 스킬이 붙는다" — 이것이 반복 도전의 핵심 동기다.
같은 등급의 무기라도 어떤 스킬 조합이 나오느냐에 따라 가치가 완전히 달라진다.
이는 경쟁작들이 제공하지 않는 '빌드 발견의 재미'를 핵심으로 삼는 구조다.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60000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보스 패턴 수치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440" y="860000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기믹 설계 완료, 구체적 수치 미확정 (프로토타입 필요)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854666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1854666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1894666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밸런스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440" y="1894666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아이템 등급 수치 및 보상량 검증 미진행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889332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2889332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2929332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440" y="2929332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보스 전투 화면 / 인벤토리 / 강화 화면 미설계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923998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3923998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3963998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기술 스택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440" y="3963998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3D 전환 시 반전[시점] 기믹 구현 가능성 검토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4958664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4958664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4998664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440" y="4998664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마일스톤 미확정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599333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" y="5993330"/>
            <a:ext cx="18288" cy="78466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440" y="6033330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프로토타입 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440" y="6033330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미진행 — 핵심 시스템 검증을 위해 우선 필요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000"/>
            <a:ext cx="12192000" cy="12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" y="400000"/>
            <a:ext cx="121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" y="8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6EDF3"/>
                </a:solidFill>
              </a:rPr>
              <a:t>펌블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7B72"/>
                </a:solidFill>
              </a:rPr>
              <a:t>Fumble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" y="3400000"/>
            <a:ext cx="1600000" cy="9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" y="3560000"/>
            <a:ext cx="1195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TRPG 기반 모바일 RPG  |  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2000" y="5058000"/>
            <a:ext cx="1800000" cy="180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92000" y="5658000"/>
            <a:ext cx="1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1B22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펌블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7B72"/>
                </a:solidFill>
              </a:rPr>
              <a:t>Fumble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TRPG 기반 모바일 RPG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72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TRPG 기반 모바일 RPG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72"/>
                </a:solidFill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1인/2인/다인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72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다이스 롤 · 세계 변화 · 유산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72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1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B72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1180912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</a:rPr>
              <a:t>"다이스 롤로 모험하고, 선택이 세계를 바꾸고, 캐릭터가 죽어도 유산이 이어지는 TRPG 기반 모바일 RPG. 한 판은 20~30분이지만, 선택의 흔적은 다음 캐릭터까지 남는다."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" y="3100000"/>
            <a:ext cx="3836373" cy="25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440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세계가 변한다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40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플레이어 선택이 이후 여정에 반영.
선택 직후가 아니라
나중에 조용히 드러남.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7813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7813" y="3100000"/>
            <a:ext cx="3836373" cy="25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7813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유산이 이어진다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813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캐릭터 사망 후 재시작이 아닌
유산 이벤트로 계승.
죽음이 실패가 아닌 서사.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4186" y="3100000"/>
            <a:ext cx="3836373" cy="36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4186" y="3100000"/>
            <a:ext cx="3836373" cy="25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4186" y="3120000"/>
            <a:ext cx="3836373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EDF3"/>
                </a:solidFill>
              </a:rPr>
              <a:t>펌블과 스페셜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186" y="3440000"/>
            <a:ext cx="3676373" cy="3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주사위 1(대실패)과 최대값(대성공)이
극적인 순간을 만듦.
게임명의 유래.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기획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B72"/>
                </a:solidFill>
              </a:rPr>
              <a:t>캐릭터 애착이 핵심이다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게임 몰입을 결정하는 가장 강력한 요소는
캐릭터에 대한 애정이다.
금전 투자보다 캐릭터의 서사와 매력이
플레이어를 붙잡는다.
펌블은 캐릭터 생성부터 사망까지
선택이 쌓여 만들어지는 서사를
시스템의 중심에 놓는다.
죽어도 그 캐릭터의 흔적이 세계에 남고,
다음 캐릭터가 그것을 이어받는다.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100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B72"/>
                </a:solidFill>
              </a:rPr>
              <a:t>연령층 변화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100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현재 모바일 주류: 실시간 조작 게임
→ 연령대 올라갈수록 접근 어려움
펌블의 선택:
• 턴제 전투 시스템
  → 조작 부담 없이 전략적 판단 집중
• 판당 20~30분
  → 바쁜 플레이어도 회차 완료 가능
• 플래그 기반 장기 기억
  → 짧은 회차가 긴 서사로 연결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B72"/>
                </a:solidFill>
              </a:rPr>
              <a:t>타겟 프로필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주 타겟
TRPG / 보드게임 경험 있는 20~30대
서사형 게임 선호자
핵심 니즈
"내 선택이 의미 있는 게임"
"캐릭터가 살아있는 느낌"
"짧게 즐기고 싶다"
기피 유형
빠른 반사신경을 요구하는 액션
과금 중심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20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1000" y="87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참조 게임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1000" y="820000"/>
            <a:ext cx="22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1000" y="87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공통점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1000" y="820000"/>
            <a:ext cx="40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1000" y="87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차별점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1000" y="1290000"/>
            <a:ext cx="2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000" y="134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Hades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1000" y="1290000"/>
            <a:ext cx="2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1000" y="134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죽음 후 서사 지속 / 반복 플레이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1000" y="1290000"/>
            <a:ext cx="4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1000" y="134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액션 중심 vs 턴제·다이스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1760000"/>
            <a:ext cx="2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181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80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1000" y="1760000"/>
            <a:ext cx="2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1000" y="181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선택 기반 여정 / 세계 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1000" y="1760000"/>
            <a:ext cx="4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1000" y="181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텍스트 어드벤처 vs RPG 시스템 결합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2230000"/>
            <a:ext cx="2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228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D&amp;D / TRPG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1000" y="2230000"/>
            <a:ext cx="2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1000" y="228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다이스 롤 / 선택 기반 서사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1000" y="2230000"/>
            <a:ext cx="40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1000" y="228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테이블탑 vs 모바일 디지털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1000" y="2700000"/>
            <a:ext cx="2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1000" y="2750000"/>
            <a:ext cx="1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클로버에이스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1000" y="2700000"/>
            <a:ext cx="2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1000" y="2750000"/>
            <a:ext cx="2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서사 / 감정 몰입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1000" y="2700000"/>
            <a:ext cx="40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1000" y="2750000"/>
            <a:ext cx="39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카드 전투 vs 여정+다이스 중심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캐릭터 생성
다이스 롤로 스탯 분배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5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8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6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여정 선택
지역별 등급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1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4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2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이벤트 발생 (11종)
전투·미스테리·조우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000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000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다이스 롤로 결과 결정
펌블(1) / 스페셜(최대값)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0000" y="165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0000" y="178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0000" y="186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선택에 따라 플래그 기록
이후 여정에 은밀히 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0000" y="2610000"/>
            <a:ext cx="40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0000" y="274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0000" y="282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캐릭터 사망 시
유산 이벤트 → 다음 캐릭터 계승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0000" y="1920000"/>
            <a:ext cx="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0000" y="820000"/>
            <a:ext cx="36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92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B72"/>
                </a:solidFill>
              </a:rPr>
              <a:t>루프 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0000" y="1320000"/>
            <a:ext cx="3400000" cy="5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짧은 한 판(20~30분)이지만
플래그가 누적되어 긴 서사가 완성.
캐릭터 사망이 게임 오버가 아닌
유산 계승 이벤트로 연결.
다이스 롤의 극적인 순간이
기억에 남는 에피소드를 만들어
리플레이 동기를 형성.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차별점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26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세계가 변한다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플레이어의 선택이 즉시 보이지 않고
이후 여정에서 조용히 반영된다.
예시:
이전에 동생을 구했다면
→ 다음 여정에서 성인이 된 NPC 등장
이전에 구하지 않았다면
→ 해당 NPC 자체가 존재하지 않음
플레이어가 나중에 발견하는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7813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유산이 이어진다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813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캐릭터 사망 시 단순 재시작 아님.
유산 이벤트로 3가지 계승 선택지 제공.
계승 가능한 것:
• 이전 캐릭터의 아이템 일부
• 특정 스탯 보너스
• NPC와의 관계
죽음이 실패가 아닌 서사의 한 챕터.
로그라이크의 반복성 +
서사 RPG의 캐릭터 애착 결합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4186" y="820000"/>
            <a:ext cx="3836373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4186" y="840000"/>
            <a:ext cx="367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펌블과 스페셜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186" y="1160000"/>
            <a:ext cx="3676373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TRPG의 핵심 극적 순간을
시스템의 중심에 배치.
펌블 (주사위 1)
→ 대실패. 상황을 극적으로 망침.
스페셜 (최대값)
→ 대성공. 모든 것이 맞아떨어짐.
이 극적인 순간들이
다음 플레이를 유도하는
핵심 감정 트리거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다이스 &amp; 기본 스탯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B72"/>
                </a:solidFill>
              </a:rPr>
              <a:t>다이스 종류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440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440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4626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4626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7812" y="132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7812" y="152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1440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440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4626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4626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7812" y="2540000"/>
            <a:ext cx="1893186" cy="11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7812" y="2740000"/>
            <a:ext cx="189318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72"/>
                </a:solidFill>
              </a:rPr>
              <a:t>d20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440" y="3420000"/>
            <a:ext cx="56795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펌블: 주사위 1 → 대실패
스페셜: 최대값 → 대성공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기본 스탯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1000" y="820000"/>
            <a:ext cx="2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000" y="87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주요 효과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2100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100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연관 다이스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000" y="1290000"/>
            <a:ext cx="2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000" y="134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체력 / 물리 공격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2100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6100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d10, d12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100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100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민첩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1000" y="1760000"/>
            <a:ext cx="2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1000" y="181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공격 순서 / 회피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2100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6100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d8, d10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2100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100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21000" y="2230000"/>
            <a:ext cx="2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1000" y="228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미스테리 판정 / 마법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2100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6100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d8, d12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100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100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행운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21000" y="2700000"/>
            <a:ext cx="2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1000" y="2750000"/>
            <a:ext cx="2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행운 판정 / 다이스 재시도 확률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2100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100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21000" y="3020000"/>
            <a:ext cx="6400000" cy="37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1000" y="3140000"/>
            <a:ext cx="6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</a:rPr>
              <a:t>핵심 자원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1000" y="3540000"/>
            <a:ext cx="6200000" cy="31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체력: 대응 스탯(힘)으로만 상승
마나: 레벨업·아이템으로만 상승
경험치: 여정 종료 시 획득
캐릭터 생성: 다이스 롤 결과를 4개 스탯에 자유 분배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특수 스탯 7종 — 7대 죄악 모티프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6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스탯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440" y="820000"/>
            <a:ext cx="19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1440" y="87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죄악 모티프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1440" y="820000"/>
            <a:ext cx="75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1440" y="87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주요 효과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25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0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분노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440" y="125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1440" y="130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Wrath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1440" y="125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1440" y="130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적대 NPC 처치 시 영구 제거 + 아이템 보상 상향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68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73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탐욕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440" y="168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1440" y="173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Greed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1440" y="168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1440" y="173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아이템·재료 획득 다이스 롤에 보정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11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16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오만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440" y="211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1440" y="216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Pride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1440" y="211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1440" y="216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펌블 시 다이스 재시도 / 스페셜 시 펌블 대체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54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59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나태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440" y="254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1440" y="259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Sloth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91440" y="254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1440" y="259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스페셜 시 3배 효과, 기본 패널티 증가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97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302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색욕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440" y="297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1440" y="302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Lust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91440" y="297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1440" y="302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우호적 NPC와의 거래 어드밴티지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3400000"/>
            <a:ext cx="16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440" y="345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질투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440" y="3400000"/>
            <a:ext cx="19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1440" y="345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Envy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91440" y="3400000"/>
            <a:ext cx="75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1440" y="345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모든 다이스 롤에 d20 추가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" y="3830000"/>
            <a:ext cx="16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40" y="3880000"/>
            <a:ext cx="15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식욕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1440" y="3830000"/>
            <a:ext cx="19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31440" y="3880000"/>
            <a:ext cx="18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Gluttony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1440" y="3830000"/>
            <a:ext cx="75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31440" y="3880000"/>
            <a:ext cx="7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모든 비소모품 섭취 가능 + 스탯 소폭 상승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120000"/>
            <a:ext cx="1200912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440" y="42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</a:rPr>
              <a:t>설계 의도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440" y="4620000"/>
            <a:ext cx="118091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7대 죄악 모티프는 각 스탯의 성격을 직관적으로 전달하는 동시에 세계관 일체감을 높인다. 오만은 리스크를 회피하고, 나태는 리스크와 보상이 공존한다. 같은 다이스 결과라도 특수 스탯 조합에 따라 완전히 다른 결과가 나와 빌드 다양성을 만든다.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여정 이벤트 11종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7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이벤트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440" y="820000"/>
            <a:ext cx="40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1440" y="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핵심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440" y="820000"/>
            <a:ext cx="5200000" cy="4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1440" y="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특이사항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2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1440" y="12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1440" y="1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몬스터 처치 + 드랍 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1440" y="12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1440" y="1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펌블 시 전투 불리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6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6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미스테리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1440" y="16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31440" y="16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서브 여정 발생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91440" y="16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1440" y="16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절세 이상 실패 시 사망 위험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0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0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명소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1440" y="20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1440" y="20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풍경 일러스트 획득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91440" y="20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1440" y="20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다음 이벤트 소폭 보너스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4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4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91440" y="24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440" y="24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지역 재료 획득 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1440" y="24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1440" y="24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지역별 다른 재료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8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2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조우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91440" y="28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31440" y="2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NPC 만남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1440" y="28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1440" y="2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이전 플레이 선택에 따라 분기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32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1440" y="3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사고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91440" y="32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31440" y="3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천재지변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91440" y="32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1440" y="3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영구 손상 또는 보너스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" y="36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40" y="36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야영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1440" y="36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31440" y="36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취침 / 강행군 선택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91440" y="36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1440" y="36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취침 시 추가 이벤트 확률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0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440" y="40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회상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91440" y="40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31440" y="40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야영 취침 시 발생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91440" y="40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1440" y="40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스탯 랜덤 상승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" y="44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440" y="44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흔적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91440" y="44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31440" y="44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숨겨진 여정·아이템 발견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91440" y="44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1440" y="44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조건 충족 시에만 등장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4820000"/>
            <a:ext cx="17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1440" y="48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신기루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91440" y="4820000"/>
            <a:ext cx="40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31440" y="48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희귀 아이템 또는 영구 손상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91440" y="4820000"/>
            <a:ext cx="5200000" cy="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31440" y="48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고위험 고수익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5220000"/>
            <a:ext cx="17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1440" y="5270000"/>
            <a:ext cx="16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유산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91440" y="5220000"/>
            <a:ext cx="40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31440" y="5270000"/>
            <a:ext cx="39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캐릭터 사망 여정 재현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91440" y="5220000"/>
            <a:ext cx="5200000" cy="4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31440" y="5270000"/>
            <a:ext cx="51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3가지 계승 선택지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멀티플레이 콘텐츠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55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현실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1인 컨텐츠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여정 / 빠른 여정
캐릭터 생성 및 여정을 통한 성장.
사망 시 재플레이 불가.
빠른 여정:
경험한 여정을 즉시 완료
(미스테리·명소·조우 미발생)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7813" y="820000"/>
            <a:ext cx="3836373" cy="55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7813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813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2인 컨텐츠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813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대전 / 거래 / 명성
대전: 실시간 캐릭터 대결
  - 친선 (패널티 없음)
  - 적대 (패배 시 영구 손상)
  - 내기 (아이템 걸고 진행)
거래: 다이스 롤로 품질 결정
명성: 대전 포인트 기반 랭킹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4186" y="820000"/>
            <a:ext cx="3836373" cy="550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4186" y="850000"/>
            <a:ext cx="3836373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4186" y="1150000"/>
            <a:ext cx="3836373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다인 컨텐츠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186" y="1470000"/>
            <a:ext cx="3676373" cy="52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거점 기반 이동 및 상호작용
명소에서 거점 설치 →
다른 플레이어가 해당 거점을
스폰 포인트로 활용 가능.
간접적인 멀티플레이로
과도한 소셜 의존 없이
연결감 제공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경쟁작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게임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1440" y="820000"/>
            <a:ext cx="3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440" y="87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공통점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1440" y="820000"/>
            <a:ext cx="56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1440" y="87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차별점 (펌블과 비교)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30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5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Hades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1440" y="1300000"/>
            <a:ext cx="3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440" y="135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죽음 후 서사 지속 / 반복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1440" y="1300000"/>
            <a:ext cx="56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1440" y="135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액션 중심 vs 턴제·다이스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78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83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1440" y="1780000"/>
            <a:ext cx="3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440" y="183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선택 기반 여정 / 세계 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91440" y="1780000"/>
            <a:ext cx="56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1440" y="183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텍스트 어드벤처 vs RPG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26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31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D&amp;D / TRPG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1440" y="2260000"/>
            <a:ext cx="3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440" y="231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다이스 롤 / 선택 서사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91440" y="2260000"/>
            <a:ext cx="56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1440" y="231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테이블탑 vs 모바일 디지털화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74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79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클로버에이스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1440" y="2740000"/>
            <a:ext cx="3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440" y="2790000"/>
            <a:ext cx="3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서사 / 감정 몰입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91440" y="2740000"/>
            <a:ext cx="56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1440" y="2790000"/>
            <a:ext cx="55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카드 전투 vs 여정·다이스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3120000"/>
            <a:ext cx="12009120" cy="3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440" y="324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</a:rPr>
              <a:t>펌블의 핵심 차별점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440" y="3640000"/>
            <a:ext cx="11809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"캐릭터가 죽어도 세계가 기억한다" — 로그라이크의 반복성과 서사 RPG의 캐릭터 애착을 결합하는 지점이 기존 경쟁작에 없는 포인트다.
Hades는 죽음 후 대화와 스토리 진행으로 서사를 이어가지만 캐릭터 자체는 동일하다. 펌블은 캐릭터가 바뀌어도 그 캐릭터가 만든 세계의 변화가 남는다는 점에서 다르다.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60000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콘텐츠 지역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440" y="860000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남서 지역 완료, 전체 지역 설계 진행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854666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1854666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1894666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밸런스 수치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440" y="1894666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다이스 보정값 및 이벤트 확률 미확정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889332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2889332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2929332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440" y="2929332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여정 화면 목업 일부 완료, 나머지 미설계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923998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3923998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3963998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기술 스택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440" y="3963998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미확정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4958664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4958664"/>
            <a:ext cx="18288" cy="78466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4998664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프로토타입 제작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440" y="4998664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미진행 — 핵심 시스템 검증을 위해 우선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599333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" y="5993330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440" y="6033330"/>
            <a:ext cx="300000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멀티플레이 구조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440" y="6033330"/>
            <a:ext cx="8709120" cy="71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환영·여행 콘텐츠 상세 설계 미진행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