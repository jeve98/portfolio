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60000"/>
            <a:ext cx="12192119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맑은 고딕"/>
              </a:rPr>
              <a:t>전연욱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92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4ECDC4"/>
                </a:solidFill>
                <a:latin typeface="맑은 고딕"/>
              </a:rPr>
              <a:t>게임 클라이언트 프로그래머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BB"/>
                </a:solidFill>
                <a:latin typeface="맑은 고딕"/>
              </a:rPr>
              <a:t>Unity / C#  ·  Phaser  ·  Django  ·  Vue.js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60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BB"/>
                </a:solidFill>
                <a:latin typeface="맑은 고딕"/>
              </a:rPr>
              <a:t>삼성 청년 SW 아카데미(SSAFY) 수료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4031999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  <a:latin typeface="맑은 고딕"/>
              </a:rPr>
              <a:t>jadam41817@gmail.com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개발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3개 프로젝트 — Unity · Phaser · Django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3780000" cy="52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080000"/>
            <a:ext cx="3780000" cy="28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152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CDC4"/>
                </a:solidFill>
                <a:latin typeface="맑은 고딕"/>
              </a:rPr>
              <a:t>헤이터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548000"/>
            <a:ext cx="35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맑은 고딕"/>
              </a:rPr>
              <a:t>2026-04-22 ~ 05-21  |  6인  |  Unity, Spring,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872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전략 디펜스 웹 게임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2178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기획 총괄 + 6개 파트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2484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WebGL 최적화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2000" y="1080000"/>
            <a:ext cx="3780000" cy="52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2000" y="1080000"/>
            <a:ext cx="3780000" cy="28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0" y="1152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CDC4"/>
                </a:solidFill>
                <a:latin typeface="맑은 고딕"/>
              </a:rPr>
              <a:t>마네킹: 헌티드 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0" y="1548000"/>
            <a:ext cx="35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맑은 고딕"/>
              </a:rPr>
              <a:t>2026-02-20 ~ 03-25  |  6인  |  Unity, Photon PUN2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1872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비대칭 멀티플레이 PVP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0" y="2178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살인마 진영 + 렌더링·네트워크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0" y="2484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Photon 멀티플레이 실전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6000" y="1080000"/>
            <a:ext cx="3780000" cy="52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6000" y="1080000"/>
            <a:ext cx="3780000" cy="28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4000" y="1152000"/>
            <a:ext cx="356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ECDC4"/>
                </a:solidFill>
                <a:latin typeface="맑은 고딕"/>
              </a:rPr>
              <a:t>프라가라흐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4000" y="1548000"/>
            <a:ext cx="356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  <a:latin typeface="맑은 고딕"/>
              </a:rPr>
              <a:t>2025-09-30 ~ 12-25  |  2인  |  Phaser, Django, Vue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4000" y="1872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2D 웹 액션 RPG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4000" y="2178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클라이언트 + 서버 담당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4000" y="2484000"/>
            <a:ext cx="35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AI 코드 구조화 경험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00000"/>
            <a:ext cx="12192119" cy="144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0"/>
            <a:ext cx="11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맑은 고딕"/>
              </a:rPr>
              <a:t>헤이터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378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1020"/>
                </a:solidFill>
                <a:latin typeface="맑은 고딕"/>
              </a:rPr>
              <a:t>전략 디펜스 웹 게임  |  Unity C# · Spring · React  |  6인  |  4주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담당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180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000" y="1116000"/>
            <a:ext cx="1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8000" y="1080000"/>
            <a:ext cx="126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2000" y="11160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비중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8000" y="1080000"/>
            <a:ext cx="774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2000" y="1116000"/>
            <a:ext cx="76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350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1393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아키텍처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8000" y="1350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2000" y="1393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1350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2000" y="1393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Thread safe Singleton 제네릭 베이스 클래스 (CRTP 패턴)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728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000" y="1771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세션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8000" y="1728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2000" y="1771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8000" y="1728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2000" y="1771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새로고침 대응 세션 복구 시스템 (OCP 리팩토링)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2106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000" y="2149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디펜스 기능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8000" y="2106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2000" y="2149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8000" y="2106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2000" y="2149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유닛 배치 동기화 · 사정거리 인디케이터 · 오브젝트 풀 스폰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2484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000" y="2527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탐사 컨텐츠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88000" y="2484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2000" y="2527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 (N종 중 4종)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48000" y="2484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2000" y="2527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기근 · 마력 안개 · 인사 이동 · 저주 정화 이벤트 구현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2862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000" y="2905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보안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88000" y="2862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2000" y="2905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48000" y="2862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2000" y="2905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AES-GCM + RSA 세션키 교환 기반 암호화 통신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" y="3240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000" y="3283199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최적화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88000" y="3240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2000" y="3283199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48000" y="3240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2000" y="3283199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GPU Instancing · SpriteSync · 픽셀아트 설정으로 WebGL 개선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Thread safe Singleton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CRTP 패턴 + 상호 배제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580000" cy="90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404000"/>
            <a:ext cx="536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매니저 클래스마다 싱글톤 생성 코드를 반복 작성 → 유지 보수성 저하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2160000"/>
            <a:ext cx="5580000" cy="144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00" y="216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221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해결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2484000"/>
            <a:ext cx="53640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제네릭 베이스 클래스로 싱글톤 로직 분리
CRTP 패턴으로 매니저마다 독립 정적 인스턴스 → 캐스팅 없이 직접 접근
lock 블록으로 상호 배제 적용 (멀티 스레드 확장 대비)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3780000"/>
            <a:ext cx="5580000" cy="144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00" y="37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38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추가 트러블슈팅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4104000"/>
            <a:ext cx="5364000" cy="10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부모 오브젝트로 묶었을 때 DontDestroyOnLoad 동작 안 함
Find + 캐싱 방식은 싱글톤을 클라이언트 코드에서 재구현하는 것과 동일 → 안전성 저하
해결: 생성 시 부모 관계를 끊는 방식 채택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0" y="1080000"/>
            <a:ext cx="5760000" cy="414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DC4"/>
                </a:solidFill>
                <a:latin typeface="Consolas"/>
              </a:rPr>
              <a:t>public class Singleton&lt;T&gt; : MonoBehaviour
    where T : MonoBehaviour
{
    private static T _instance;
    private static readonly object _lock
                     = new object();
    public static T Instance
    {
        get { lock (_lock) { /* 생성 */ } }
    }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세션 복구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OCP 위반 → Dictionary 기반 리팩토링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580000" cy="1007999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404000"/>
            <a:ext cx="536400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웹 게임 새로고침 시 씬 재로드
상태 미저장 → 다음 스테이지 정보 미리 확인 / 방어전 무한 반복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4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CDC4"/>
                </a:solidFill>
                <a:latin typeface="맑은 고딕"/>
              </a:rPr>
              <a:t>Before  —  switch문 (OCP 위반)</a:t>
            </a:r>
          </a:p>
          <a:p>
            <a:pPr algn="l"/>
            <a:r>
              <a:rPr sz="1100" b="0" i="0">
                <a:solidFill>
                  <a:srgbClr val="AAAABB"/>
                </a:solidFill>
                <a:latin typeface="맑은 고딕"/>
              </a:rPr>
              <a:t>새 상태 추가 시 switch 수정 필요 → 확장 폐쇄 원칙 위반</a:t>
            </a:r>
          </a:p>
          <a:p>
            <a:pPr algn="l"/>
            <a:r>
              <a:rPr sz="1200" b="1" i="0">
                <a:solidFill>
                  <a:srgbClr val="6BD98A"/>
                </a:solidFill>
                <a:latin typeface="맑은 고딕"/>
              </a:rPr>
              <a:t>After  —  Dictionary 상태-핸들러 매핑</a:t>
            </a:r>
          </a:p>
          <a:p>
            <a:pPr algn="l"/>
            <a:r>
              <a:rPr sz="1100" b="0" i="0">
                <a:solidFill>
                  <a:srgbClr val="AAAABB"/>
                </a:solidFill>
                <a:latin typeface="맑은 고딕"/>
              </a:rPr>
              <a:t>딕셔너리에 항목만 추가 → 기존 코드 변경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1080000"/>
            <a:ext cx="5760000" cy="522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ECDC4"/>
                </a:solidFill>
                <a:latin typeface="Consolas"/>
              </a:rPr>
              <a:t>void Awake()
{
    Action recover =
      () =&gt; StartCoroutine(
        RecoveryTransitionRoutine("Defense"));
    _handlers = new Dictionary&lt;GameState, Action&gt;
    {
        { GameState.Preparation, recover },
        { GameState.Battle,      recover },
        { GameState.PostStage,   LoadPostStage },
    };
}
public void CheckAndRecoverySession()
{
    var state = GetLastSavedState();
    if (_handlers.TryGetValue(state,
           out Action handler))
        handler();
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유닛 배치 &amp; 사정거리 인디케이터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5580000" cy="234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유닛 배치 — 단방향 동기화 + 상태 보존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404000"/>
            <a:ext cx="5364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문제: UI 변경마다 오브젝트 생성/파괴 → 버프·HP 등 컴포넌트 상태 초기화
해결: UIGridController에서 배치 상태 저장,
      패널 닫힐 때 SyncDeploymentWithWorld() 호출
      고유 ID 매핑으로 재배치 시 이동(파괴 X) → 상태 보존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3600000"/>
            <a:ext cx="5580000" cy="19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360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365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사정거리 인디케이터 — 상대적 비율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3924000"/>
            <a:ext cx="5364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문제: 유닛마다 고정값 저장 시 서버 밸런스 변경 때 클라이언트도 수정 필요
해결: 가장 짧은 사정거리(방패병) 기준으로
      인디케이터 크기를 상대 비율로 계산 → 서버 독립적
버프 증가분은 별도 레이어로 추가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1080000"/>
            <a:ext cx="5760000" cy="360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DC4"/>
                </a:solidFill>
                <a:latin typeface="Consolas"/>
              </a:rPr>
              <a:t>// 사정거리 인디케이터
float baseScale =
    (unitRange / shieldRange) * 1.4f;
float effectiveRange =
    unitRange * (1f + percentSum) + flatSum;
float effectiveScale =
    (effectiveRange / shieldRange) * 1.4f;
if (effectiveScale &gt; baseScale)
    SpawnIndicatorObject(
        bonusIndicator, coord, effectiveScale);
SpawnIndicatorObject(
    baseIndicator, coord, baseScale);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오브젝트 풀 기반 스폰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Pending Queue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040000" cy="16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080000"/>
            <a:ext cx="504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13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404000"/>
            <a:ext cx="4824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적 유닛 300 ~ 1,500+ 마리 등장
웹 게임: 브라우저 리소스 공유 → GC 비용에 민감
유닛 생성/파괴 반복 시 GC 스파이크 빈번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2880000"/>
            <a:ext cx="5040000" cy="19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00" y="2880000"/>
            <a:ext cx="504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2934000"/>
            <a:ext cx="48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3204000"/>
            <a:ext cx="4824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웨이브 등장 유닛의 40% 사전 풀 생성
풀 고갈 시 → Pending Queue에 적재
유닛 반납 이벤트 발생 시 → Pending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000" y="1080000"/>
            <a:ext cx="6300000" cy="468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DC4"/>
                </a:solidFill>
                <a:latin typeface="Consolas"/>
              </a:rPr>
              <a:t>private void SpawnEnemy(int unitId, int grade)
{
    var obj = pool.Get(unitId);
    if (obj == null)
    {
        _pendingSpawn[unitId]++;  // pending
        return;
    }
    ApplyGrade(obj, unitId, grade);
}
// 반납 이벤트 시 pending 처리
private void OnEnemyReturnedHandler(int id)
{
    if (_pendingSpawn[id] &lt;= 0) return;
    _pendingSpawn[id]--;
    SpawnEnemy(id, _unitGrades[id]);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탐사 컨텐츠 구현 (4종)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다회차 랜덤성 부여 선택지 기반 컨텐츠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2844000" cy="48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080000"/>
            <a:ext cx="2844000" cy="25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34000"/>
            <a:ext cx="1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맑은 고딕"/>
              </a:rPr>
              <a:t>기근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1134000"/>
            <a:ext cx="9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D93D"/>
                </a:solidFill>
                <a:latin typeface="맑은 고딕"/>
              </a:rPr>
              <a:t>지속 디버프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48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n회 방어전 동안 소비 식량 2배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872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횟수 차감을 식량 소비(방어전 시작)와 동기화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196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→ 씬 재로드 시 횟수/식량 불일치 버그 방지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8000" y="1080000"/>
            <a:ext cx="2844000" cy="48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8000" y="1080000"/>
            <a:ext cx="2844000" cy="25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0000" y="1134000"/>
            <a:ext cx="1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맑은 고딕"/>
              </a:rPr>
              <a:t>마력 안개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0000" y="1134000"/>
            <a:ext cx="9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D93D"/>
                </a:solidFill>
                <a:latin typeface="맑은 고딕"/>
              </a:rPr>
              <a:t>연출 + 스탯 분기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0000" y="1548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성공/실패 → 버프/디버프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0000" y="1872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결과 무관 → 다음 전투에 안개 연출 등장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0000" y="2196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채널 분리로 3가지 분기 처리 단순화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0000" y="2520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WebGL 쉐이더 미지원 → Unlit 기반 머티리얼 제작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8000" y="1080000"/>
            <a:ext cx="2844000" cy="48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8000" y="1080000"/>
            <a:ext cx="2844000" cy="25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0" y="1134000"/>
            <a:ext cx="1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맑은 고딕"/>
              </a:rPr>
              <a:t>인사 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0000" y="1134000"/>
            <a:ext cx="9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D93D"/>
                </a:solidFill>
                <a:latin typeface="맑은 고딕"/>
              </a:rPr>
              <a:t>병과 교체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1548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보유 병과 중 랜덤 선택 → 다른 병과로 변경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000" y="1872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클램프 처리로 보유 수량 초과 방지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000" y="2196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부족 병과 보충 또는 복불복 역할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8000" y="1080000"/>
            <a:ext cx="2844000" cy="48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98000" y="1080000"/>
            <a:ext cx="2844000" cy="25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0000" y="1134000"/>
            <a:ext cx="1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맑은 고딕"/>
              </a:rPr>
              <a:t>저주 정화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0000" y="1134000"/>
            <a:ext cx="9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D93D"/>
                </a:solidFill>
                <a:latin typeface="맑은 고딕"/>
              </a:rPr>
              <a:t>엘리트 유닛 소환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0000" y="1548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실패 시 다음 방어전에 엘리트 추가 등장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0000" y="1872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로그 분석: 고정 유닛 지정 시 웨이브 조합에 따라 위험도 편차 과대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0000" y="21960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→ 다음 웨이브 구성에서 무작위 추출 후 엘리트 대체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암호화 통신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AES-GCM + RSA 세션키 교환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11520000" cy="1007999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080000"/>
            <a:ext cx="1152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134000"/>
            <a:ext cx="113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404000"/>
            <a:ext cx="11304000" cy="61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웹 게임: 개발자 도구로 통신 내역 노출
주요 데이터를 API로 받아 덮어쓰는 치팅 방지 구조 사용 중
→ 통신 보안이 핵심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2340000"/>
            <a:ext cx="5040000" cy="251999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0" y="2376000"/>
            <a:ext cx="493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8000" y="2340000"/>
            <a:ext cx="1800000" cy="251999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2000" y="2376000"/>
            <a:ext cx="169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속도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28000" y="2340000"/>
            <a:ext cx="1800000" cy="251999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2000" y="2376000"/>
            <a:ext cx="169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키 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8000" y="2340000"/>
            <a:ext cx="1080000" cy="251999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2000" y="2376000"/>
            <a:ext cx="972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채택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2592000"/>
            <a:ext cx="504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000" y="2664000"/>
            <a:ext cx="49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평문 전송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8000" y="2592000"/>
            <a:ext cx="180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2000" y="2664000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8000" y="2592000"/>
            <a:ext cx="180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2000" y="2664000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높음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28000" y="2592000"/>
            <a:ext cx="108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2000" y="2664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  <a:latin typeface="맑은 고딕"/>
              </a:rP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" y="2988000"/>
            <a:ext cx="504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000" y="3060000"/>
            <a:ext cx="49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비대칭키 단독 (RSA)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0" y="2988000"/>
            <a:ext cx="180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2000" y="3060000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느림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28000" y="2988000"/>
            <a:ext cx="180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2000" y="3060000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낮음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28000" y="2988000"/>
            <a:ext cx="108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82000" y="3060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  <a:latin typeface="맑은 고딕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00" y="3384000"/>
            <a:ext cx="504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000" y="3456000"/>
            <a:ext cx="49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대칭키 단독 (AES)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28000" y="3384000"/>
            <a:ext cx="180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82000" y="3456000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빠름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28000" y="3384000"/>
            <a:ext cx="180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2000" y="3456000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높음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28000" y="3384000"/>
            <a:ext cx="1080000" cy="3780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2000" y="3456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  <a:latin typeface="맑은 고딕"/>
              </a:rP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00" y="3780000"/>
            <a:ext cx="504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000" y="3851999"/>
            <a:ext cx="49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93D"/>
                </a:solidFill>
                <a:latin typeface="맑은 고딕"/>
              </a:rPr>
              <a:t>AES-GCM + RSA 세션키 교환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28000" y="3780000"/>
            <a:ext cx="180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82000" y="3851999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93D"/>
                </a:solidFill>
                <a:latin typeface="맑은 고딕"/>
              </a:rPr>
              <a:t>빠름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28000" y="3780000"/>
            <a:ext cx="180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82000" y="3851999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D93D"/>
                </a:solidFill>
                <a:latin typeface="맑은 고딕"/>
              </a:rPr>
              <a:t>낮음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28000" y="3780000"/>
            <a:ext cx="1080000" cy="378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82000" y="3851999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D98A"/>
                </a:solidFill>
                <a:latin typeface="맑은 고딕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00" y="4140000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게임 실행 시 신규 세션키 생성 → 서버 공개키(RSA)로 암호화하여 교환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00" y="4428000"/>
            <a:ext cx="115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이후 모든 통신은 AES-GCM으로 처리 / IV를 매 요청마다 갱신 → 재전송 공격 방지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헤이터 — WebGL 렌더링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드로우콜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32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3,500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35999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12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108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메모리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0" y="1332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60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1835999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212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15 mb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0000" y="1080000"/>
            <a:ext cx="4860000" cy="180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20000" y="1080000"/>
            <a:ext cx="486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28000" y="1134000"/>
            <a:ext cx="46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① GPU Instancing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8000" y="1404000"/>
            <a:ext cx="4644000" cy="14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환경 오브젝트 머티리얼 4개 활성화
동일 메시·머티리얼 → 1회 인스턴싱 호출
+ 텍스처·노멀맵 크기 축소 / shadowmask 거리 감소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000" y="3060000"/>
            <a:ext cx="4860000" cy="234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20000" y="3060000"/>
            <a:ext cx="486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8000" y="3114000"/>
            <a:ext cx="46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② SpriteSync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8000" y="3384000"/>
            <a:ext cx="4644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유닛: 마스터 1개 + 자식 12개 레이어
기존: 13개 각각에 Animator → CPU 과부하
채택: 마스터에만 Animator, 자식은
      LateUpdate에서 sprite·flipX·color 복사
→ 기존 애니메이션 수정 없이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0000" y="5580000"/>
            <a:ext cx="4860000" cy="10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20000" y="5580000"/>
            <a:ext cx="486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00" y="5634000"/>
            <a:ext cx="46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③ 픽셀아트 렌더링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0" y="5903999"/>
            <a:ext cx="46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Filter Mode: Bilinear → Point
압축: 무손실 적용
PPU 전체 통일 → 픽셀 흐림 + 충돌 크기 불일치 동시 해결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00000"/>
            <a:ext cx="12192119" cy="1440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0"/>
            <a:ext cx="11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맑은 고딕"/>
              </a:rPr>
              <a:t>마네킹: 헌티드 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378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1020"/>
                </a:solidFill>
                <a:latin typeface="맑은 고딕"/>
              </a:rPr>
              <a:t>비대칭 멀티플레이 PVP  |  Unity C# · Photon PUN2  |  6인  |  5주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마네킹 — 담당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180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000" y="1116000"/>
            <a:ext cx="1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8000" y="1080000"/>
            <a:ext cx="126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2000" y="11160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비중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8000" y="1080000"/>
            <a:ext cx="774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2000" y="1116000"/>
            <a:ext cx="76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350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1393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기획 참여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8000" y="1350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2000" y="1393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1350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2000" y="1393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살인마 스킬 기획 및 밸런스 논의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728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000" y="1771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살인마 진영 구현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8000" y="1728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2000" y="1771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8000" y="1728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2000" y="1771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더미 설치 · 전이 · 교란 · 위장 스킬 4종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2106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000" y="2149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스폰 시스템 최적화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8000" y="2106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2000" y="2149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8000" y="2106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2000" y="2149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스폰 데이터 구조 재설계 → 네트워크 트래픽 50% 감소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2484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000" y="2527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상호작용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88000" y="2484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2000" y="2527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48000" y="2484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2000" y="2527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IInteractable 인터페이스 기반 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2862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000" y="2905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증강 시스템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88000" y="2862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2000" y="2905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48000" y="2862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2000" y="2905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AbilityBase 추상 클래스 기반 설계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" y="3240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000" y="3283199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렌더링 최적화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88000" y="3240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2000" y="3283199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48000" y="3240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2000" y="3283199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Occlusion Culling 적용 (13fps → 63.6fps, 약 390% 향상)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00" y="3618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000" y="3661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네트워크 안정화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88000" y="3618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2000" y="3661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48000" y="3618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02000" y="3661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Jitter 원인 분석 및 동기화 기준 일원화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마네킹 — 기획 의도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5580000" cy="19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트렌드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404000"/>
            <a:ext cx="5364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게이머 평균 플레이 타임 지속 감소
롤 칼바람 나락에 증강 추가 → 단판 템포 가속 트렌드
비대칭 PVP(협력·심리전)에 로그라이크 요소(증강) 결합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3311999"/>
            <a:ext cx="5580000" cy="180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3311999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3366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AI 활용 팀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3636000"/>
            <a:ext cx="5364000" cy="14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단순 '만들어줘'가 아닌 명확한 근거와 동작 방식 명시
기존 코드와의 정합성·연동성을 고려하여 프롬프팅
생성된 코드 반드시 직접 검토 후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080000"/>
            <a:ext cx="5580000" cy="19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0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8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증강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1404000"/>
            <a:ext cx="5364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매 판마다 증강 조합이 달라 → 리플레이어빌리티 확보
로그라이크 장르의 핵심 '빌드 다양성'을 PVP에 이식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3311999"/>
            <a:ext cx="5580000" cy="180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000" y="3311999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8000" y="3366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결과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8000" y="3636000"/>
            <a:ext cx="5364000" cy="14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단판 플레이 템포 가속
매 판 새로운 빌드 경험으로 반복 플레이 유도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마네킹 — 살인마 스킬 4종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2808000" cy="46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2808000" cy="25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맑은 고딕"/>
              </a:rPr>
              <a:t>더미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54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설치 가능 구역 리스트를 순회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87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가장 가깝고 유효 거리 내 지점 자동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196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전이·교란 스킬의 기반 오브젝트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0" y="1080000"/>
            <a:ext cx="2808000" cy="46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0" y="1080000"/>
            <a:ext cx="2808000" cy="25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1999" y="115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맑은 고딕"/>
              </a:rPr>
              <a:t>전이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1999" y="154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더미만 렌더링하는 전용 카메라 별도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1999" y="187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맵 안개에 의한 시야 차단 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1999" y="2196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→ 안개 무시 커스텀 쉐이더 제작·적용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2000" y="1080000"/>
            <a:ext cx="2808000" cy="46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2000" y="1080000"/>
            <a:ext cx="2808000" cy="25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999" y="115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맑은 고딕"/>
              </a:rPr>
              <a:t>교란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999" y="154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전이 애니메이션을 생존자가 파악하는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999" y="187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교란 사용 시 모든 더미에 동시 애니메이션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999" y="2196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→ 실제 전이와 구분 불가 → 심리전 확장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080000"/>
            <a:ext cx="2808000" cy="46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080000"/>
            <a:ext cx="2808000" cy="25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6000" y="115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맑은 고딕"/>
              </a:rPr>
              <a:t>위장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6000" y="1548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1인칭 시점의 색적 능력 보완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6000" y="1872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3인칭 시점 전환 기능 추가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6000" y="2196000"/>
            <a:ext cx="25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•  인근 거리 내 살인마 존재 시 생존자 효음 차단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마네킹 — 스폰 시스템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네트워크 트래픽 50% 감소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전송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12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6개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015999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304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3개 값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0" y="1080000"/>
            <a:ext cx="7740000" cy="270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0000" y="1080000"/>
            <a:ext cx="774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8000" y="1134000"/>
            <a:ext cx="752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8000" y="1404000"/>
            <a:ext cx="7523999" cy="23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기존: position(x,y,z) + rotation(x,y,z) = 6개 전송
살인마 position.y = 108f 고정
생존자 position.y = 1f 고정
rotation.x, rotation.z 항상 0 고정
→ 실제로 변하는 값: x, z, rotation.y 3개뿐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3960000"/>
            <a:ext cx="7740000" cy="252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ECDC4"/>
                </a:solidFill>
                <a:latin typeface="Consolas"/>
              </a:rPr>
              <a:t>public (Vector3 pos, Quaternion rot)
    GetKillerSpawnData()
{
    Vector3 d = killerPoints[SelectedIndex];
    return (
        new Vector3(d.x, 108f, d.z),
        Quaternion.Euler(0, d.y, 0));
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마네킹 — 인터페이스 vs 추상 클래스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상호작용 시스템 &amp; 증강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688000" cy="52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080000"/>
            <a:ext cx="5688000" cy="252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1152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맑은 고딕"/>
              </a:rPr>
              <a:t>상호작용 시스템 →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54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파괴 / 정화 / 뛰어넘기  ← 수평 확장 관계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90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파괴·정화: NetworkBehaviour 상속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226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뛰어넘기: MonoBehaviour로 충분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262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C# 단일 상속 제약 → 추상 클래스로 묶기 불가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298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93D"/>
                </a:solidFill>
                <a:latin typeface="맑은 고딕"/>
              </a:rPr>
              <a:t>   → 인터페이스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3491999"/>
            <a:ext cx="5400000" cy="2520000"/>
          </a:xfrm>
          <a:prstGeom prst="rect">
            <a:avLst/>
          </a:prstGeom>
          <a:solidFill>
            <a:srgbClr val="202034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DC4"/>
                </a:solidFill>
                <a:latin typeface="Consolas"/>
              </a:rPr>
              <a:t>public interface IInteractable
{
    string GetInteractionText(
               GameObject interactor);
    string GetAnimationTrigger();
    void   OnInteract(
               GameObject gameObject);
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2000" y="1080000"/>
            <a:ext cx="5688000" cy="52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080000"/>
            <a:ext cx="5688000" cy="25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000" y="1152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맑은 고딕"/>
              </a:rPr>
              <a:t>증강 시스템 → 추상 클래스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154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NetworkBehaviour 반드시 상속 (호스트·클라이언트 동기화)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190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기능이 계층적으로 확장 ← 수직 확장 관계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226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93D"/>
                </a:solidFill>
                <a:latin typeface="맑은 고딕"/>
              </a:rPr>
              <a:t>   → 추상 클래스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262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Activate(): 미구현 시 치명적 → 추상 함수로 강제화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2988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•  Awake():  방어 코드 (선택적) → 가상 함수로 오버라이드 허용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000" y="3491999"/>
            <a:ext cx="5400000" cy="2520000"/>
          </a:xfrm>
          <a:prstGeom prst="rect">
            <a:avLst/>
          </a:prstGeom>
          <a:solidFill>
            <a:srgbClr val="202034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DC4"/>
                </a:solidFill>
                <a:latin typeface="Consolas"/>
              </a:rPr>
              <a:t>public abstract class AbilityBase
    : NetworkBehaviour
{
    // 미구현 시 치명적 → 추상 함수
    public abstract void Activate();
    // 방어 코드 → 가상 함수
    protected virtual void Awake()
    { this.enabled = false; }
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마네킹 — 렌더링 최적화 &amp; 네트워크 안정화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렌더링 성능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32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13 fps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35999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12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63.6 fps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1080000"/>
            <a:ext cx="7560000" cy="25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0" y="1080000"/>
            <a:ext cx="756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8000" y="1134000"/>
            <a:ext cx="73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Occlusion Culling 선택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000" y="1404000"/>
            <a:ext cx="734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AI 생성 3D 메시 다수 → vertex 복잡
맵 규모 상당 → Frustum Culling 한계
카메라 뷰 내 가려진 오브젝트가 많은 구조
5주 일정 → 개별 LOD보다 공간 단위 Occlusion Culling이
비용 대비 효과 높다고 판단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0" y="3780000"/>
            <a:ext cx="7560000" cy="25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0" y="3780000"/>
            <a:ext cx="756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000" y="3834000"/>
            <a:ext cx="73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Jitter 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000" y="4104000"/>
            <a:ext cx="7343999" cy="21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발생: 특정 증강 획득 시 Jitter 발생
원인: 서버·클라이언트가 서로 다른 시간축으로
       상태 변경 → 네트워크 지연 누적
해결: RPC로 상태값 추가 확정 (방어 코드)
       동기화 기준을 서버로 일원화
       증강 적용 시점을 동기화 확인 이후로 지연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00000"/>
            <a:ext cx="12192119" cy="1440000"/>
          </a:xfrm>
          <a:prstGeom prst="rect">
            <a:avLst/>
          </a:prstGeom>
          <a:solidFill>
            <a:srgbClr val="AA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2808000"/>
            <a:ext cx="11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맑은 고딕"/>
              </a:rPr>
              <a:t>프라가라흐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3780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1020"/>
                </a:solidFill>
                <a:latin typeface="맑은 고딕"/>
              </a:rPr>
              <a:t>2D 웹 액션 RPG  |  Phaser · Django · Vue.js  |  2인  |  3개월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프라가라흐 — 담당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180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000" y="1116000"/>
            <a:ext cx="1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8000" y="1080000"/>
            <a:ext cx="126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2000" y="1116000"/>
            <a:ext cx="11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비중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8000" y="1080000"/>
            <a:ext cx="7740000" cy="2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2000" y="1116000"/>
            <a:ext cx="76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1C2E"/>
                </a:solidFill>
                <a:latin typeface="맑은 고딕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1350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1393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보스 패턴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8000" y="1350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2000" y="1393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8000" y="1350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2000" y="1393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Min-Heap 기반 패턴 관리 + Dictionary 리팩토링 (OCP)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1728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000" y="1771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스폰 시스템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8000" y="1728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2000" y="1771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8000" y="1728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2000" y="1771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안전 구역 기반 설계 — 매 프레임 충돌 연산 제거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2106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000" y="2149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컷씬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8000" y="2106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2000" y="2149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48000" y="2106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2000" y="2149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비트 연산 기반 시청 기록 관리 — DB 컬럼 고정, O(1) 조회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2484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000" y="2527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Scene 로딩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88000" y="2484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2000" y="2527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48000" y="2484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2000" y="2527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지연 로딩 전환 — 유령 오브젝트 및 중복 import 제거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" y="2862000"/>
            <a:ext cx="180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000" y="2905200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Django REST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88000" y="2862000"/>
            <a:ext cx="126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2000" y="2905200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48000" y="2862000"/>
            <a:ext cx="7740000" cy="360000"/>
          </a:xfrm>
          <a:prstGeom prst="rect">
            <a:avLst/>
          </a:prstGeom>
          <a:solidFill>
            <a:srgbClr val="2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2000" y="2905200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SQLite3 기반 서버 구축 — 동시성 한계 분석 후 적합성 판단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00" y="3240000"/>
            <a:ext cx="180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000" y="3283199"/>
            <a:ext cx="169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CDC4"/>
                </a:solidFill>
                <a:latin typeface="맑은 고딕"/>
              </a:rPr>
              <a:t>코드 구조화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88000" y="3240000"/>
            <a:ext cx="126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2000" y="3283199"/>
            <a:ext cx="115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본인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48000" y="3240000"/>
            <a:ext cx="7740000" cy="3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2000" y="3283199"/>
            <a:ext cx="7632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AI 생성 비정형 코드 분석 및 버그 역행 추적 해결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프라가라흐 — Min-Heap 기반 보스 패턴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균형 있는 패턴 배치 + Dictionary 리팩토링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11340000" cy="503999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88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  <a:latin typeface="맑은 고딕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111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맑은 고딕"/>
              </a:rPr>
              <a:t>랜덤 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116000"/>
            <a:ext cx="73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강한 패턴이 연속 → 억빠/억까 발생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620000"/>
            <a:ext cx="11340000" cy="503999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728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  <a:latin typeface="맑은 고딕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1655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맑은 고딕"/>
              </a:rPr>
              <a:t>쿨타임 기반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1655999"/>
            <a:ext cx="73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특정 시점에 강한 패턴 집중 사이클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" y="2160000"/>
            <a:ext cx="11340000" cy="503999"/>
          </a:xfrm>
          <a:prstGeom prst="rect">
            <a:avLst/>
          </a:prstGeom>
          <a:solidFill>
            <a:srgbClr val="203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2268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D98A"/>
                </a:solidFill>
                <a:latin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000" y="219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D98A"/>
                </a:solidFill>
                <a:latin typeface="맑은 고딕"/>
              </a:rPr>
              <a:t>Min-Heap + 우선순위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2196000"/>
            <a:ext cx="73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D98A"/>
                </a:solidFill>
                <a:latin typeface="맑은 고딕"/>
              </a:rPr>
              <a:t>패턴이 균형 있게 혼합 / O(log N) 삽입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2700000"/>
            <a:ext cx="5580000" cy="234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00" y="270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275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Dictionary 리팩토링 (OCP)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3024000"/>
            <a:ext cx="5364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Before: switch문 — 새 패턴 추가 시 switch 수정 필요
After: BossPatterns[bossName][priority] 구조
새 패턴 추가 = 딕셔너리에 항목 하나 추가
→ 기존 코드 변경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0" y="2700000"/>
            <a:ext cx="5760000" cy="360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ECDC4"/>
                </a:solidFill>
                <a:latin typeface="Consolas"/>
              </a:rPr>
              <a:t>const BossPatterns = {
  coffin: {
    999: { key:'thunder',   cool:2.5, init:1  },
    1:   { key:'summons',   cool:90,  init:5  },
    2:   { key:'fireshoot', cool:30,  init:10 },
  },
  vampire: {
    999: { key:'batswarm',  cool:2.5, init:1  },
    1:   { key:'summons',   cool:65,  init:23 },
  },
};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프라가라흐 — 안전 구역 스폰 &amp; 컷씬 비트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5580000" cy="28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안전 구역 기반 스폰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404000"/>
            <a:ext cx="5364000" cy="24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문제: Phaser에서 충돌 오브젝트가 겹쳐 스폰되면 분리 불가
기존 시도: 매 프레임 밀어내기 → 느림 + 연쇄 충돌
해결: 미리 설정한 안전 좌표 리스트에서 스폰 위치 선택
      겹침 발생 시 양쪽을 반대 방향으로 동일 거리 이동
효과: 매 프레임 충돌 연산 제거 / 빠른 위치 재설정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4140000"/>
            <a:ext cx="5580000" cy="19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414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419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컷씬 시청 기록 — 비트 연산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4464000"/>
            <a:ext cx="5364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문제: 씬마다 개별 컬럼 → 씬 추가 시 DB 스키마 변경 필요
해결: cutScene 정수 필드 1개 / 씬 번호 = 비트 위치
효과: DB 컬럼 수 고정 / 조회 O(1) / 스키마 변경 불필요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1080000"/>
            <a:ext cx="5760000" cy="198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ECDC4"/>
                </a:solidFill>
                <a:latin typeface="Consolas"/>
              </a:rPr>
              <a:t>// 안전 구역 스폰
// 1. 미리 설정한 safeZones 리스트
// 2. 겹침 감지 시 반대 방향으로 이동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0000" y="3240000"/>
            <a:ext cx="5760000" cy="2520000"/>
          </a:xfrm>
          <a:prstGeom prst="rect">
            <a:avLst/>
          </a:prstGeom>
          <a:solidFill>
            <a:srgbClr val="282840"/>
          </a:solidFill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ECDC4"/>
                </a:solidFill>
                <a:latin typeface="Consolas"/>
              </a:rPr>
              <a:t>// 컷씬 비트 플래그
if ((cutScene &amp; (1 &lt;&lt; sceneNum)) == 0)
{
    cutscene.play(introScript);
    cutScene += 1 &lt;&lt; sceneNum;
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프라가라흐 — Scene 로딩 최적화 &amp; API 서버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5580000" cy="28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Phaser Scene 로딩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404000"/>
            <a:ext cx="5364000" cy="24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문제: Phaser 게임 객체 생성 시 모든 씬 동시 로드
→ 씬별 오브젝트가 유령 상태로 잔존 / import key 중복 워닝
해결: 게임 객체 생성 시 로드 씬만 포함
      각 씬에서 필요한 데이터를 지연 로드
효과: 유령 오브젝트 제거 / 중복 워닝 해소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4140000"/>
            <a:ext cx="5580000" cy="19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414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419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Django REST API — SQLite3 적합성 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4464000"/>
            <a:ext cx="5364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SQLite3: write-lock 기반 동시성 한계 인지
바로 구조 변경 대신 먼저 실제 쓰기 빈도 분석
→ 1인용 게임, 대부분 요청이 조회
→ 쓰기: 회원가입 + 저장 시점만 / 최대 동시 접속 ~1,000명
판단: SQLite3로 충분히 대응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080000"/>
            <a:ext cx="5760000" cy="504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0" y="1080000"/>
            <a:ext cx="576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8000" y="1134000"/>
            <a:ext cx="55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구조 판단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1404000"/>
            <a:ext cx="5544000" cy="46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① 문제 인지: SQLite3 동시성 한계
② 실제 부하 분석: 쓰기 빈도 측정
③ 규모 확인: 배포·테스트 대상 SSAFY 서울 캠퍼스 한정
④ 결론: 현재 규모에서는 SQLite3 적합
→ 과도한 기술 전환 없이 근거 있는 판단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프라가라흐 — AI 생성 코드 구조화 &amp; 버그 해결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1080000"/>
            <a:ext cx="5580000" cy="198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000" y="113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1404000"/>
            <a:ext cx="5364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팀원이 AI 코딩 도구로 대량의 코드 생성
컨텍스트·컨벤션 미정의 → 높은 coupling
AI에 다시 의존하면 더 큰 문제 발생 자명
→ 프로젝트 전체 구조 직접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3240000"/>
            <a:ext cx="5580000" cy="306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3240000"/>
            <a:ext cx="558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000" y="3294000"/>
            <a:ext cx="53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CASE 1 — 스킬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3564000"/>
            <a:ext cx="5364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증상: 스킬 포인트 투자 시 특정 스킬만 미적용
원인: 일부 스킬이 씬에서 직접 바인딩
      추상 클래스 상속 시 base 누락
해결: 각 스킬 동작 흐름도 작성
      이상적 구조 + 주석 포함 코드 문서화
      → 팀원에게 리팩토링 방향 제시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1080000"/>
            <a:ext cx="5760000" cy="5220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0" y="1080000"/>
            <a:ext cx="5760000" cy="21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8000" y="1134000"/>
            <a:ext cx="55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CDC4"/>
                </a:solidFill>
                <a:latin typeface="맑은 고딕"/>
              </a:rPr>
              <a:t>CASE 2 — 데이터 동기화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8000" y="1404000"/>
            <a:ext cx="5544000" cy="48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증상: 맵 이동·재로그인 시 해금 스킬 초기화
       UI에서는 미해금 표시인데 스킬 사용 가능
방법: 코드량 방대 → 전체 로그 분석 불가
      관련 함수·변수를 역방향 추적(역행 분석)
원인: Vue→Phaser 로드 시 더미 계정 레벨 값이
      API 데이터로 덮어씌워져야 하는데 누락
해결: 해당 필드 수정 + 의심 부분 목록 팀 공유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48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종합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4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ECDC4"/>
                </a:solidFill>
                <a:latin typeface="맑은 고딕"/>
              </a:rPr>
              <a:t>3개 프로젝트 핵심 수치 &amp; 역량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1080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렌더링
(마네킹)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332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13 fps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835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2124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63.6 fps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000" y="1080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드로우콜
(헤이터)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8000" y="1332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3,500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8000" y="1835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8000" y="2124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000" y="1080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메모리
(헤이터)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8000" y="1332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60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8000" y="1835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8000" y="2124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15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8000" y="1080000"/>
            <a:ext cx="27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  <a:latin typeface="맑은 고딕"/>
              </a:rPr>
              <a:t>트래픽
(마네킹)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8000" y="1332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B6B"/>
                </a:solidFill>
                <a:latin typeface="맑은 고딕"/>
              </a:rPr>
              <a:t>기준치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8000" y="1835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BB"/>
                </a:solidFill>
                <a:latin typeface="맑은 고딕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8000" y="2124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D98A"/>
                </a:solidFill>
                <a:latin typeface="맑은 고딕"/>
              </a:rPr>
              <a:t>50% 감소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" y="4500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CDC4"/>
                </a:solidFill>
                <a:latin typeface="맑은 고딕"/>
              </a:rPr>
              <a:t>핵심 역량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" y="4860000"/>
            <a:ext cx="3780000" cy="396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4914000"/>
            <a:ext cx="356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설계 판단 근거 언어화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2000" y="4860000"/>
            <a:ext cx="3780000" cy="396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0" y="4914000"/>
            <a:ext cx="356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OCP · CRTP · Min-Heap 자료구조 실전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6000" y="4860000"/>
            <a:ext cx="3780000" cy="396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4000" y="4914000"/>
            <a:ext cx="356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Photon 멀티플레이 · Jitter 완화 경험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" y="4860000"/>
            <a:ext cx="3780000" cy="396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000" y="4914000"/>
            <a:ext cx="356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WebGL · Occlusion Culling 렌더링 최적화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2000" y="4860000"/>
            <a:ext cx="3780000" cy="396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0000" y="4914000"/>
            <a:ext cx="356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AI 생성 코드 구조화 및 역행 분석 디버깅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6000" y="4860000"/>
            <a:ext cx="3780000" cy="39600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4000" y="4914000"/>
            <a:ext cx="356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기획·개발 양면 경험 — 기획 총괄 후 직접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