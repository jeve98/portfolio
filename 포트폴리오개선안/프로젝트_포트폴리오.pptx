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4" r:id="rId4"/>
    <p:sldId id="275" r:id="rId5"/>
    <p:sldId id="276" r:id="rId6"/>
    <p:sldId id="280" r:id="rId7"/>
    <p:sldId id="281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80000"/>
    <a:srgbClr val="282840"/>
    <a:srgbClr val="7A5633"/>
    <a:srgbClr val="636363"/>
    <a:srgbClr val="630F0F"/>
    <a:srgbClr val="996633"/>
    <a:srgbClr val="787878"/>
    <a:srgbClr val="996600"/>
    <a:srgbClr val="663300"/>
    <a:srgbClr val="1E1E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3060000"/>
            <a:ext cx="12192119" cy="21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20000" y="1260000"/>
            <a:ext cx="10800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 dirty="0" err="1">
                <a:solidFill>
                  <a:schemeClr val="bg2"/>
                </a:solidFill>
                <a:latin typeface="맑은 고딕"/>
              </a:rPr>
              <a:t>전연욱</a:t>
            </a:r>
            <a:endParaRPr sz="72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20000" y="2592000"/>
            <a:ext cx="10800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게임</a:t>
            </a:r>
            <a:r>
              <a:rPr sz="24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클라이언트</a:t>
            </a:r>
            <a:r>
              <a:rPr sz="24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400" b="1" i="0" dirty="0" err="1">
                <a:solidFill>
                  <a:schemeClr val="bg2"/>
                </a:solidFill>
                <a:latin typeface="맑은 고딕"/>
              </a:rPr>
              <a:t>프로그래머</a:t>
            </a:r>
            <a:endParaRPr sz="2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20000" y="3240000"/>
            <a:ext cx="108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chemeClr val="bg2"/>
                </a:solidFill>
                <a:latin typeface="맑은 고딕"/>
              </a:rPr>
              <a:t>Unity / C#  ·  Phaser  ·  Django  ·  Vue.js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3600000"/>
            <a:ext cx="10800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삼성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청년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 SW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아카데미</a:t>
            </a:r>
            <a:r>
              <a:rPr sz="1600" b="0" i="0" dirty="0">
                <a:solidFill>
                  <a:schemeClr val="bg2"/>
                </a:solidFill>
                <a:latin typeface="맑은 고딕"/>
              </a:rPr>
              <a:t>(SSAFY) </a:t>
            </a:r>
            <a:r>
              <a:rPr sz="1600" b="0" i="0" dirty="0" err="1">
                <a:solidFill>
                  <a:schemeClr val="bg2"/>
                </a:solidFill>
                <a:latin typeface="맑은 고딕"/>
              </a:rPr>
              <a:t>수료</a:t>
            </a:r>
            <a:endParaRPr sz="16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720000" y="4031999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 dirty="0">
                <a:solidFill>
                  <a:schemeClr val="bg2"/>
                </a:solidFill>
                <a:latin typeface="맑은 고딕"/>
              </a:rPr>
              <a:t>jadam41817@gmail.com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204479" y="3325923"/>
            <a:ext cx="3780000" cy="2721054"/>
          </a:xfrm>
          <a:prstGeom prst="rect">
            <a:avLst/>
          </a:prstGeom>
          <a:solidFill>
            <a:srgbClr val="787878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62A735-A0E5-FA0F-DCD6-69C93470CE5E}"/>
              </a:ext>
            </a:extLst>
          </p:cNvPr>
          <p:cNvSpPr txBox="1"/>
          <p:nvPr/>
        </p:nvSpPr>
        <p:spPr>
          <a:xfrm>
            <a:off x="4312479" y="4296882"/>
            <a:ext cx="356400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200" dirty="0">
                <a:solidFill>
                  <a:schemeClr val="bg2"/>
                </a:solidFill>
                <a:latin typeface="맑은 고딕"/>
              </a:rPr>
              <a:t>주요 업무</a:t>
            </a:r>
            <a:endParaRPr lang="en-US" altLang="ko-KR" sz="120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</a:t>
            </a:r>
            <a:r>
              <a:rPr lang="en-US" sz="10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lang="ko-KR" altLang="en-US" sz="1000" b="0" i="0" dirty="0">
                <a:solidFill>
                  <a:schemeClr val="bg2"/>
                </a:solidFill>
                <a:latin typeface="맑은 고딕"/>
              </a:rPr>
              <a:t>살인마 진영 시스템 구현</a:t>
            </a:r>
            <a:endParaRPr lang="en-US" altLang="ko-KR" sz="1000" b="0" i="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상호작용 시스템 구현</a:t>
            </a:r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증강 시스템 구현</a:t>
            </a:r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endParaRPr lang="en-US" sz="1000" b="0" i="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기능 최적화 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(Occlusion Culling, Jitter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해소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)</a:t>
            </a:r>
            <a:endParaRPr sz="10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80479" y="3325922"/>
            <a:ext cx="3780000" cy="2721055"/>
          </a:xfrm>
          <a:prstGeom prst="rect">
            <a:avLst/>
          </a:prstGeom>
          <a:solidFill>
            <a:srgbClr val="78000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8479" y="4296882"/>
            <a:ext cx="3564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200" dirty="0">
                <a:solidFill>
                  <a:schemeClr val="bg2"/>
                </a:solidFill>
                <a:latin typeface="맑은 고딕"/>
              </a:rPr>
              <a:t>주요 업무</a:t>
            </a:r>
            <a:endParaRPr lang="en-US" altLang="ko-KR" sz="120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</a:t>
            </a:r>
            <a:r>
              <a:rPr lang="en-US" sz="1000" b="0" i="0" dirty="0">
                <a:solidFill>
                  <a:schemeClr val="bg2"/>
                </a:solidFill>
                <a:latin typeface="맑은 고딕"/>
              </a:rPr>
              <a:t> API </a:t>
            </a:r>
            <a:r>
              <a:rPr lang="ko-KR" altLang="en-US" sz="1000" b="0" i="0" dirty="0">
                <a:solidFill>
                  <a:schemeClr val="bg2"/>
                </a:solidFill>
                <a:latin typeface="맑은 고딕"/>
              </a:rPr>
              <a:t>서버 구축</a:t>
            </a:r>
            <a:endParaRPr lang="en-US" altLang="ko-KR" sz="1000" b="0" i="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주요 클라이언트 시스템 설계</a:t>
            </a:r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비정형 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AI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코드 </a:t>
            </a:r>
            <a:r>
              <a:rPr lang="ko-KR" altLang="en-US" sz="1000" dirty="0" err="1">
                <a:solidFill>
                  <a:schemeClr val="bg2"/>
                </a:solidFill>
                <a:latin typeface="맑은 고딕"/>
              </a:rPr>
              <a:t>역분석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 및 </a:t>
            </a:r>
            <a:r>
              <a:rPr lang="ko-KR" altLang="en-US" sz="1000" dirty="0" err="1">
                <a:solidFill>
                  <a:schemeClr val="bg2"/>
                </a:solidFill>
                <a:latin typeface="맑은 고딕"/>
              </a:rPr>
              <a:t>리팩토링</a:t>
            </a:r>
            <a:endParaRPr sz="10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328002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chemeClr val="bg2"/>
                </a:solidFill>
                <a:latin typeface="맑은 고딕"/>
              </a:rPr>
              <a:t>개발</a:t>
            </a:r>
            <a:r>
              <a:rPr sz="26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2600" b="1" i="0" dirty="0" err="1">
                <a:solidFill>
                  <a:schemeClr val="bg2"/>
                </a:solidFill>
                <a:latin typeface="맑은 고딕"/>
              </a:rPr>
              <a:t>프로젝트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0" name="Rectangle 1">
            <a:extLst>
              <a:ext uri="{FF2B5EF4-FFF2-40B4-BE49-F238E27FC236}">
                <a16:creationId xmlns:a16="http://schemas.microsoft.com/office/drawing/2014/main" id="{58BD59E3-A0A5-48F7-976D-0EB19C8C216F}"/>
              </a:ext>
            </a:extLst>
          </p:cNvPr>
          <p:cNvSpPr/>
          <p:nvPr/>
        </p:nvSpPr>
        <p:spPr>
          <a:xfrm>
            <a:off x="0" y="6802623"/>
            <a:ext cx="12192119" cy="64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A5AEBE0E-62A1-4F0B-9490-FA4534620C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79" y="1226650"/>
            <a:ext cx="3785228" cy="2111985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0383436F-9C44-4111-B74A-E8FFC6EBD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479" y="1226650"/>
            <a:ext cx="3781521" cy="2128073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5B08569-A136-4897-8C03-96F8EF0ED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0000" y="1226650"/>
            <a:ext cx="3781521" cy="21151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204479" y="3325923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12479" y="3397923"/>
            <a:ext cx="356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 err="1">
                <a:solidFill>
                  <a:schemeClr val="bg2"/>
                </a:solidFill>
                <a:latin typeface="맑은 고딕"/>
              </a:rPr>
              <a:t>마네킹</a:t>
            </a:r>
            <a:r>
              <a:rPr sz="1800" b="1" i="0" dirty="0">
                <a:solidFill>
                  <a:schemeClr val="bg2"/>
                </a:solidFill>
                <a:latin typeface="맑은 고딕"/>
              </a:rPr>
              <a:t>: </a:t>
            </a:r>
            <a:r>
              <a:rPr sz="1800" b="1" i="0" dirty="0" err="1">
                <a:solidFill>
                  <a:schemeClr val="bg2"/>
                </a:solidFill>
                <a:latin typeface="맑은 고딕"/>
              </a:rPr>
              <a:t>헌티드</a:t>
            </a:r>
            <a:r>
              <a:rPr sz="1800" b="1" i="0" dirty="0">
                <a:solidFill>
                  <a:schemeClr val="bg2"/>
                </a:solidFill>
                <a:latin typeface="맑은 고딕"/>
              </a:rPr>
              <a:t> 몰</a:t>
            </a:r>
            <a:r>
              <a:rPr lang="en-US" sz="18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lang="en-US" sz="1000" b="1" i="0" dirty="0">
                <a:solidFill>
                  <a:schemeClr val="bg2"/>
                </a:solidFill>
                <a:latin typeface="맑은 고딕"/>
              </a:rPr>
              <a:t>&lt;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비대칭 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PVP&gt;</a:t>
            </a:r>
            <a:endParaRPr sz="10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12479" y="3793923"/>
            <a:ext cx="35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bg2"/>
                </a:solidFill>
                <a:latin typeface="맑은 고딕"/>
              </a:rPr>
              <a:t>2026-02-20 ~ 03-25  |  6인  |  Unity, Photon </a:t>
            </a:r>
            <a:r>
              <a:rPr lang="en-US" sz="1000" b="0" i="0" dirty="0">
                <a:solidFill>
                  <a:schemeClr val="bg2"/>
                </a:solidFill>
                <a:latin typeface="맑은 고딕"/>
              </a:rPr>
              <a:t>Fusion2</a:t>
            </a:r>
            <a:endParaRPr sz="10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80479" y="3325923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8479" y="3397923"/>
            <a:ext cx="356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 err="1">
                <a:solidFill>
                  <a:schemeClr val="bg2"/>
                </a:solidFill>
                <a:latin typeface="맑은 고딕"/>
              </a:rPr>
              <a:t>프라가라흐</a:t>
            </a:r>
            <a:r>
              <a:rPr lang="en-US" sz="18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lang="en-US" sz="1000" b="1" i="0" dirty="0">
                <a:solidFill>
                  <a:schemeClr val="bg2"/>
                </a:solidFill>
                <a:latin typeface="맑은 고딕"/>
              </a:rPr>
              <a:t>&lt;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2D RPG Web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게임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&gt;</a:t>
            </a:r>
            <a:endParaRPr sz="10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8479" y="3793923"/>
            <a:ext cx="35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bg2"/>
                </a:solidFill>
                <a:latin typeface="맑은 고딕"/>
              </a:rPr>
              <a:t>2025-09-30 ~ 12-25  |  2인  |  Phaser, Django, Vue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1521" y="3325923"/>
            <a:ext cx="3780000" cy="2721054"/>
          </a:xfrm>
          <a:prstGeom prst="rect">
            <a:avLst/>
          </a:prstGeom>
          <a:solidFill>
            <a:srgbClr val="996633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1521" y="3325923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39521" y="3397923"/>
            <a:ext cx="356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 dirty="0" err="1">
                <a:solidFill>
                  <a:schemeClr val="bg2"/>
                </a:solidFill>
                <a:latin typeface="맑은 고딕"/>
              </a:rPr>
              <a:t>헤이터</a:t>
            </a:r>
            <a:r>
              <a:rPr lang="en-US" sz="1800" b="1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lang="en-US" sz="1000" b="1" i="0" dirty="0">
                <a:solidFill>
                  <a:schemeClr val="bg2"/>
                </a:solidFill>
                <a:latin typeface="맑은 고딕"/>
              </a:rPr>
              <a:t>&lt;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디펜스 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Web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게임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&gt;</a:t>
            </a:r>
            <a:endParaRPr sz="10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239521" y="3793923"/>
            <a:ext cx="3564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chemeClr val="bg2"/>
                </a:solidFill>
                <a:latin typeface="맑은 고딕"/>
              </a:rPr>
              <a:t>2026-04-22 ~ 05-21  |  6인  |  Unity, Spring, React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2F8BEC6-DAD2-D617-619D-2762B66620D5}"/>
              </a:ext>
            </a:extLst>
          </p:cNvPr>
          <p:cNvSpPr txBox="1"/>
          <p:nvPr/>
        </p:nvSpPr>
        <p:spPr>
          <a:xfrm>
            <a:off x="8239521" y="4296882"/>
            <a:ext cx="3564000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1200" dirty="0">
                <a:solidFill>
                  <a:schemeClr val="bg2"/>
                </a:solidFill>
                <a:latin typeface="맑은 고딕"/>
              </a:rPr>
              <a:t>주요 업무</a:t>
            </a:r>
            <a:endParaRPr lang="en-US" altLang="ko-KR" sz="120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</a:t>
            </a:r>
            <a:r>
              <a:rPr lang="en-US" sz="1000" b="0" i="0" dirty="0">
                <a:solidFill>
                  <a:schemeClr val="bg2"/>
                </a:solidFill>
                <a:latin typeface="맑은 고딕"/>
              </a:rPr>
              <a:t>  </a:t>
            </a:r>
            <a:r>
              <a:rPr lang="ko-KR" altLang="en-US" sz="1000" b="0" i="0" dirty="0">
                <a:solidFill>
                  <a:schemeClr val="bg2"/>
                </a:solidFill>
                <a:latin typeface="맑은 고딕"/>
              </a:rPr>
              <a:t>기획 총괄</a:t>
            </a:r>
            <a:endParaRPr lang="en-US" altLang="ko-KR" sz="1000" b="0" i="0" dirty="0">
              <a:solidFill>
                <a:schemeClr val="bg2"/>
              </a:solidFill>
              <a:latin typeface="맑은 고딕"/>
            </a:endParaRP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시스템 설계 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(Singleton,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게임 세션</a:t>
            </a:r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)</a:t>
            </a:r>
          </a:p>
          <a:p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디펜스 시스템 구현</a:t>
            </a:r>
            <a:endParaRPr lang="en-US" altLang="ko-KR" sz="1000" dirty="0">
              <a:solidFill>
                <a:schemeClr val="bg2"/>
              </a:solidFill>
              <a:latin typeface="맑은 고딕"/>
            </a:endParaRPr>
          </a:p>
          <a:p>
            <a:endParaRPr lang="en-US" sz="1000" b="0" i="0" dirty="0">
              <a:solidFill>
                <a:schemeClr val="bg2"/>
              </a:solidFill>
              <a:latin typeface="맑은 고딕"/>
            </a:endParaRPr>
          </a:p>
          <a:p>
            <a:r>
              <a:rPr lang="en-US" altLang="ko-KR" sz="1000" dirty="0">
                <a:solidFill>
                  <a:schemeClr val="bg2"/>
                </a:solidFill>
                <a:latin typeface="맑은 고딕"/>
              </a:rPr>
              <a:t>•  </a:t>
            </a:r>
            <a:r>
              <a:rPr lang="ko-KR" altLang="en-US" sz="1000" dirty="0">
                <a:solidFill>
                  <a:schemeClr val="bg2"/>
                </a:solidFill>
                <a:latin typeface="맑은 고딕"/>
              </a:rPr>
              <a:t>암호화 통신 구현</a:t>
            </a:r>
            <a:endParaRPr sz="1000" b="0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35" name="Rectangle 5">
            <a:extLst>
              <a:ext uri="{FF2B5EF4-FFF2-40B4-BE49-F238E27FC236}">
                <a16:creationId xmlns:a16="http://schemas.microsoft.com/office/drawing/2014/main" id="{A270E7CA-A173-849C-0D25-63008AA4F3DF}"/>
              </a:ext>
            </a:extLst>
          </p:cNvPr>
          <p:cNvSpPr/>
          <p:nvPr/>
        </p:nvSpPr>
        <p:spPr>
          <a:xfrm>
            <a:off x="280479" y="4119312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5">
            <a:extLst>
              <a:ext uri="{FF2B5EF4-FFF2-40B4-BE49-F238E27FC236}">
                <a16:creationId xmlns:a16="http://schemas.microsoft.com/office/drawing/2014/main" id="{232A559C-9035-B1CC-E657-ACD4CD484F31}"/>
              </a:ext>
            </a:extLst>
          </p:cNvPr>
          <p:cNvSpPr/>
          <p:nvPr/>
        </p:nvSpPr>
        <p:spPr>
          <a:xfrm>
            <a:off x="4199251" y="4119312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5">
            <a:extLst>
              <a:ext uri="{FF2B5EF4-FFF2-40B4-BE49-F238E27FC236}">
                <a16:creationId xmlns:a16="http://schemas.microsoft.com/office/drawing/2014/main" id="{7D5027DA-733D-1943-F05A-A1740F3B0CC4}"/>
              </a:ext>
            </a:extLst>
          </p:cNvPr>
          <p:cNvSpPr/>
          <p:nvPr/>
        </p:nvSpPr>
        <p:spPr>
          <a:xfrm>
            <a:off x="8131521" y="4119312"/>
            <a:ext cx="3780000" cy="28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780000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프라가라흐</a:t>
            </a:r>
            <a:endParaRPr sz="4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https://jeve98.github.io/Portfolio/Fragarach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i="0" dirty="0">
                <a:solidFill>
                  <a:schemeClr val="bg2"/>
                </a:solidFill>
                <a:latin typeface="맑은 고딕"/>
              </a:rPr>
              <a:t>Django, SQLite3 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기반 </a:t>
            </a:r>
            <a:r>
              <a:rPr lang="en-US" altLang="ko-KR" sz="2600" b="1" i="0" dirty="0">
                <a:solidFill>
                  <a:schemeClr val="bg2"/>
                </a:solidFill>
                <a:latin typeface="맑은 고딕"/>
              </a:rPr>
              <a:t>REST-</a:t>
            </a:r>
            <a:r>
              <a:rPr lang="en-US" sz="2600" b="1" i="0" dirty="0">
                <a:solidFill>
                  <a:schemeClr val="bg2"/>
                </a:solidFill>
                <a:latin typeface="맑은 고딕"/>
              </a:rPr>
              <a:t>API 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서버 구축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8A4E5A8E-DC9E-0AC0-380E-3C0D0A504797}"/>
              </a:ext>
            </a:extLst>
          </p:cNvPr>
          <p:cNvGrpSpPr/>
          <p:nvPr/>
        </p:nvGrpSpPr>
        <p:grpSpPr>
          <a:xfrm>
            <a:off x="250215" y="1075138"/>
            <a:ext cx="11691569" cy="4684862"/>
            <a:chOff x="287996" y="1075138"/>
            <a:chExt cx="11691569" cy="4684862"/>
          </a:xfrm>
        </p:grpSpPr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B9603006-44E2-6FB1-E732-7B39743FD4E4}"/>
                </a:ext>
              </a:extLst>
            </p:cNvPr>
            <p:cNvSpPr/>
            <p:nvPr/>
          </p:nvSpPr>
          <p:spPr>
            <a:xfrm>
              <a:off x="6918036" y="1079999"/>
              <a:ext cx="5061528" cy="4680001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49BA336B-A74E-39D4-7CEA-2AB795E69C65}"/>
                </a:ext>
              </a:extLst>
            </p:cNvPr>
            <p:cNvGrpSpPr/>
            <p:nvPr/>
          </p:nvGrpSpPr>
          <p:grpSpPr>
            <a:xfrm>
              <a:off x="287996" y="1079999"/>
              <a:ext cx="6352949" cy="4680001"/>
              <a:chOff x="287998" y="1079999"/>
              <a:chExt cx="3360366" cy="4680001"/>
            </a:xfrm>
          </p:grpSpPr>
          <p:sp>
            <p:nvSpPr>
              <p:cNvPr id="47" name="Rectangle 3">
                <a:extLst>
                  <a:ext uri="{FF2B5EF4-FFF2-40B4-BE49-F238E27FC236}">
                    <a16:creationId xmlns:a16="http://schemas.microsoft.com/office/drawing/2014/main" id="{96326F25-5662-255A-D5F1-A6474ADD661B}"/>
                  </a:ext>
                </a:extLst>
              </p:cNvPr>
              <p:cNvSpPr/>
              <p:nvPr/>
            </p:nvSpPr>
            <p:spPr>
              <a:xfrm>
                <a:off x="287999" y="1080000"/>
                <a:ext cx="3360365" cy="4680000"/>
              </a:xfrm>
              <a:prstGeom prst="rect">
                <a:avLst/>
              </a:prstGeom>
              <a:solidFill>
                <a:srgbClr val="2828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8" name="Rectangle 4">
                <a:extLst>
                  <a:ext uri="{FF2B5EF4-FFF2-40B4-BE49-F238E27FC236}">
                    <a16:creationId xmlns:a16="http://schemas.microsoft.com/office/drawing/2014/main" id="{50E26B8A-E7D6-C204-A7F5-428CE878EFB2}"/>
                  </a:ext>
                </a:extLst>
              </p:cNvPr>
              <p:cNvSpPr/>
              <p:nvPr/>
            </p:nvSpPr>
            <p:spPr>
              <a:xfrm>
                <a:off x="287999" y="1079999"/>
                <a:ext cx="3360365" cy="45719"/>
              </a:xfrm>
              <a:prstGeom prst="rect">
                <a:avLst/>
              </a:prstGeom>
              <a:solidFill>
                <a:srgbClr val="7800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4D7F9B7-5833-3E37-218A-EFCADF6FA1D7}"/>
                  </a:ext>
                </a:extLst>
              </p:cNvPr>
              <p:cNvSpPr txBox="1"/>
              <p:nvPr/>
            </p:nvSpPr>
            <p:spPr>
              <a:xfrm>
                <a:off x="287998" y="1152000"/>
                <a:ext cx="3360366" cy="452431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ko-KR" altLang="en-US" sz="1500" b="1" dirty="0">
                    <a:solidFill>
                      <a:schemeClr val="bg2"/>
                    </a:solidFill>
                    <a:latin typeface="맑은 고딕"/>
                  </a:rPr>
                  <a:t>목적</a:t>
                </a:r>
                <a:endParaRPr lang="en-US" altLang="ko-KR" sz="1500" b="1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게임 로직과 데이터 분리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endParaRPr lang="en-US" sz="2400" b="1" i="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ko-KR" altLang="en-US" sz="1500" b="1" dirty="0">
                    <a:solidFill>
                      <a:schemeClr val="bg2"/>
                    </a:solidFill>
                    <a:latin typeface="맑은 고딕"/>
                  </a:rPr>
                  <a:t>구조 이점</a:t>
                </a:r>
                <a:endParaRPr lang="en-US" altLang="ko-KR" sz="1500" b="1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API </a:t>
                </a: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서버에서 데이터를 전달 받는 구조를 통해</a:t>
                </a:r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,</a:t>
                </a:r>
                <a:b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</a:b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   이후 게임의 수치 조정 시 클라이언트의 빌드 없이 </a:t>
                </a:r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DB </a:t>
                </a: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수치 조정만으로 패치 가능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endParaRPr lang="en-US" sz="2400" b="1" i="0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r>
                  <a:rPr lang="ko-KR" altLang="en-US" sz="1500" b="1" i="0" dirty="0">
                    <a:solidFill>
                      <a:schemeClr val="bg2"/>
                    </a:solidFill>
                    <a:latin typeface="맑은 고딕"/>
                  </a:rPr>
                  <a:t>발견된 한계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SQLite3</a:t>
                </a: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의 </a:t>
                </a:r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write-lock </a:t>
                </a:r>
                <a:r>
                  <a:rPr lang="ko-KR" altLang="en-US" sz="1200" dirty="0">
                    <a:solidFill>
                      <a:schemeClr val="bg2"/>
                    </a:solidFill>
                    <a:latin typeface="맑은 고딕"/>
                  </a:rPr>
                  <a:t>한계 인지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endParaRPr lang="en-US" sz="2400" b="1" dirty="0">
                  <a:solidFill>
                    <a:schemeClr val="bg2"/>
                  </a:solidFill>
                  <a:latin typeface="맑은 고딕"/>
                </a:endParaRPr>
              </a:p>
              <a:p>
                <a:pPr algn="l"/>
                <a:r>
                  <a:rPr lang="ko-KR" altLang="en-US" sz="1500" b="1" i="0" dirty="0">
                    <a:solidFill>
                      <a:schemeClr val="bg2"/>
                    </a:solidFill>
                    <a:latin typeface="맑은 고딕"/>
                  </a:rPr>
                  <a:t>한계 수용 판단 근거</a:t>
                </a:r>
                <a:endParaRPr lang="en-US" altLang="ko-KR" sz="1500" b="1" i="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대다수의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API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요청은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‘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조회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’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에 치중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‘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쓰기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’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요청은 회원가입 및 저장 시점에만 발생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2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배포 대상은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삼성 청년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SW·AI 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아카데미의 서울 캠퍼스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14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기 인원 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(1000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여명</a:t>
                </a:r>
                <a:r>
                  <a:rPr lang="en-US" altLang="ko-KR" sz="1200" b="1" dirty="0">
                    <a:solidFill>
                      <a:schemeClr val="bg2"/>
                    </a:solidFill>
                    <a:latin typeface="맑은 고딕"/>
                  </a:rPr>
                  <a:t>)</a:t>
                </a:r>
                <a:r>
                  <a:rPr lang="ko-KR" altLang="en-US" sz="1200" b="1" dirty="0">
                    <a:solidFill>
                      <a:schemeClr val="bg2"/>
                    </a:solidFill>
                    <a:latin typeface="맑은 고딕"/>
                  </a:rPr>
                  <a:t>으로 제한</a:t>
                </a:r>
                <a:endParaRPr lang="en-US" altLang="ko-KR" sz="1200" b="1" dirty="0">
                  <a:solidFill>
                    <a:schemeClr val="bg2"/>
                  </a:solidFill>
                  <a:latin typeface="맑은 고딕"/>
                </a:endParaRPr>
              </a:p>
            </p:txBody>
          </p:sp>
        </p:grpSp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3112BF88-9C22-A247-43F9-4FEC6C152EC9}"/>
                </a:ext>
              </a:extLst>
            </p:cNvPr>
            <p:cNvGrpSpPr/>
            <p:nvPr/>
          </p:nvGrpSpPr>
          <p:grpSpPr>
            <a:xfrm>
              <a:off x="7194346" y="1419535"/>
              <a:ext cx="4508907" cy="4018928"/>
              <a:chOff x="6398430" y="1062270"/>
              <a:chExt cx="4508907" cy="4018928"/>
            </a:xfrm>
          </p:grpSpPr>
          <p:pic>
            <p:nvPicPr>
              <p:cNvPr id="56" name="그림 55" descr="DRF: Django REST Framework 알아보기">
                <a:extLst>
                  <a:ext uri="{FF2B5EF4-FFF2-40B4-BE49-F238E27FC236}">
                    <a16:creationId xmlns:a16="http://schemas.microsoft.com/office/drawing/2014/main" id="{05213C5C-6F32-F7B1-5CC3-DCD09A61AA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398430" y="1062270"/>
                <a:ext cx="4508907" cy="1991434"/>
              </a:xfrm>
              <a:prstGeom prst="rect">
                <a:avLst/>
              </a:prstGeom>
            </p:spPr>
          </p:pic>
          <p:pic>
            <p:nvPicPr>
              <p:cNvPr id="58" name="그림 57">
                <a:extLst>
                  <a:ext uri="{FF2B5EF4-FFF2-40B4-BE49-F238E27FC236}">
                    <a16:creationId xmlns:a16="http://schemas.microsoft.com/office/drawing/2014/main" id="{BA0E5D18-2010-7BA9-EB84-CD46DF8B45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21315" y="3275482"/>
                <a:ext cx="3808933" cy="1805716"/>
              </a:xfrm>
              <a:prstGeom prst="rect">
                <a:avLst/>
              </a:prstGeom>
            </p:spPr>
          </p:pic>
        </p:grpSp>
        <p:sp>
          <p:nvSpPr>
            <p:cNvPr id="61" name="Rectangle 4">
              <a:extLst>
                <a:ext uri="{FF2B5EF4-FFF2-40B4-BE49-F238E27FC236}">
                  <a16:creationId xmlns:a16="http://schemas.microsoft.com/office/drawing/2014/main" id="{76A8C03D-B273-84AE-2721-5DB378DB32C2}"/>
                </a:ext>
              </a:extLst>
            </p:cNvPr>
            <p:cNvSpPr/>
            <p:nvPr/>
          </p:nvSpPr>
          <p:spPr>
            <a:xfrm>
              <a:off x="6918037" y="1075138"/>
              <a:ext cx="5061528" cy="64800"/>
            </a:xfrm>
            <a:prstGeom prst="rect">
              <a:avLst/>
            </a:prstGeom>
            <a:solidFill>
              <a:srgbClr val="78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EFDB86EF-9A6F-7EAC-C8B4-DD5299D698B0}"/>
              </a:ext>
            </a:extLst>
          </p:cNvPr>
          <p:cNvSpPr txBox="1"/>
          <p:nvPr/>
        </p:nvSpPr>
        <p:spPr>
          <a:xfrm>
            <a:off x="287999" y="4082841"/>
            <a:ext cx="6928582" cy="2492990"/>
          </a:xfrm>
          <a:prstGeom prst="rect">
            <a:avLst/>
          </a:prstGeom>
          <a:solidFill>
            <a:srgbClr val="282840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accent2"/>
                </a:solidFill>
                <a:latin typeface="Consolas" panose="020B0609020204030204" pitchFamily="49" charset="0"/>
              </a:rPr>
              <a:t>function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CastSkill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skill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if (BossInstance.name == </a:t>
            </a:r>
            <a:r>
              <a:rPr lang="en-US" altLang="ko-KR" sz="1200" dirty="0">
                <a:solidFill>
                  <a:schemeClr val="accent1"/>
                </a:solidFill>
                <a:latin typeface="Consolas" panose="020B0609020204030204" pitchFamily="49" charset="0"/>
              </a:rPr>
              <a:t>'coffin'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switch 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skill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ko-KR" altLang="en-US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case 999: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BossInstance.patternSet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200" dirty="0">
                <a:solidFill>
                  <a:schemeClr val="accent1"/>
                </a:solidFill>
                <a:latin typeface="Consolas" panose="020B0609020204030204" pitchFamily="49" charset="0"/>
              </a:rPr>
              <a:t>'thunder'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tryCast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BossInstance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cooltime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, 999, 2.5);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break; </a:t>
            </a:r>
          </a:p>
          <a:p>
            <a:r>
              <a:rPr lang="ko-KR" altLang="en-US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case 1: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BossInstance.patternSet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[</a:t>
            </a:r>
            <a:r>
              <a:rPr lang="en-US" altLang="ko-KR" sz="1200" dirty="0">
                <a:solidFill>
                  <a:schemeClr val="accent1"/>
                </a:solidFill>
                <a:latin typeface="Consolas" panose="020B0609020204030204" pitchFamily="49" charset="0"/>
              </a:rPr>
              <a:t>'summons'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].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tryCast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, 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BossInstance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cooltime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>
                <a:solidFill>
                  <a:schemeClr val="accent6"/>
                </a:solidFill>
                <a:latin typeface="Consolas" panose="020B0609020204030204" pitchFamily="49" charset="0"/>
              </a:rPr>
              <a:t>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, 1, 90);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              break;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    </a:t>
            </a:r>
            <a:r>
              <a:rPr lang="en-US" altLang="ko-KR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sz="1200" dirty="0">
                <a:solidFill>
                  <a:schemeClr val="accent3"/>
                </a:solidFill>
                <a:latin typeface="Consolas" panose="020B0609020204030204" pitchFamily="49" charset="0"/>
              </a:rPr>
              <a:t>이후 생략</a:t>
            </a:r>
            <a:r>
              <a:rPr lang="en-US" altLang="ko-KR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*/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클라이언트 시스템 설계 </a:t>
            </a:r>
            <a:r>
              <a:rPr lang="en-US" altLang="ko-KR" sz="2600" b="1" i="0" dirty="0">
                <a:solidFill>
                  <a:schemeClr val="bg2"/>
                </a:solidFill>
                <a:latin typeface="맑은 고딕"/>
              </a:rPr>
              <a:t>: Min-Heap 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기반 보스 패턴 설계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chemeClr val="bg2"/>
                </a:solidFill>
                <a:latin typeface="맑은 고딕"/>
              </a:rPr>
              <a:t>균형</a:t>
            </a:r>
            <a:r>
              <a:rPr sz="14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chemeClr val="bg2"/>
                </a:solidFill>
                <a:latin typeface="맑은 고딕"/>
              </a:rPr>
              <a:t>있는</a:t>
            </a:r>
            <a:r>
              <a:rPr sz="14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chemeClr val="bg2"/>
                </a:solidFill>
                <a:latin typeface="맑은 고딕"/>
              </a:rPr>
              <a:t>패턴</a:t>
            </a:r>
            <a:r>
              <a:rPr sz="14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chemeClr val="bg2"/>
                </a:solidFill>
                <a:latin typeface="맑은 고딕"/>
              </a:rPr>
              <a:t>배치</a:t>
            </a:r>
            <a:r>
              <a:rPr sz="1400" b="0" i="0" dirty="0">
                <a:solidFill>
                  <a:schemeClr val="bg2"/>
                </a:solidFill>
                <a:latin typeface="맑은 고딕"/>
              </a:rPr>
              <a:t> + </a:t>
            </a:r>
            <a:r>
              <a:rPr lang="en-US" sz="1400" b="0" i="0" dirty="0">
                <a:solidFill>
                  <a:schemeClr val="bg2"/>
                </a:solidFill>
                <a:latin typeface="맑은 고딕"/>
              </a:rPr>
              <a:t>OCP </a:t>
            </a:r>
            <a:r>
              <a:rPr lang="ko-KR" altLang="en-US" sz="1400" b="0" i="0" dirty="0">
                <a:solidFill>
                  <a:schemeClr val="bg2"/>
                </a:solidFill>
                <a:latin typeface="맑은 고딕"/>
              </a:rPr>
              <a:t>기반</a:t>
            </a:r>
            <a:r>
              <a:rPr sz="1400" b="0" i="0" dirty="0">
                <a:solidFill>
                  <a:schemeClr val="bg2"/>
                </a:solidFill>
                <a:latin typeface="맑은 고딕"/>
              </a:rPr>
              <a:t> </a:t>
            </a:r>
            <a:r>
              <a:rPr sz="1400" b="0" i="0" dirty="0" err="1">
                <a:solidFill>
                  <a:schemeClr val="bg2"/>
                </a:solidFill>
                <a:latin typeface="맑은 고딕"/>
              </a:rPr>
              <a:t>리팩토링</a:t>
            </a:r>
            <a:endParaRPr sz="1400" b="0" i="0" dirty="0">
              <a:solidFill>
                <a:schemeClr val="bg2"/>
              </a:solidFill>
              <a:latin typeface="맑은 고딕"/>
            </a:endParaRP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E7A94F76-3153-AD50-C5B0-902D197ED646}"/>
              </a:ext>
            </a:extLst>
          </p:cNvPr>
          <p:cNvGrpSpPr/>
          <p:nvPr/>
        </p:nvGrpSpPr>
        <p:grpSpPr>
          <a:xfrm>
            <a:off x="287999" y="2887276"/>
            <a:ext cx="5580000" cy="1102833"/>
            <a:chOff x="7442787" y="2833276"/>
            <a:chExt cx="5580000" cy="1102833"/>
          </a:xfrm>
        </p:grpSpPr>
        <p:sp>
          <p:nvSpPr>
            <p:cNvPr id="17" name="Rectangle 16"/>
            <p:cNvSpPr/>
            <p:nvPr/>
          </p:nvSpPr>
          <p:spPr>
            <a:xfrm>
              <a:off x="7442787" y="2833277"/>
              <a:ext cx="5580000" cy="1102832"/>
            </a:xfrm>
            <a:prstGeom prst="rect">
              <a:avLst/>
            </a:prstGeom>
            <a:solidFill>
              <a:srgbClr val="2828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7442787" y="2833276"/>
              <a:ext cx="5580000" cy="45719"/>
            </a:xfrm>
            <a:prstGeom prst="rect">
              <a:avLst/>
            </a:prstGeom>
            <a:solidFill>
              <a:srgbClr val="78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550787" y="2887277"/>
              <a:ext cx="5364000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US" sz="1300" b="1" dirty="0">
                  <a:solidFill>
                    <a:schemeClr val="bg2"/>
                  </a:solidFill>
                  <a:latin typeface="맑은 고딕"/>
                </a:rPr>
                <a:t>Open-Close Principle </a:t>
              </a:r>
              <a:r>
                <a:rPr lang="ko-KR" altLang="en-US" sz="1300" b="1" dirty="0">
                  <a:solidFill>
                    <a:schemeClr val="bg2"/>
                  </a:solidFill>
                  <a:latin typeface="맑은 고딕"/>
                </a:rPr>
                <a:t>기반 </a:t>
              </a:r>
              <a:r>
                <a:rPr lang="ko-KR" altLang="en-US" sz="1300" b="1" dirty="0" err="1">
                  <a:solidFill>
                    <a:schemeClr val="bg2"/>
                  </a:solidFill>
                  <a:latin typeface="맑은 고딕"/>
                </a:rPr>
                <a:t>리팩토링</a:t>
              </a:r>
              <a:endParaRPr sz="1300" b="1" i="0" dirty="0">
                <a:solidFill>
                  <a:schemeClr val="bg2"/>
                </a:solidFill>
                <a:latin typeface="맑은 고딕"/>
              </a:endParaRP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7550787" y="3208614"/>
              <a:ext cx="5364000" cy="6155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Before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: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switch문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-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새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패턴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추가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시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,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switch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문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수정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필요</a:t>
              </a:r>
              <a:endParaRPr lang="en-US" sz="1100" b="0" i="0" dirty="0">
                <a:solidFill>
                  <a:schemeClr val="bg2"/>
                </a:solidFill>
                <a:latin typeface="맑은 고딕"/>
              </a:endParaRPr>
            </a:p>
            <a:p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
</a:t>
              </a:r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After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: 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Dictionary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구조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 - 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새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패턴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추가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시</a:t>
              </a:r>
              <a:r>
                <a:rPr lang="en-US" altLang="ko-KR" sz="1100" b="0" i="0" dirty="0">
                  <a:solidFill>
                    <a:schemeClr val="bg2"/>
                  </a:solidFill>
                  <a:latin typeface="맑은 고딕"/>
                </a:rPr>
                <a:t>,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lang="en-US" sz="1100" b="0" i="0" dirty="0" err="1">
                  <a:solidFill>
                    <a:schemeClr val="bg2"/>
                  </a:solidFill>
                  <a:latin typeface="맑은 고딕"/>
                </a:rPr>
                <a:t>Dictionary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에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항목</a:t>
              </a:r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 </a:t>
              </a:r>
              <a:r>
                <a:rPr sz="1100" b="0" i="0" dirty="0" err="1">
                  <a:solidFill>
                    <a:schemeClr val="bg2"/>
                  </a:solidFill>
                  <a:latin typeface="맑은 고딕"/>
                </a:rPr>
                <a:t>추가</a:t>
              </a:r>
              <a:endParaRPr sz="1100" b="0" i="0" dirty="0">
                <a:solidFill>
                  <a:schemeClr val="bg2"/>
                </a:solidFill>
                <a:latin typeface="맑은 고딕"/>
              </a:endParaRPr>
            </a:p>
          </p:txBody>
        </p:sp>
      </p:grpSp>
      <p:sp>
        <p:nvSpPr>
          <p:cNvPr id="21" name="TextBox 20"/>
          <p:cNvSpPr txBox="1"/>
          <p:nvPr/>
        </p:nvSpPr>
        <p:spPr>
          <a:xfrm>
            <a:off x="7550786" y="4082841"/>
            <a:ext cx="4280145" cy="1384995"/>
          </a:xfrm>
          <a:prstGeom prst="rect">
            <a:avLst/>
          </a:prstGeom>
          <a:solidFill>
            <a:srgbClr val="282840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chemeClr val="accent2"/>
                </a:solidFill>
                <a:latin typeface="Consolas"/>
              </a:rPr>
              <a:t>const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 </a:t>
            </a:r>
            <a:r>
              <a:rPr sz="1200" b="0" i="0" dirty="0" err="1">
                <a:solidFill>
                  <a:schemeClr val="accent1"/>
                </a:solidFill>
                <a:latin typeface="Consolas"/>
              </a:rPr>
              <a:t>BossPatterns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 = {
  coffin: {
    999: { </a:t>
            </a:r>
            <a:r>
              <a:rPr sz="1200" b="0" i="0" dirty="0" err="1">
                <a:solidFill>
                  <a:schemeClr val="bg2"/>
                </a:solidFill>
                <a:latin typeface="Consolas"/>
              </a:rPr>
              <a:t>key:</a:t>
            </a:r>
            <a:r>
              <a:rPr sz="1200" b="0" i="0" dirty="0" err="1">
                <a:solidFill>
                  <a:schemeClr val="accent1"/>
                </a:solidFill>
                <a:latin typeface="Consolas"/>
              </a:rPr>
              <a:t>'thunder</a:t>
            </a:r>
            <a:r>
              <a:rPr sz="1200" b="0" i="0" dirty="0">
                <a:solidFill>
                  <a:schemeClr val="accent1"/>
                </a:solidFill>
                <a:latin typeface="Consolas"/>
              </a:rPr>
              <a:t>'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,   cool:2.5, init:1  },
    1:   { </a:t>
            </a:r>
            <a:r>
              <a:rPr sz="1200" b="0" i="0" dirty="0" err="1">
                <a:solidFill>
                  <a:schemeClr val="bg2"/>
                </a:solidFill>
                <a:latin typeface="Consolas"/>
              </a:rPr>
              <a:t>key:</a:t>
            </a:r>
            <a:r>
              <a:rPr sz="1200" b="0" i="0" dirty="0" err="1">
                <a:solidFill>
                  <a:schemeClr val="accent1"/>
                </a:solidFill>
                <a:latin typeface="Consolas"/>
              </a:rPr>
              <a:t>'summons</a:t>
            </a:r>
            <a:r>
              <a:rPr sz="1200" b="0" i="0" dirty="0">
                <a:solidFill>
                  <a:schemeClr val="accent1"/>
                </a:solidFill>
                <a:latin typeface="Consolas"/>
              </a:rPr>
              <a:t>'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,   cool:90,  init:5  },
    2:   { key:</a:t>
            </a:r>
            <a:r>
              <a:rPr sz="1200" b="0" i="0" dirty="0">
                <a:solidFill>
                  <a:schemeClr val="accent1"/>
                </a:solidFill>
                <a:latin typeface="Consolas"/>
              </a:rPr>
              <a:t>'</a:t>
            </a:r>
            <a:r>
              <a:rPr sz="1200" b="0" i="0" dirty="0" err="1">
                <a:solidFill>
                  <a:schemeClr val="accent1"/>
                </a:solidFill>
                <a:latin typeface="Consolas"/>
              </a:rPr>
              <a:t>fireshoot</a:t>
            </a:r>
            <a:r>
              <a:rPr sz="1200" b="0" i="0" dirty="0">
                <a:solidFill>
                  <a:schemeClr val="accent1"/>
                </a:solidFill>
                <a:latin typeface="Consolas"/>
              </a:rPr>
              <a:t>'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, cool:30,  init:10 },</a:t>
            </a:r>
            <a:endParaRPr lang="en-US" sz="1200" b="0" i="0" dirty="0">
              <a:solidFill>
                <a:schemeClr val="bg2"/>
              </a:solidFill>
              <a:latin typeface="Consolas"/>
            </a:endParaRPr>
          </a:p>
          <a:p>
            <a:r>
              <a:rPr lang="en-US" sz="1200" b="0" i="0" dirty="0">
                <a:solidFill>
                  <a:schemeClr val="bg2"/>
                </a:solidFill>
                <a:latin typeface="Consolas"/>
              </a:rPr>
              <a:t>  </a:t>
            </a:r>
            <a:r>
              <a:rPr lang="en-US" altLang="ko-KR" sz="1200" dirty="0">
                <a:solidFill>
                  <a:schemeClr val="accent3"/>
                </a:solidFill>
                <a:latin typeface="Consolas" panose="020B0609020204030204" pitchFamily="49" charset="0"/>
              </a:rPr>
              <a:t>/* </a:t>
            </a:r>
            <a:r>
              <a:rPr lang="ko-KR" altLang="en-US" sz="1200" dirty="0">
                <a:solidFill>
                  <a:schemeClr val="accent3"/>
                </a:solidFill>
                <a:latin typeface="Consolas" panose="020B0609020204030204" pitchFamily="49" charset="0"/>
              </a:rPr>
              <a:t>이후 생략</a:t>
            </a:r>
            <a:r>
              <a:rPr lang="en-US" altLang="ko-KR" sz="1200" dirty="0">
                <a:solidFill>
                  <a:schemeClr val="accent3"/>
                </a:solidFill>
                <a:latin typeface="Consolas" panose="020B0609020204030204" pitchFamily="49" charset="0"/>
              </a:rPr>
              <a:t> */</a:t>
            </a:r>
            <a:r>
              <a:rPr sz="1200" b="0" i="0" dirty="0">
                <a:solidFill>
                  <a:schemeClr val="accent3"/>
                </a:solidFill>
                <a:latin typeface="Consolas"/>
              </a:rPr>
              <a:t>
</a:t>
            </a:r>
            <a:r>
              <a:rPr sz="1200" b="0" i="0" dirty="0">
                <a:solidFill>
                  <a:schemeClr val="bg2"/>
                </a:solidFill>
                <a:latin typeface="Consolas"/>
              </a:rPr>
              <a:t>};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B052CBDC-139E-4D73-C16F-DD76BB733CAC}"/>
              </a:ext>
            </a:extLst>
          </p:cNvPr>
          <p:cNvGrpSpPr/>
          <p:nvPr/>
        </p:nvGrpSpPr>
        <p:grpSpPr>
          <a:xfrm>
            <a:off x="287999" y="1080000"/>
            <a:ext cx="11542933" cy="1583999"/>
            <a:chOff x="287999" y="1080000"/>
            <a:chExt cx="11374423" cy="1583999"/>
          </a:xfrm>
        </p:grpSpPr>
        <p:sp>
          <p:nvSpPr>
            <p:cNvPr id="5" name="Rectangle 4"/>
            <p:cNvSpPr/>
            <p:nvPr/>
          </p:nvSpPr>
          <p:spPr>
            <a:xfrm>
              <a:off x="287999" y="1080000"/>
              <a:ext cx="11374423" cy="503999"/>
            </a:xfrm>
            <a:prstGeom prst="rect">
              <a:avLst/>
            </a:prstGeom>
            <a:solidFill>
              <a:srgbClr val="2828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60000" y="1162723"/>
              <a:ext cx="432000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600" b="1" i="0" dirty="0">
                  <a:solidFill>
                    <a:srgbClr val="FF6B6B"/>
                  </a:solidFill>
                  <a:latin typeface="맑은 고딕"/>
                </a:rPr>
                <a:t>✗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92000" y="1187999"/>
              <a:ext cx="3240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 err="1">
                  <a:solidFill>
                    <a:srgbClr val="FF6B6B"/>
                  </a:solidFill>
                  <a:latin typeface="맑은 고딕"/>
                </a:rPr>
                <a:t>랜덤</a:t>
              </a:r>
              <a:r>
                <a:rPr sz="1300" b="1" i="0" dirty="0">
                  <a:solidFill>
                    <a:srgbClr val="FF6B6B"/>
                  </a:solidFill>
                  <a:latin typeface="맑은 고딕"/>
                </a:rPr>
                <a:t> </a:t>
              </a:r>
              <a:r>
                <a:rPr sz="1300" b="1" i="0" dirty="0" err="1">
                  <a:solidFill>
                    <a:srgbClr val="FF6B6B"/>
                  </a:solidFill>
                  <a:latin typeface="맑은 고딕"/>
                </a:rPr>
                <a:t>함수</a:t>
              </a:r>
              <a:endParaRPr sz="1300" b="1" i="0" dirty="0">
                <a:solidFill>
                  <a:srgbClr val="FF6B6B"/>
                </a:solidFill>
                <a:latin typeface="맑은 고딕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2943782" y="1190322"/>
              <a:ext cx="7380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플레이어의 운에 따라 강력한</a:t>
              </a:r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(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약한</a:t>
              </a:r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) 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패턴이 반복 발생</a:t>
              </a:r>
              <a:endParaRPr sz="1200" b="0" i="0" dirty="0">
                <a:solidFill>
                  <a:schemeClr val="bg2"/>
                </a:solidFill>
                <a:latin typeface="맑은 고딕"/>
              </a:endParaRPr>
            </a:p>
          </p:txBody>
        </p:sp>
        <p:sp>
          <p:nvSpPr>
            <p:cNvPr id="9" name="Rectangle 8"/>
            <p:cNvSpPr/>
            <p:nvPr/>
          </p:nvSpPr>
          <p:spPr>
            <a:xfrm>
              <a:off x="288000" y="1620000"/>
              <a:ext cx="11374422" cy="503999"/>
            </a:xfrm>
            <a:prstGeom prst="rect">
              <a:avLst/>
            </a:prstGeom>
            <a:solidFill>
              <a:srgbClr val="2828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60000" y="1702723"/>
              <a:ext cx="432000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600" b="1" i="0" dirty="0">
                  <a:solidFill>
                    <a:srgbClr val="FF6B6B"/>
                  </a:solidFill>
                  <a:latin typeface="맑은 고딕"/>
                </a:rPr>
                <a:t>✗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92000" y="1722639"/>
              <a:ext cx="3240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300" b="1" i="0" dirty="0" err="1">
                  <a:solidFill>
                    <a:srgbClr val="FF6B6B"/>
                  </a:solidFill>
                  <a:latin typeface="맑은 고딕"/>
                </a:rPr>
                <a:t>쿨타임</a:t>
              </a:r>
              <a:r>
                <a:rPr sz="1300" b="1" i="0" dirty="0">
                  <a:solidFill>
                    <a:srgbClr val="FF6B6B"/>
                  </a:solidFill>
                  <a:latin typeface="맑은 고딕"/>
                </a:rPr>
                <a:t> </a:t>
              </a:r>
              <a:r>
                <a:rPr sz="1300" b="1" i="0" dirty="0" err="1">
                  <a:solidFill>
                    <a:srgbClr val="FF6B6B"/>
                  </a:solidFill>
                  <a:latin typeface="맑은 고딕"/>
                </a:rPr>
                <a:t>기반</a:t>
              </a:r>
              <a:endParaRPr sz="1300" b="1" i="0" dirty="0">
                <a:solidFill>
                  <a:srgbClr val="FF6B6B"/>
                </a:solidFill>
                <a:latin typeface="맑은 고딕"/>
              </a:endParaRP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88000" y="2160000"/>
              <a:ext cx="11374422" cy="503999"/>
            </a:xfrm>
            <a:prstGeom prst="rect">
              <a:avLst/>
            </a:prstGeom>
            <a:solidFill>
              <a:srgbClr val="20382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360000" y="2242723"/>
              <a:ext cx="432000" cy="33855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600" b="1" i="0" dirty="0">
                  <a:solidFill>
                    <a:srgbClr val="6BD98A"/>
                  </a:solidFill>
                  <a:latin typeface="맑은 고딕"/>
                </a:rPr>
                <a:t>✓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92000" y="2267999"/>
              <a:ext cx="3240000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sz="1300" b="1" i="0" dirty="0" err="1">
                  <a:solidFill>
                    <a:srgbClr val="6BD98A"/>
                  </a:solidFill>
                  <a:latin typeface="맑은 고딕"/>
                </a:rPr>
                <a:t>우선순위</a:t>
              </a:r>
              <a:r>
                <a:rPr lang="en-US" sz="1300" b="1" i="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lang="ko-KR" altLang="en-US" sz="1300" b="1" i="0" dirty="0">
                  <a:solidFill>
                    <a:srgbClr val="6BD98A"/>
                  </a:solidFill>
                  <a:latin typeface="맑은 고딕"/>
                </a:rPr>
                <a:t>기반 </a:t>
              </a:r>
              <a:r>
                <a:rPr lang="en-US" altLang="ko-KR" sz="1300" b="1" dirty="0">
                  <a:solidFill>
                    <a:srgbClr val="6BD98A"/>
                  </a:solidFill>
                  <a:latin typeface="맑은 고딕"/>
                </a:rPr>
                <a:t>Min-Heap</a:t>
              </a:r>
              <a:endParaRPr sz="1300" b="1" i="0" dirty="0">
                <a:solidFill>
                  <a:srgbClr val="6BD98A"/>
                </a:solidFill>
                <a:latin typeface="맑은 고딕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943782" y="2267999"/>
              <a:ext cx="7380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1200" b="0" i="0" dirty="0" err="1">
                  <a:solidFill>
                    <a:srgbClr val="6BD98A"/>
                  </a:solidFill>
                  <a:latin typeface="맑은 고딕"/>
                </a:rPr>
                <a:t>패턴이</a:t>
              </a:r>
              <a:r>
                <a:rPr sz="1200" b="0" i="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6BD98A"/>
                  </a:solidFill>
                  <a:latin typeface="맑은 고딕"/>
                </a:rPr>
                <a:t>균형</a:t>
              </a:r>
              <a:r>
                <a:rPr sz="1200" b="0" i="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6BD98A"/>
                  </a:solidFill>
                  <a:latin typeface="맑은 고딕"/>
                </a:rPr>
                <a:t>있게</a:t>
              </a:r>
              <a:r>
                <a:rPr sz="1200" b="0" i="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6BD98A"/>
                  </a:solidFill>
                  <a:latin typeface="맑은 고딕"/>
                </a:rPr>
                <a:t>혼합</a:t>
              </a:r>
              <a:r>
                <a:rPr lang="en-US" sz="1200" dirty="0">
                  <a:solidFill>
                    <a:srgbClr val="6BD98A"/>
                  </a:solidFill>
                  <a:latin typeface="맑은 고딕"/>
                </a:rPr>
                <a:t>,</a:t>
              </a:r>
              <a:r>
                <a:rPr sz="1200" b="0" i="0" dirty="0">
                  <a:solidFill>
                    <a:srgbClr val="6BD98A"/>
                  </a:solidFill>
                  <a:latin typeface="맑은 고딕"/>
                </a:rPr>
                <a:t> O(log N)</a:t>
              </a:r>
              <a:r>
                <a:rPr lang="ko-KR" altLang="en-US" sz="1200" b="0" i="0" dirty="0">
                  <a:solidFill>
                    <a:srgbClr val="6BD98A"/>
                  </a:solidFill>
                  <a:latin typeface="맑은 고딕"/>
                </a:rPr>
                <a:t>의</a:t>
              </a:r>
              <a:r>
                <a:rPr sz="1200" b="0" i="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sz="1200" b="0" i="0" dirty="0" err="1">
                  <a:solidFill>
                    <a:srgbClr val="6BD98A"/>
                  </a:solidFill>
                  <a:latin typeface="맑은 고딕"/>
                </a:rPr>
                <a:t>삽입</a:t>
              </a:r>
              <a:r>
                <a:rPr lang="en-US" sz="1200" dirty="0">
                  <a:solidFill>
                    <a:srgbClr val="6BD98A"/>
                  </a:solidFill>
                  <a:latin typeface="맑은 고딕"/>
                </a:rPr>
                <a:t> </a:t>
              </a:r>
              <a:r>
                <a:rPr lang="ko-KR" altLang="en-US" sz="1200" dirty="0">
                  <a:solidFill>
                    <a:srgbClr val="6BD98A"/>
                  </a:solidFill>
                  <a:latin typeface="맑은 고딕"/>
                </a:rPr>
                <a:t>시간으로 추가 발생 시간 최소화 가능</a:t>
              </a:r>
              <a:endParaRPr sz="1200" b="0" i="0" dirty="0">
                <a:solidFill>
                  <a:srgbClr val="6BD98A"/>
                </a:solidFill>
                <a:latin typeface="맑은 고딕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6957053-44C1-15E6-F36D-E4D5E940A875}"/>
                </a:ext>
              </a:extLst>
            </p:cNvPr>
            <p:cNvSpPr txBox="1"/>
            <p:nvPr/>
          </p:nvSpPr>
          <p:spPr>
            <a:xfrm>
              <a:off x="2943782" y="1726889"/>
              <a:ext cx="7380000" cy="288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ko-KR" altLang="en-US" sz="1200" b="0" i="0" dirty="0" err="1">
                  <a:solidFill>
                    <a:schemeClr val="bg2"/>
                  </a:solidFill>
                  <a:latin typeface="맑은 고딕"/>
                </a:rPr>
                <a:t>쿨타임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 설계에 따라 특정 시점에 강력한</a:t>
              </a:r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(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약한</a:t>
              </a:r>
              <a:r>
                <a:rPr lang="en-US" altLang="ko-KR" sz="1200" b="0" i="0" dirty="0">
                  <a:solidFill>
                    <a:schemeClr val="bg2"/>
                  </a:solidFill>
                  <a:latin typeface="맑은 고딕"/>
                </a:rPr>
                <a:t>) </a:t>
              </a:r>
              <a:r>
                <a:rPr lang="ko-KR" altLang="en-US" sz="1200" b="0" i="0" dirty="0">
                  <a:solidFill>
                    <a:schemeClr val="bg2"/>
                  </a:solidFill>
                  <a:latin typeface="맑은 고딕"/>
                </a:rPr>
                <a:t>패턴이 몰아치는 경우 발생</a:t>
              </a:r>
              <a:endParaRPr sz="1200" b="0" i="0" dirty="0">
                <a:solidFill>
                  <a:schemeClr val="bg2"/>
                </a:solidFill>
                <a:latin typeface="맑은 고딕"/>
              </a:endParaRPr>
            </a:p>
          </p:txBody>
        </p:sp>
      </p:grpSp>
      <p:sp>
        <p:nvSpPr>
          <p:cNvPr id="28" name="화살표: 위로 굽음 27">
            <a:extLst>
              <a:ext uri="{FF2B5EF4-FFF2-40B4-BE49-F238E27FC236}">
                <a16:creationId xmlns:a16="http://schemas.microsoft.com/office/drawing/2014/main" id="{2AC97FDC-62D3-0BA2-E6D3-1A7FE2B4DBD0}"/>
              </a:ext>
            </a:extLst>
          </p:cNvPr>
          <p:cNvSpPr/>
          <p:nvPr/>
        </p:nvSpPr>
        <p:spPr>
          <a:xfrm>
            <a:off x="7550786" y="5667677"/>
            <a:ext cx="1016000" cy="908153"/>
          </a:xfrm>
          <a:prstGeom prst="bentUpArrow">
            <a:avLst>
              <a:gd name="adj1" fmla="val 21205"/>
              <a:gd name="adj2" fmla="val 26369"/>
              <a:gd name="adj3" fmla="val 25059"/>
            </a:avLst>
          </a:prstGeom>
          <a:solidFill>
            <a:schemeClr val="bg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453-CCF3-7CFA-7757-C91FF9A37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1FB7A31-60B2-2514-19B2-87DD041163F6}"/>
              </a:ext>
            </a:extLst>
          </p:cNvPr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2292F2-322C-F97C-B4EB-1E1E17CD023D}"/>
              </a:ext>
            </a:extLst>
          </p:cNvPr>
          <p:cNvSpPr txBox="1"/>
          <p:nvPr/>
        </p:nvSpPr>
        <p:spPr>
          <a:xfrm>
            <a:off x="288000" y="144000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클라이언트 시스템 설계 </a:t>
            </a:r>
            <a:r>
              <a:rPr lang="en-US" altLang="ko-KR" sz="2600" b="1" i="0" dirty="0">
                <a:solidFill>
                  <a:schemeClr val="bg2"/>
                </a:solidFill>
                <a:latin typeface="맑은 고딕"/>
              </a:rPr>
              <a:t>: </a:t>
            </a:r>
            <a:r>
              <a:rPr lang="ko-KR" altLang="en-US" sz="2600" b="1" i="0" dirty="0" err="1">
                <a:solidFill>
                  <a:schemeClr val="bg2"/>
                </a:solidFill>
                <a:latin typeface="맑은 고딕"/>
              </a:rPr>
              <a:t>컷씬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 확인 시스템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0456EC-7AAC-617D-57D6-C39E9760E4BA}"/>
              </a:ext>
            </a:extLst>
          </p:cNvPr>
          <p:cNvSpPr txBox="1"/>
          <p:nvPr/>
        </p:nvSpPr>
        <p:spPr>
          <a:xfrm>
            <a:off x="439232" y="2911216"/>
            <a:ext cx="5656768" cy="1200329"/>
          </a:xfrm>
          <a:prstGeom prst="rect">
            <a:avLst/>
          </a:prstGeom>
          <a:solidFill>
            <a:srgbClr val="282840"/>
          </a:solidFill>
          <a:ln>
            <a:solidFill>
              <a:schemeClr val="bg2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if ((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.playerStats.cutScene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 &amp; (1 &lt;&lt; 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.sceneNumber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)) == 0) {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.cutscene.</a:t>
            </a:r>
            <a:r>
              <a:rPr lang="en-US" altLang="ko-KR" sz="1200" dirty="0" err="1">
                <a:solidFill>
                  <a:schemeClr val="accent4"/>
                </a:solidFill>
                <a:latin typeface="Consolas" panose="020B0609020204030204" pitchFamily="49" charset="0"/>
              </a:rPr>
              <a:t>play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introScript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.playerStats.cutScene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 += 1 &lt;&lt; 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.sceneNumber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} else {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  </a:t>
            </a:r>
            <a:r>
              <a:rPr lang="en-US" altLang="ko-KR" sz="1200" dirty="0" err="1">
                <a:solidFill>
                  <a:schemeClr val="accent1"/>
                </a:solidFill>
                <a:latin typeface="Consolas" panose="020B0609020204030204" pitchFamily="49" charset="0"/>
              </a:rPr>
              <a:t>this</a:t>
            </a:r>
            <a:r>
              <a:rPr lang="en-US" altLang="ko-KR" sz="1200" dirty="0" err="1">
                <a:solidFill>
                  <a:schemeClr val="bg2"/>
                </a:solidFill>
                <a:latin typeface="Consolas" panose="020B0609020204030204" pitchFamily="49" charset="0"/>
              </a:rPr>
              <a:t>.cutsceneLock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1200" dirty="0">
                <a:solidFill>
                  <a:schemeClr val="accent1"/>
                </a:solidFill>
                <a:latin typeface="Consolas" panose="020B0609020204030204" pitchFamily="49" charset="0"/>
              </a:rPr>
              <a:t>false</a:t>
            </a:r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200" dirty="0">
                <a:solidFill>
                  <a:schemeClr val="bg2"/>
                </a:solidFill>
                <a:latin typeface="Consolas" panose="020B0609020204030204" pitchFamily="49" charset="0"/>
              </a:rPr>
              <a:t>}</a:t>
            </a: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B5C8779E-0993-66DC-8E5E-4E4439FE4A9F}"/>
              </a:ext>
            </a:extLst>
          </p:cNvPr>
          <p:cNvGrpSpPr/>
          <p:nvPr/>
        </p:nvGrpSpPr>
        <p:grpSpPr>
          <a:xfrm>
            <a:off x="439232" y="1092873"/>
            <a:ext cx="5656768" cy="1361913"/>
            <a:chOff x="7442787" y="2833276"/>
            <a:chExt cx="5580000" cy="1361913"/>
          </a:xfrm>
        </p:grpSpPr>
        <p:sp>
          <p:nvSpPr>
            <p:cNvPr id="23" name="Rectangle 16">
              <a:extLst>
                <a:ext uri="{FF2B5EF4-FFF2-40B4-BE49-F238E27FC236}">
                  <a16:creationId xmlns:a16="http://schemas.microsoft.com/office/drawing/2014/main" id="{C378DBC8-909C-2134-5672-AFCD562EE345}"/>
                </a:ext>
              </a:extLst>
            </p:cNvPr>
            <p:cNvSpPr/>
            <p:nvPr/>
          </p:nvSpPr>
          <p:spPr>
            <a:xfrm>
              <a:off x="7442787" y="2833276"/>
              <a:ext cx="5580000" cy="1361913"/>
            </a:xfrm>
            <a:prstGeom prst="rect">
              <a:avLst/>
            </a:prstGeom>
            <a:solidFill>
              <a:srgbClr val="2828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17">
              <a:extLst>
                <a:ext uri="{FF2B5EF4-FFF2-40B4-BE49-F238E27FC236}">
                  <a16:creationId xmlns:a16="http://schemas.microsoft.com/office/drawing/2014/main" id="{56176173-E684-54E6-4F27-D2F308AC7383}"/>
                </a:ext>
              </a:extLst>
            </p:cNvPr>
            <p:cNvSpPr/>
            <p:nvPr/>
          </p:nvSpPr>
          <p:spPr>
            <a:xfrm>
              <a:off x="7442787" y="2833276"/>
              <a:ext cx="5580000" cy="45719"/>
            </a:xfrm>
            <a:prstGeom prst="rect">
              <a:avLst/>
            </a:prstGeom>
            <a:solidFill>
              <a:srgbClr val="78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360E284-4DAE-6DF0-395F-83841A24EB3C}"/>
                </a:ext>
              </a:extLst>
            </p:cNvPr>
            <p:cNvSpPr txBox="1"/>
            <p:nvPr/>
          </p:nvSpPr>
          <p:spPr>
            <a:xfrm>
              <a:off x="7550787" y="2887277"/>
              <a:ext cx="5364000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ko-KR" altLang="en-US" sz="1300" b="1" i="0" dirty="0">
                  <a:solidFill>
                    <a:schemeClr val="bg2"/>
                  </a:solidFill>
                  <a:latin typeface="맑은 고딕"/>
                </a:rPr>
                <a:t>비트 연산 기반 </a:t>
              </a:r>
              <a:r>
                <a:rPr lang="ko-KR" altLang="en-US" sz="1300" b="1" i="0" dirty="0" err="1">
                  <a:solidFill>
                    <a:schemeClr val="bg2"/>
                  </a:solidFill>
                  <a:latin typeface="맑은 고딕"/>
                </a:rPr>
                <a:t>체킹</a:t>
              </a:r>
              <a:r>
                <a:rPr lang="ko-KR" altLang="en-US" sz="1300" b="1" i="0" dirty="0">
                  <a:solidFill>
                    <a:schemeClr val="bg2"/>
                  </a:solidFill>
                  <a:latin typeface="맑은 고딕"/>
                </a:rPr>
                <a:t> 시스템</a:t>
              </a:r>
              <a:endParaRPr sz="1300" b="1" i="0" dirty="0">
                <a:solidFill>
                  <a:schemeClr val="bg2"/>
                </a:solidFill>
                <a:latin typeface="맑은 고딕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2F956BE-357F-2132-11F3-F7E5C1D85E51}"/>
                </a:ext>
              </a:extLst>
            </p:cNvPr>
            <p:cNvSpPr txBox="1"/>
            <p:nvPr/>
          </p:nvSpPr>
          <p:spPr>
            <a:xfrm>
              <a:off x="7550787" y="3208614"/>
              <a:ext cx="5364000" cy="9387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lang="en-US" sz="1100" b="0" i="0" dirty="0">
                  <a:solidFill>
                    <a:schemeClr val="bg2"/>
                  </a:solidFill>
                  <a:latin typeface="맑은 고딕"/>
                </a:rPr>
                <a:t>Scene Number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기반 </a:t>
              </a:r>
              <a:r>
                <a:rPr lang="ko-KR" altLang="en-US" sz="1100" b="0" i="0" dirty="0" err="1">
                  <a:solidFill>
                    <a:schemeClr val="bg2"/>
                  </a:solidFill>
                  <a:latin typeface="맑은 고딕"/>
                </a:rPr>
                <a:t>컷씬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 시청 여부 확인</a:t>
              </a:r>
              <a:endParaRPr lang="en-US" sz="1100" b="0" i="0" dirty="0">
                <a:solidFill>
                  <a:schemeClr val="bg2"/>
                </a:solidFill>
                <a:latin typeface="맑은 고딕"/>
              </a:endParaRPr>
            </a:p>
            <a:p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
</a:t>
              </a:r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DB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에 </a:t>
              </a:r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int 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형으로 저장되어 리소스 절약</a:t>
              </a:r>
              <a:endParaRPr lang="en-US" altLang="ko-KR" sz="1100" dirty="0">
                <a:solidFill>
                  <a:schemeClr val="bg2"/>
                </a:solidFill>
                <a:latin typeface="맑은 고딕"/>
              </a:endParaRPr>
            </a:p>
            <a:p>
              <a:endParaRPr lang="en-US" sz="1100" b="0" i="0" dirty="0">
                <a:solidFill>
                  <a:schemeClr val="bg2"/>
                </a:solidFill>
                <a:latin typeface="맑은 고딕"/>
              </a:endParaRPr>
            </a:p>
            <a:p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빠른 속도의 비트 연산</a:t>
              </a:r>
              <a:endParaRPr sz="1100" b="0" i="0" dirty="0">
                <a:solidFill>
                  <a:schemeClr val="bg2"/>
                </a:solidFill>
                <a:latin typeface="맑은 고딕"/>
              </a:endParaRPr>
            </a:p>
          </p:txBody>
        </p:sp>
      </p:grpSp>
      <p:pic>
        <p:nvPicPr>
          <p:cNvPr id="29" name="그림 28">
            <a:extLst>
              <a:ext uri="{FF2B5EF4-FFF2-40B4-BE49-F238E27FC236}">
                <a16:creationId xmlns:a16="http://schemas.microsoft.com/office/drawing/2014/main" id="{1901994D-A72F-2E59-C297-9DDF51DC27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612" y="1092872"/>
            <a:ext cx="5258156" cy="4099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7769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2B0C5-6970-3B77-8830-370A9FD27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0D8A63-F609-41E1-8F94-713F071208BF}"/>
              </a:ext>
            </a:extLst>
          </p:cNvPr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49B3E3-E7B4-5B65-72F7-2D82A24C4D19}"/>
              </a:ext>
            </a:extLst>
          </p:cNvPr>
          <p:cNvSpPr txBox="1"/>
          <p:nvPr/>
        </p:nvSpPr>
        <p:spPr>
          <a:xfrm>
            <a:off x="288000" y="144000"/>
            <a:ext cx="1080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비정형 </a:t>
            </a:r>
            <a:r>
              <a:rPr lang="en-US" altLang="ko-KR" sz="2600" b="1" i="0" dirty="0">
                <a:solidFill>
                  <a:schemeClr val="bg2"/>
                </a:solidFill>
                <a:latin typeface="맑은 고딕"/>
              </a:rPr>
              <a:t>AI 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코드 </a:t>
            </a:r>
            <a:r>
              <a:rPr lang="ko-KR" altLang="en-US" sz="2600" b="1" i="0" dirty="0" err="1">
                <a:solidFill>
                  <a:schemeClr val="bg2"/>
                </a:solidFill>
                <a:latin typeface="맑은 고딕"/>
              </a:rPr>
              <a:t>역분석</a:t>
            </a:r>
            <a:r>
              <a:rPr lang="ko-KR" altLang="en-US" sz="2600" b="1" i="0" dirty="0">
                <a:solidFill>
                  <a:schemeClr val="bg2"/>
                </a:solidFill>
                <a:latin typeface="맑은 고딕"/>
              </a:rPr>
              <a:t> 및 </a:t>
            </a:r>
            <a:r>
              <a:rPr lang="ko-KR" altLang="en-US" sz="2600" b="1" i="0" dirty="0" err="1">
                <a:solidFill>
                  <a:schemeClr val="bg2"/>
                </a:solidFill>
                <a:latin typeface="맑은 고딕"/>
              </a:rPr>
              <a:t>리팩토링</a:t>
            </a:r>
            <a:endParaRPr sz="2600" b="1" i="0" dirty="0">
              <a:solidFill>
                <a:schemeClr val="bg2"/>
              </a:solidFill>
              <a:latin typeface="맑은 고딕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36359D11-4D03-7833-5364-6C0B8D6D83DC}"/>
              </a:ext>
            </a:extLst>
          </p:cNvPr>
          <p:cNvGrpSpPr/>
          <p:nvPr/>
        </p:nvGrpSpPr>
        <p:grpSpPr>
          <a:xfrm>
            <a:off x="439232" y="1092873"/>
            <a:ext cx="5439210" cy="1086909"/>
            <a:chOff x="7442787" y="2833276"/>
            <a:chExt cx="5580000" cy="1086909"/>
          </a:xfrm>
        </p:grpSpPr>
        <p:sp>
          <p:nvSpPr>
            <p:cNvPr id="43" name="Rectangle 16">
              <a:extLst>
                <a:ext uri="{FF2B5EF4-FFF2-40B4-BE49-F238E27FC236}">
                  <a16:creationId xmlns:a16="http://schemas.microsoft.com/office/drawing/2014/main" id="{D705CD14-25F4-E530-E655-3BF71E34DE2E}"/>
                </a:ext>
              </a:extLst>
            </p:cNvPr>
            <p:cNvSpPr/>
            <p:nvPr/>
          </p:nvSpPr>
          <p:spPr>
            <a:xfrm>
              <a:off x="7442787" y="2833276"/>
              <a:ext cx="5580000" cy="1086909"/>
            </a:xfrm>
            <a:prstGeom prst="rect">
              <a:avLst/>
            </a:prstGeom>
            <a:solidFill>
              <a:srgbClr val="28284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Rectangle 17">
              <a:extLst>
                <a:ext uri="{FF2B5EF4-FFF2-40B4-BE49-F238E27FC236}">
                  <a16:creationId xmlns:a16="http://schemas.microsoft.com/office/drawing/2014/main" id="{DBF2685C-A4DE-C67A-EF18-1C049E5D9E79}"/>
                </a:ext>
              </a:extLst>
            </p:cNvPr>
            <p:cNvSpPr/>
            <p:nvPr/>
          </p:nvSpPr>
          <p:spPr>
            <a:xfrm>
              <a:off x="7442787" y="2833276"/>
              <a:ext cx="5580000" cy="45719"/>
            </a:xfrm>
            <a:prstGeom prst="rect">
              <a:avLst/>
            </a:prstGeom>
            <a:solidFill>
              <a:srgbClr val="7800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308F30C-38FA-04EF-8500-82F8703F7CC2}"/>
                </a:ext>
              </a:extLst>
            </p:cNvPr>
            <p:cNvSpPr txBox="1"/>
            <p:nvPr/>
          </p:nvSpPr>
          <p:spPr>
            <a:xfrm>
              <a:off x="7550787" y="2887277"/>
              <a:ext cx="5364000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ko-KR" altLang="en-US" sz="1300" b="1" dirty="0">
                  <a:solidFill>
                    <a:schemeClr val="bg2"/>
                  </a:solidFill>
                  <a:latin typeface="맑은 고딕"/>
                </a:rPr>
                <a:t>배경 상황</a:t>
              </a:r>
              <a:endParaRPr sz="1300" b="1" i="0" dirty="0">
                <a:solidFill>
                  <a:schemeClr val="bg2"/>
                </a:solidFill>
                <a:latin typeface="맑은 고딕"/>
              </a:endParaRP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A622355-594C-D91B-94A1-FAC2CE63E74C}"/>
                </a:ext>
              </a:extLst>
            </p:cNvPr>
            <p:cNvSpPr txBox="1"/>
            <p:nvPr/>
          </p:nvSpPr>
          <p:spPr>
            <a:xfrm>
              <a:off x="7550787" y="3208614"/>
              <a:ext cx="5364000" cy="6001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</a:t>
              </a:r>
              <a:r>
                <a:rPr lang="ko-KR" altLang="en-US" sz="1100" b="0" i="0" dirty="0">
                  <a:solidFill>
                    <a:schemeClr val="bg2"/>
                  </a:solidFill>
                  <a:latin typeface="맑은 고딕"/>
                </a:rPr>
                <a:t>별도의 컨벤션 및 컨텍스트 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설정 없이 진행된 팀원의 </a:t>
              </a:r>
              <a:r>
                <a:rPr lang="ko-KR" altLang="en-US" sz="1100" dirty="0" err="1">
                  <a:solidFill>
                    <a:schemeClr val="bg2"/>
                  </a:solidFill>
                  <a:latin typeface="맑은 고딕"/>
                </a:rPr>
                <a:t>바이브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 코딩</a:t>
              </a:r>
              <a:endParaRPr lang="en-US" sz="1100" b="0" i="0" dirty="0">
                <a:solidFill>
                  <a:schemeClr val="bg2"/>
                </a:solidFill>
                <a:latin typeface="맑은 고딕"/>
              </a:endParaRPr>
            </a:p>
            <a:p>
              <a:r>
                <a:rPr sz="1100" b="0" i="0" dirty="0">
                  <a:solidFill>
                    <a:schemeClr val="bg2"/>
                  </a:solidFill>
                  <a:latin typeface="맑은 고딕"/>
                </a:rPr>
                <a:t>
</a:t>
              </a:r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•  AI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가 생성한 막대한 양의 코드가 높은 </a:t>
              </a:r>
              <a:r>
                <a:rPr lang="en-US" altLang="ko-KR" sz="1100" dirty="0">
                  <a:solidFill>
                    <a:schemeClr val="bg2"/>
                  </a:solidFill>
                  <a:latin typeface="맑은 고딕"/>
                </a:rPr>
                <a:t>Coupling</a:t>
              </a:r>
              <a:r>
                <a:rPr lang="ko-KR" altLang="en-US" sz="1100" dirty="0">
                  <a:solidFill>
                    <a:schemeClr val="bg2"/>
                  </a:solidFill>
                  <a:latin typeface="맑은 고딕"/>
                </a:rPr>
                <a:t>을 기반으로 동작</a:t>
              </a:r>
              <a:endParaRPr lang="en-US" altLang="ko-KR" sz="1100" dirty="0">
                <a:solidFill>
                  <a:schemeClr val="bg2"/>
                </a:solidFill>
                <a:latin typeface="맑은 고딕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D8B200CF-EDDD-B76E-63E2-8AAFF1BC6FBB}"/>
              </a:ext>
            </a:extLst>
          </p:cNvPr>
          <p:cNvGrpSpPr/>
          <p:nvPr/>
        </p:nvGrpSpPr>
        <p:grpSpPr>
          <a:xfrm>
            <a:off x="439232" y="2625650"/>
            <a:ext cx="11313536" cy="3499270"/>
            <a:chOff x="439232" y="2874018"/>
            <a:chExt cx="11313536" cy="3499270"/>
          </a:xfrm>
        </p:grpSpPr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9D9FA152-F0FD-1B52-6081-B2712FDD1359}"/>
                </a:ext>
              </a:extLst>
            </p:cNvPr>
            <p:cNvGrpSpPr/>
            <p:nvPr/>
          </p:nvGrpSpPr>
          <p:grpSpPr>
            <a:xfrm>
              <a:off x="6313559" y="2874018"/>
              <a:ext cx="5439209" cy="3499270"/>
              <a:chOff x="7442787" y="2833276"/>
              <a:chExt cx="5580000" cy="3499270"/>
            </a:xfrm>
          </p:grpSpPr>
          <p:sp>
            <p:nvSpPr>
              <p:cNvPr id="28" name="Rectangle 16">
                <a:extLst>
                  <a:ext uri="{FF2B5EF4-FFF2-40B4-BE49-F238E27FC236}">
                    <a16:creationId xmlns:a16="http://schemas.microsoft.com/office/drawing/2014/main" id="{6A28DD0F-F836-6CF1-84B3-E42510B77E03}"/>
                  </a:ext>
                </a:extLst>
              </p:cNvPr>
              <p:cNvSpPr/>
              <p:nvPr/>
            </p:nvSpPr>
            <p:spPr>
              <a:xfrm>
                <a:off x="7442787" y="2833276"/>
                <a:ext cx="5580000" cy="3499270"/>
              </a:xfrm>
              <a:prstGeom prst="rect">
                <a:avLst/>
              </a:prstGeom>
              <a:solidFill>
                <a:srgbClr val="2828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29" name="Rectangle 17">
                <a:extLst>
                  <a:ext uri="{FF2B5EF4-FFF2-40B4-BE49-F238E27FC236}">
                    <a16:creationId xmlns:a16="http://schemas.microsoft.com/office/drawing/2014/main" id="{294572F6-E60A-C443-B240-22FF0D57B2E6}"/>
                  </a:ext>
                </a:extLst>
              </p:cNvPr>
              <p:cNvSpPr/>
              <p:nvPr/>
            </p:nvSpPr>
            <p:spPr>
              <a:xfrm>
                <a:off x="7442787" y="2833276"/>
                <a:ext cx="5580000" cy="45719"/>
              </a:xfrm>
              <a:prstGeom prst="rect">
                <a:avLst/>
              </a:prstGeom>
              <a:solidFill>
                <a:srgbClr val="7800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E0A027CD-3CCC-9B7A-6634-D1A182B76491}"/>
                  </a:ext>
                </a:extLst>
              </p:cNvPr>
              <p:cNvSpPr txBox="1"/>
              <p:nvPr/>
            </p:nvSpPr>
            <p:spPr>
              <a:xfrm>
                <a:off x="7550787" y="2887277"/>
                <a:ext cx="5364000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1500" b="1" i="0" dirty="0">
                    <a:solidFill>
                      <a:schemeClr val="bg2"/>
                    </a:solidFill>
                    <a:latin typeface="맑은 고딕"/>
                  </a:rPr>
                  <a:t>Case B : </a:t>
                </a:r>
                <a:r>
                  <a:rPr lang="ko-KR" altLang="en-US" sz="1500" b="1" dirty="0">
                    <a:solidFill>
                      <a:schemeClr val="bg2"/>
                    </a:solidFill>
                    <a:latin typeface="맑은 고딕"/>
                  </a:rPr>
                  <a:t>데이터 동기화</a:t>
                </a:r>
                <a:endParaRPr sz="1500" b="1" i="0" dirty="0">
                  <a:solidFill>
                    <a:schemeClr val="bg2"/>
                  </a:solidFill>
                  <a:latin typeface="맑은 고딕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88B5C72-B376-12FE-EA1F-EFEEFFF66733}"/>
                  </a:ext>
                </a:extLst>
              </p:cNvPr>
              <p:cNvSpPr txBox="1"/>
              <p:nvPr/>
            </p:nvSpPr>
            <p:spPr>
              <a:xfrm>
                <a:off x="7550787" y="3208614"/>
                <a:ext cx="5364000" cy="22621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버그 상황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맵 이동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,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재로그인 이후 해금한 스킬이 </a:t>
                </a:r>
                <a:r>
                  <a:rPr lang="ko-KR" altLang="en-US" sz="1100" dirty="0" err="1">
                    <a:solidFill>
                      <a:schemeClr val="bg2"/>
                    </a:solidFill>
                    <a:latin typeface="맑은 고딕"/>
                  </a:rPr>
                  <a:t>미해금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 상태로 변경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버그 분석</a:t>
                </a:r>
                <a:endParaRPr lang="en-US" altLang="ko-KR" sz="14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API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오류를 대비한 더미 데이터에서 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‘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레벨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’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데이터의 갱신 누락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해결 방법</a:t>
                </a:r>
                <a:endParaRPr lang="en-US" altLang="ko-KR" sz="14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API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의 개별 응답 데이터를 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user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데이터를 통합한 구조체로 전환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클라이언트의 더미 데이터를 수정된 응답에 맞춰 구조체로 전환</a:t>
                </a:r>
                <a:endParaRPr lang="ko-KR" altLang="en-US" sz="1100" dirty="0"/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E2840D3B-8BC0-DECB-0B06-8173D05D15AE}"/>
                </a:ext>
              </a:extLst>
            </p:cNvPr>
            <p:cNvGrpSpPr/>
            <p:nvPr/>
          </p:nvGrpSpPr>
          <p:grpSpPr>
            <a:xfrm>
              <a:off x="439232" y="2874018"/>
              <a:ext cx="5439210" cy="3499270"/>
              <a:chOff x="7442787" y="2833276"/>
              <a:chExt cx="5580000" cy="3499270"/>
            </a:xfrm>
          </p:grpSpPr>
          <p:sp>
            <p:nvSpPr>
              <p:cNvPr id="48" name="Rectangle 16">
                <a:extLst>
                  <a:ext uri="{FF2B5EF4-FFF2-40B4-BE49-F238E27FC236}">
                    <a16:creationId xmlns:a16="http://schemas.microsoft.com/office/drawing/2014/main" id="{F8DDC7F2-960D-4AFA-9621-1C7523C164DB}"/>
                  </a:ext>
                </a:extLst>
              </p:cNvPr>
              <p:cNvSpPr/>
              <p:nvPr/>
            </p:nvSpPr>
            <p:spPr>
              <a:xfrm>
                <a:off x="7442787" y="2833276"/>
                <a:ext cx="5580000" cy="3499270"/>
              </a:xfrm>
              <a:prstGeom prst="rect">
                <a:avLst/>
              </a:prstGeom>
              <a:solidFill>
                <a:srgbClr val="28284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9" name="Rectangle 17">
                <a:extLst>
                  <a:ext uri="{FF2B5EF4-FFF2-40B4-BE49-F238E27FC236}">
                    <a16:creationId xmlns:a16="http://schemas.microsoft.com/office/drawing/2014/main" id="{DE2A4610-5A4C-3579-BC81-F42F30BCEDD0}"/>
                  </a:ext>
                </a:extLst>
              </p:cNvPr>
              <p:cNvSpPr/>
              <p:nvPr/>
            </p:nvSpPr>
            <p:spPr>
              <a:xfrm>
                <a:off x="7442787" y="2833276"/>
                <a:ext cx="5580000" cy="45719"/>
              </a:xfrm>
              <a:prstGeom prst="rect">
                <a:avLst/>
              </a:prstGeom>
              <a:solidFill>
                <a:srgbClr val="780000"/>
              </a:solidFill>
              <a:ln>
                <a:noFill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dirty="0"/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A164FB0-E047-4684-76DC-06FC2139EFC6}"/>
                  </a:ext>
                </a:extLst>
              </p:cNvPr>
              <p:cNvSpPr txBox="1"/>
              <p:nvPr/>
            </p:nvSpPr>
            <p:spPr>
              <a:xfrm>
                <a:off x="7550787" y="2887277"/>
                <a:ext cx="5364000" cy="3231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sz="1500" b="1" i="0" dirty="0">
                    <a:solidFill>
                      <a:schemeClr val="bg2"/>
                    </a:solidFill>
                    <a:latin typeface="맑은 고딕"/>
                  </a:rPr>
                  <a:t>Case A : </a:t>
                </a:r>
                <a:r>
                  <a:rPr lang="ko-KR" altLang="en-US" sz="1500" b="1" dirty="0">
                    <a:solidFill>
                      <a:schemeClr val="bg2"/>
                    </a:solidFill>
                    <a:latin typeface="맑은 고딕"/>
                  </a:rPr>
                  <a:t>스킬 시스템 로직</a:t>
                </a:r>
                <a:endParaRPr sz="1500" b="1" i="0" dirty="0">
                  <a:solidFill>
                    <a:schemeClr val="bg2"/>
                  </a:solidFill>
                  <a:latin typeface="맑은 고딕"/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806A30B-32F6-5152-515E-1CAD5D87E79E}"/>
                  </a:ext>
                </a:extLst>
              </p:cNvPr>
              <p:cNvSpPr txBox="1"/>
              <p:nvPr/>
            </p:nvSpPr>
            <p:spPr>
              <a:xfrm>
                <a:off x="7550787" y="3208614"/>
                <a:ext cx="5364000" cy="30008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버그 상황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스킬 포인트 투자 시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,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특정 스킬에만 변경 사항이 적용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sz="1100" b="0" i="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버그 분석</a:t>
                </a:r>
                <a:endParaRPr lang="en-US" altLang="ko-KR" sz="14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스킬 일부의 로직이 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Scene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에 바인딩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스킬 일부의 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override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과정에서 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base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누락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sz="1100" b="0" i="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ko-KR" altLang="en-US" sz="1300" b="1" dirty="0">
                    <a:solidFill>
                      <a:schemeClr val="bg2"/>
                    </a:solidFill>
                    <a:latin typeface="맑은 고딕"/>
                  </a:rPr>
                  <a:t>해결 방법</a:t>
                </a:r>
                <a:endParaRPr lang="en-US" altLang="ko-KR" sz="14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b="1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각 스킬 코드의 흐름도 및 주석을 동봉한 </a:t>
                </a:r>
                <a:r>
                  <a:rPr lang="ko-KR" altLang="en-US" sz="1100" dirty="0" err="1">
                    <a:solidFill>
                      <a:schemeClr val="bg2"/>
                    </a:solidFill>
                    <a:latin typeface="맑은 고딕"/>
                  </a:rPr>
                  <a:t>리팩토링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 방향성 문서 작성 후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,</a:t>
                </a: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 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팀원에게 전달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endParaRPr lang="en-US" altLang="ko-KR" sz="9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•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담당한 팀원의 일을 대신 하는 것보다 조언을 통해 상호 성장이 이루어졌을 때</a:t>
                </a:r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,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 </a:t>
                </a:r>
                <a:endParaRPr lang="en-US" altLang="ko-KR" sz="1100" dirty="0">
                  <a:solidFill>
                    <a:schemeClr val="bg2"/>
                  </a:solidFill>
                  <a:latin typeface="맑은 고딕"/>
                </a:endParaRPr>
              </a:p>
              <a:p>
                <a:r>
                  <a:rPr lang="en-US" altLang="ko-KR" sz="1100" dirty="0">
                    <a:solidFill>
                      <a:schemeClr val="bg2"/>
                    </a:solidFill>
                    <a:latin typeface="맑은 고딕"/>
                  </a:rPr>
                  <a:t>   </a:t>
                </a:r>
                <a:r>
                  <a:rPr lang="ko-KR" altLang="en-US" sz="1100" dirty="0">
                    <a:solidFill>
                      <a:schemeClr val="bg2"/>
                    </a:solidFill>
                    <a:latin typeface="맑은 고딕"/>
                  </a:rPr>
                  <a:t>이후 더 긍정적인 결과로 이어질 것이라 생각</a:t>
                </a:r>
                <a:endParaRPr lang="ko-KR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42058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787878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마네킹</a:t>
            </a:r>
            <a:r>
              <a:rPr sz="4400" b="1" i="0" dirty="0">
                <a:solidFill>
                  <a:schemeClr val="bg2"/>
                </a:solidFill>
                <a:latin typeface="맑은 고딕"/>
              </a:rPr>
              <a:t>: </a:t>
            </a:r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헌티드</a:t>
            </a:r>
            <a:r>
              <a:rPr sz="4400" b="1" i="0" dirty="0">
                <a:solidFill>
                  <a:schemeClr val="bg2"/>
                </a:solidFill>
                <a:latin typeface="맑은 고딕"/>
              </a:rPr>
              <a:t> 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https://jeve98.github.io/Portfolio/Mannequin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담당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180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2000" y="1116000"/>
            <a:ext cx="16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8000" y="1080000"/>
            <a:ext cx="126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2000" y="1116000"/>
            <a:ext cx="115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비중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8000" y="1080000"/>
            <a:ext cx="774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02000" y="1116000"/>
            <a:ext cx="76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350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000" y="1393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기획 참여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8000" y="1350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2000" y="1393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8000" y="1350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2000" y="1393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살인마 스킬 기획 및 밸런스 논의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1728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000" y="177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살인마 진영 구현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88000" y="1728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2000" y="177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1728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000" y="177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더미 설치 · 전이 · 교란 · 위장 스킬 4종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" y="2106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000" y="2149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스폰 시스템 최적화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88000" y="2106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42000" y="2149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8000" y="2106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2000" y="2149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스폰 데이터 구조 재설계 → 네트워크 트래픽 50% 감소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2484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000" y="2527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상호작용 시스템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88000" y="2484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2000" y="2527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000" y="2484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02000" y="2527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IInteractable 인터페이스 기반 설계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00" y="2862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2000" y="2905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증강 시스템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88000" y="2862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42000" y="2905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8000" y="2862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2000" y="2905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AbilityBase 추상 클래스 기반 설계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00" y="3240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000" y="3283199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렌더링 최적화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3240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42000" y="3283199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48000" y="3240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02000" y="3283199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Occlusion Culling 적용 (13fps → 63.6fps, 약 390% 향상)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88000" y="3618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2000" y="366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네트워크 안정화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88000" y="3618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142000" y="366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48000" y="3618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402000" y="366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Jitter 원인 분석 및 동기화 기준 일원화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기획 의도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트렌드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게이머 평균 플레이 타임 지속 감소
롤 칼바람 나락에 증강 추가 → 단판 템포 가속 트렌드
비대칭 PVP(협력·심리전)에 로그라이크 요소(증강) 결합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3311999"/>
            <a:ext cx="558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3311999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3366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AI 활용 팀 규칙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3636000"/>
            <a:ext cx="536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단순 '만들어줘'가 아닌 명확한 근거와 동작 방식 명시
기존 코드와의 정합성·연동성을 고려하여 프롬프팅
생성된 코드 반드시 직접 검토 후 사용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0000" y="108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300000" y="1080000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8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증강 시스템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8000" y="140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매 판마다 증강 조합이 달라 → 리플레이어빌리티 확보
로그라이크 장르의 핵심 '빌드 다양성'을 PVP에 이식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0000" y="3311999"/>
            <a:ext cx="558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0000" y="3311999"/>
            <a:ext cx="558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8000" y="3366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결과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8000" y="3636000"/>
            <a:ext cx="536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단판 플레이 템포 가속
매 판 새로운 빌드 경험으로 반복 플레이 유도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살인마 스킬 4종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더미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설치 가능 구역 리스트를 순회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가장 가깝고 유효 거리 내 지점 자동 선택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전이·교란 스킬의 기반 오브젝트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0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0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11999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전이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11999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더미만 렌더링하는 전용 카메라 별도 구성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1999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맵 안개에 의한 시야 차단 해결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1999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안개 무시 커스텀 쉐이더 제작·적용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2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192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999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교란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999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전이 애니메이션을 생존자가 파악하는 문제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999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교란 사용 시 모든 더미에 동시 애니메이션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999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실제 전이와 구분 불가 → 심리전 확장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0" y="1080000"/>
            <a:ext cx="2808000" cy="46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44000" y="1080000"/>
            <a:ext cx="280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6000" y="115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  <a:latin typeface="맑은 고딕"/>
              </a:rPr>
              <a:t>위장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6000" y="1548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1인칭 시점의 색적 능력 보완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16000" y="1872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3인칭 시점 전환 기능 추가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6000" y="2196000"/>
            <a:ext cx="259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인근 거리 내 살인마 존재 시 생존자 효음 차단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스폰 시스템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네트워크 트래픽 50% 감소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260000"/>
            <a:ext cx="32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전송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6개 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015999"/>
            <a:ext cx="324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00" y="2304000"/>
            <a:ext cx="32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3개 값</a:t>
            </a:r>
          </a:p>
        </p:txBody>
      </p:sp>
      <p:sp>
        <p:nvSpPr>
          <p:cNvPr id="9" name="Rectangle 8"/>
          <p:cNvSpPr/>
          <p:nvPr/>
        </p:nvSpPr>
        <p:spPr>
          <a:xfrm>
            <a:off x="3960000" y="1080000"/>
            <a:ext cx="7740000" cy="27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960000" y="1080000"/>
            <a:ext cx="774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68000" y="1134000"/>
            <a:ext cx="752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분석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8000" y="1404000"/>
            <a:ext cx="7523999" cy="23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기존: position(x,y,z) + rotation(x,y,z) = 6개 전송
살인마 position.y = 108f 고정
생존자 position.y = 1f 고정
rotation.x, rotation.z 항상 0 고정
→ 실제로 변하는 값: x, z, rotation.y 3개뿐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3960000"/>
            <a:ext cx="7740000" cy="252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ECDC4"/>
                </a:solidFill>
                <a:latin typeface="Consolas"/>
              </a:rPr>
              <a:t>public (Vector3 pos, Quaternion rot)
    GetKillerSpawnData()
{
    Vector3 d = killerPoints[SelectedIndex];
    return (
        new Vector3(d.x, 108f, d.z),
        Quaternion.Euler(0, d.y, 0));
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인터페이스 vs 추상 클래스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상호작용 시스템 &amp; 증강 시스템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688000" cy="52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68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52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상호작용 시스템 → 인터페이스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54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파괴 / 정화 / 뛰어넘기  ← 수평 확장 관계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000" y="190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파괴·정화: NetworkBehaviour 상속 필요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000" y="226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뛰어넘기: MonoBehaviour로 충분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262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C# 단일 상속 제약 → 추상 클래스로 묶기 불가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298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93D"/>
                </a:solidFill>
                <a:latin typeface="맑은 고딕"/>
              </a:rPr>
              <a:t>   → 인터페이스 선택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" y="3491999"/>
            <a:ext cx="5400000" cy="2520000"/>
          </a:xfrm>
          <a:prstGeom prst="rect">
            <a:avLst/>
          </a:prstGeom>
          <a:solidFill>
            <a:srgbClr val="202034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interface IInteractable
{
    string GetInteractionText(
               GameObject interactor);
    string GetAnimationTrigger();
    void   OnInteract(
               GameObject gameObject);
}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2000" y="1080000"/>
            <a:ext cx="5688000" cy="52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2000" y="1080000"/>
            <a:ext cx="5688000" cy="252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0000" y="1152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  <a:latin typeface="맑은 고딕"/>
              </a:rPr>
              <a:t>증강 시스템 → 추상 클래스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154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NetworkBehaviour 반드시 상속 (호스트·클라이언트 동기화)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000" y="190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기능이 계층적으로 확장 ← 수직 확장 관계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000" y="226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93D"/>
                </a:solidFill>
                <a:latin typeface="맑은 고딕"/>
              </a:rPr>
              <a:t>   → 추상 클래스 선택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000" y="262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Activate(): 미구현 시 치명적 → 추상 함수로 강제화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0000" y="2988000"/>
            <a:ext cx="54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 Awake():  방어 코드 (선택적) → 가상 함수로 오버라이드 허용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000" y="3491999"/>
            <a:ext cx="5400000" cy="2520000"/>
          </a:xfrm>
          <a:prstGeom prst="rect">
            <a:avLst/>
          </a:prstGeom>
          <a:solidFill>
            <a:srgbClr val="202034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abstract class AbilityBase
    : NetworkBehaviour
{
    // 미구현 시 치명적 → 추상 함수
    public abstract void Activate();
    // 방어 코드 → 가상 함수
    protected virtual void Awake()
    { this.enabled = false; }
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마네킹 — 렌더링 최적화 &amp; 네트워크 안정화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36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렌더링 성능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32000"/>
            <a:ext cx="36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13 fps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835999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2124000"/>
            <a:ext cx="36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63.6 fps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0" y="1080000"/>
            <a:ext cx="7560000" cy="25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0" y="1080000"/>
            <a:ext cx="756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28000" y="1134000"/>
            <a:ext cx="734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Occlusion Culling 선택 이유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8000" y="1404000"/>
            <a:ext cx="7343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AI 생성 3D 메시 다수 → vertex 복잡
맵 규모 상당 → Frustum Culling 한계
카메라 뷰 내 가려진 오브젝트가 많은 구조
5주 일정 → 개별 LOD보다 공간 단위 Occlusion Culling이
비용 대비 효과 높다고 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0" y="3780000"/>
            <a:ext cx="7560000" cy="25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20000" y="3780000"/>
            <a:ext cx="7560000" cy="21600"/>
          </a:xfrm>
          <a:prstGeom prst="rect">
            <a:avLst/>
          </a:prstGeom>
          <a:solidFill>
            <a:srgbClr val="7878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28000" y="3834000"/>
            <a:ext cx="7343999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Jitter 완화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8000" y="4104000"/>
            <a:ext cx="7343999" cy="21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발생: 특정 증강 획득 시 Jitter 발생
원인: 서버·클라이언트가 서로 다른 시간축으로
       상태 변경 → 네트워크 지연 누적
해결: RPC로 상태값 추가 확정 (방어 코드)
       동기화 기준을 서버로 일원화
       증강 적용 시점을 동기화 확인 이후로 지연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700000"/>
            <a:ext cx="12192119" cy="1440000"/>
          </a:xfrm>
          <a:prstGeom prst="rect">
            <a:avLst/>
          </a:prstGeom>
          <a:solidFill>
            <a:srgbClr val="996633">
              <a:alpha val="69804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2808000"/>
            <a:ext cx="1152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 dirty="0" err="1">
                <a:solidFill>
                  <a:schemeClr val="bg2"/>
                </a:solidFill>
                <a:latin typeface="맑은 고딕"/>
              </a:rPr>
              <a:t>헤이터</a:t>
            </a:r>
            <a:endParaRPr sz="4400" b="1" i="0" dirty="0">
              <a:solidFill>
                <a:schemeClr val="bg2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88000" y="3780000"/>
            <a:ext cx="115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0" i="0" dirty="0">
                <a:solidFill>
                  <a:schemeClr val="bg2"/>
                </a:solidFill>
                <a:latin typeface="맑은 고딕"/>
              </a:rPr>
              <a:t>https://jeve98.github.io/Portfolio/hater-project</a:t>
            </a:r>
            <a:endParaRPr sz="1200" b="0" i="0" dirty="0">
              <a:solidFill>
                <a:schemeClr val="bg2"/>
              </a:solidFill>
              <a:latin typeface="맑은 고딕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담당 역할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180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2000" y="1116000"/>
            <a:ext cx="16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역할</a:t>
            </a:r>
          </a:p>
        </p:txBody>
      </p:sp>
      <p:sp>
        <p:nvSpPr>
          <p:cNvPr id="6" name="Rectangle 5"/>
          <p:cNvSpPr/>
          <p:nvPr/>
        </p:nvSpPr>
        <p:spPr>
          <a:xfrm>
            <a:off x="2088000" y="1080000"/>
            <a:ext cx="126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42000" y="1116000"/>
            <a:ext cx="115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비중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8000" y="1080000"/>
            <a:ext cx="7740000" cy="2700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02000" y="1116000"/>
            <a:ext cx="763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" y="1350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2000" y="1393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아키텍처 설계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88000" y="1350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2000" y="1393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48000" y="1350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2000" y="1393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Thread safe Singleton 제네릭 베이스 클래스 (CRTP 패턴)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" y="1728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2000" y="1771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세션 관리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88000" y="1728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42000" y="1771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1728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02000" y="1771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새로고침 대응 세션 복구 시스템 (OCP 리팩토링)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" y="2106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42000" y="2149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디펜스 기능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88000" y="2106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142000" y="2149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48000" y="2106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02000" y="2149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유닛 배치 동기화 · 사정거리 인디케이터 · 오브젝트 풀 스폰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" y="2484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42000" y="2527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탐사 컨텐츠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88000" y="2484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142000" y="2527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 (N종 중 4종)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48000" y="2484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02000" y="2527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기근 · 마력 안개 · 인사 이동 · 저주 정화 이벤트 구현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000" y="2862000"/>
            <a:ext cx="180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42000" y="2905200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보안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88000" y="2862000"/>
            <a:ext cx="126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42000" y="2905200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48000" y="2862000"/>
            <a:ext cx="7740000" cy="360000"/>
          </a:xfrm>
          <a:prstGeom prst="rect">
            <a:avLst/>
          </a:prstGeom>
          <a:solidFill>
            <a:srgbClr val="25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402000" y="2905200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AES-GCM + RSA 세션키 교환 기반 암호화 통신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000" y="3240000"/>
            <a:ext cx="180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42000" y="3283199"/>
            <a:ext cx="169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ECDC4"/>
                </a:solidFill>
                <a:latin typeface="맑은 고딕"/>
              </a:rPr>
              <a:t>최적화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3240000"/>
            <a:ext cx="126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142000" y="3283199"/>
            <a:ext cx="115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맑은 고딕"/>
              </a:rPr>
              <a:t>본인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48000" y="3240000"/>
            <a:ext cx="7740000" cy="3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402000" y="3283199"/>
            <a:ext cx="7632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GPU Instancing · SpriteSync · 픽셀아트 설정으로 WebGL 개선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Thread safe Singleton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CRTP 패턴 + 상호 배제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9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5364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매니저 클래스마다 싱글톤 생성 코드를 반복 작성 → 유지 보수성 저하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160000"/>
            <a:ext cx="5580000" cy="14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00" y="216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000" y="221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해결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2484000"/>
            <a:ext cx="5364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제네릭 베이스 클래스로 싱글톤 로직 분리
CRTP 패턴으로 매니저마다 독립 정적 인스턴스 → 캐스팅 없이 직접 접근
lock 블록으로 상호 배제 적용 (멀티 스레드 확장 대비)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" y="3780000"/>
            <a:ext cx="5580000" cy="14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88000" y="37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6000" y="38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추가 트러블슈팅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000" y="4104000"/>
            <a:ext cx="5364000" cy="10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부모 오브젝트로 묶었을 때 DontDestroyOnLoad 동작 안 함
Find + 캐싱 방식은 싱글톤을 클라이언트 코드에서 재구현하는 것과 동일 → 안전성 저하
해결: 생성 시 부모 관계를 끊는 방식 채택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0000" y="1080000"/>
            <a:ext cx="5760000" cy="414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public class Singleton&lt;T&gt; : MonoBehaviour
    where T : MonoBehaviour
{
    private static T _instance;
    private static readonly object _lock
                     = new object();
    public static T Instance
    {
        get { lock (_lock) { /* 생성 */ } }
    }
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세션 복구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OCP 위반 → Dictionary 기반 리팩토링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1007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문제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536400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웹 게임 새로고침 시 씬 재로드
상태 미저장 → 다음 스테이지 정보 미리 확인 / 방어전 무한 반복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2340000"/>
            <a:ext cx="558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ECDC4"/>
                </a:solidFill>
                <a:latin typeface="맑은 고딕"/>
              </a:rPr>
              <a:t>Before  —  switch문 (OCP 위반)</a:t>
            </a:r>
          </a:p>
          <a:p>
            <a:pPr algn="l"/>
            <a:r>
              <a:rPr sz="1100" b="0" i="0">
                <a:solidFill>
                  <a:srgbClr val="AAAABB"/>
                </a:solidFill>
                <a:latin typeface="맑은 고딕"/>
              </a:rPr>
              <a:t>새 상태 추가 시 switch 수정 필요 → 확장 폐쇄 원칙 위반</a:t>
            </a:r>
          </a:p>
          <a:p>
            <a:pPr algn="l"/>
            <a:r>
              <a:rPr sz="1200" b="1" i="0">
                <a:solidFill>
                  <a:srgbClr val="6BD98A"/>
                </a:solidFill>
                <a:latin typeface="맑은 고딕"/>
              </a:rPr>
              <a:t>After  —  Dictionary 상태-핸들러 매핑</a:t>
            </a:r>
          </a:p>
          <a:p>
            <a:pPr algn="l"/>
            <a:r>
              <a:rPr sz="1100" b="0" i="0">
                <a:solidFill>
                  <a:srgbClr val="AAAABB"/>
                </a:solidFill>
                <a:latin typeface="맑은 고딕"/>
              </a:rPr>
              <a:t>딕셔너리에 항목만 추가 → 기존 코드 변경 없음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0" y="1080000"/>
            <a:ext cx="5760000" cy="522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ECDC4"/>
                </a:solidFill>
                <a:latin typeface="Consolas"/>
              </a:rPr>
              <a:t>void Awake()
{
    Action recover =
      () =&gt; StartCoroutine(
        RecoveryTransitionRoutine("Defense"));
    _handlers = new Dictionary&lt;GameState, Action&gt;
    {
        { GameState.Preparation, recover },
        { GameState.Battle,      recover },
        { GameState.PostStage,   LoadPostStage },
    };
}
public void CheckAndRecoverySession()
{
    var state = GetLastSavedState();
    if (_handlers.TryGetValue(state,
           out Action handler))
        handler();
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유닛 배치 &amp; 사정거리 인디케이터</a:t>
            </a:r>
          </a:p>
        </p:txBody>
      </p:sp>
      <p:sp>
        <p:nvSpPr>
          <p:cNvPr id="4" name="Rectangle 3"/>
          <p:cNvSpPr/>
          <p:nvPr/>
        </p:nvSpPr>
        <p:spPr>
          <a:xfrm>
            <a:off x="288000" y="1080000"/>
            <a:ext cx="5580000" cy="23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6000" y="113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유닛 배치 — 단방향 동기화 + 상태 보존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6000" y="1404000"/>
            <a:ext cx="5364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UI 변경마다 오브젝트 생성/파괴 → 버프·HP 등 컴포넌트 상태 초기화
해결: UIGridController에서 배치 상태 저장,
      패널 닫힐 때 SyncDeploymentWithWorld() 호출
      고유 ID 매핑으로 재배치 시 이동(파괴 X) → 상태 보존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3600000"/>
            <a:ext cx="558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88000" y="3600000"/>
            <a:ext cx="558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96000" y="3654000"/>
            <a:ext cx="536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사정거리 인디케이터 — 상대적 비율 계산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000" y="3924000"/>
            <a:ext cx="536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문제: 유닛마다 고정값 저장 시 서버 밸런스 변경 때 클라이언트도 수정 필요
해결: 가장 짧은 사정거리(방패병) 기준으로
      인디케이터 크기를 상대 비율로 계산 → 서버 독립적
버프 증가분은 별도 레이어로 추가 표시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0000" y="1080000"/>
            <a:ext cx="5760000" cy="360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// 사정거리 인디케이터
float baseScale =
    (unitRange / shieldRange) * 1.4f;
float effectiveRange =
    unitRange * (1f + percentSum) + flatSum;
float effectiveScale =
    (effectiveRange / shieldRange) * 1.4f;
if (effectiveScale &gt; baseScale)
    SpawnIndicatorObject(
        bonusIndicator, coord, effectiveScale);
SpawnIndicatorObject(
    baseIndicator, coord, baseScale);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오브젝트 풀 기반 스폰 시스템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Pending Queue 방식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5040000" cy="162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504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48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482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적 유닛 300 ~ 1,500+ 마리 등장
웹 게임: 브라우저 리소스 공유 → GC 비용에 민감
유닛 생성/파괴 반복 시 GC 스파이크 빈번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880000"/>
            <a:ext cx="5040000" cy="19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8000" y="2880000"/>
            <a:ext cx="504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96000" y="2934000"/>
            <a:ext cx="482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설계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" y="3204000"/>
            <a:ext cx="4824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웨이브 등장 유닛의 40% 사전 풀 생성
풀 고갈 시 → Pending Queue에 적재
유닛 반납 이벤트 발생 시 → Pending 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80000" y="1080000"/>
            <a:ext cx="6300000" cy="4680000"/>
          </a:xfrm>
          <a:prstGeom prst="rect">
            <a:avLst/>
          </a:prstGeom>
          <a:solidFill>
            <a:srgbClr val="282840"/>
          </a:solidFill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ECDC4"/>
                </a:solidFill>
                <a:latin typeface="Consolas"/>
              </a:rPr>
              <a:t>private void SpawnEnemy(int unitId, int grade)
{
    var obj = pool.Get(unitId);
    if (obj == null)
    {
        _pendingSpawn[unitId]++;  // pending
        return;
    }
    ApplyGrade(obj, unitId, grade);
}
// 반납 이벤트 시 pending 처리
private void OnEnemyReturnedHandler(int id)
{
    if (_pendingSpawn[id] &lt;= 0) return;
    _pendingSpawn[id]--;
    SpawnEnemy(id, _unitGrades[id]);
}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탐사 컨텐츠 구현 (4종)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다회차 랜덤성 부여 선택지 기반 컨텐츠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기근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지속 디버프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n회 방어전 동안 소비 식량 2배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횟수 차감을 식량 소비(방어전 시작)와 동기화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씬 재로드 시 횟수/식량 불일치 버그 방지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5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25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3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마력 안개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3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연출 + 스탯 분기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성공/실패 → 버프/디버프 적용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결과 무관 → 다음 전투에 안개 연출 등장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채널 분리로 3가지 분기 처리 단순화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0000" y="2520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WebGL 쉐이더 미지원 → Unlit 기반 머티리얼 제작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22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인사 이동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0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병과 교체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보유 병과 중 랜덤 선택 → 다른 병과로 변경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클램프 처리로 보유 수량 초과 방지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부족 병과 보충 또는 복불복 역할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98000" y="1080000"/>
            <a:ext cx="2844000" cy="486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9198000" y="1080000"/>
            <a:ext cx="2844000" cy="252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70000" y="1134000"/>
            <a:ext cx="18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ECDC4"/>
                </a:solidFill>
                <a:latin typeface="맑은 고딕"/>
              </a:rPr>
              <a:t>저주 정화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1134000"/>
            <a:ext cx="90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FFD93D"/>
                </a:solidFill>
                <a:latin typeface="맑은 고딕"/>
              </a:rPr>
              <a:t>엘리트 유닛 소환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0000" y="1548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실패 시 다음 방어전에 엘리트 추가 등장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0000" y="1872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로그 분석: 고정 유닛 지정 시 웨이브 조합에 따라 위험도 편차 과대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0000" y="2196000"/>
            <a:ext cx="26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•  → 다음 웨이브 구성에서 무작위 추출 후 엘리트 대체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암호화 통신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8000" y="648000"/>
            <a:ext cx="108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ECDC4"/>
                </a:solidFill>
                <a:latin typeface="맑은 고딕"/>
              </a:rPr>
              <a:t>AES-GCM + RSA 세션키 교환</a:t>
            </a:r>
          </a:p>
        </p:txBody>
      </p:sp>
      <p:sp>
        <p:nvSpPr>
          <p:cNvPr id="5" name="Rectangle 4"/>
          <p:cNvSpPr/>
          <p:nvPr/>
        </p:nvSpPr>
        <p:spPr>
          <a:xfrm>
            <a:off x="288000" y="1080000"/>
            <a:ext cx="11520000" cy="1007999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8000" y="1080000"/>
            <a:ext cx="11520000" cy="216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96000" y="1134000"/>
            <a:ext cx="1130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배경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6000" y="1404000"/>
            <a:ext cx="1130400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웹 게임: 개발자 도구로 통신 내역 노출
주요 데이터를 API로 받아 덮어쓰는 치팅 방지 구조 사용 중
→ 통신 보안이 핵심</a:t>
            </a:r>
          </a:p>
        </p:txBody>
      </p:sp>
      <p:sp>
        <p:nvSpPr>
          <p:cNvPr id="9" name="Rectangle 8"/>
          <p:cNvSpPr/>
          <p:nvPr/>
        </p:nvSpPr>
        <p:spPr>
          <a:xfrm>
            <a:off x="288000" y="2340000"/>
            <a:ext cx="504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2000" y="2376000"/>
            <a:ext cx="493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방식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28000" y="2340000"/>
            <a:ext cx="180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82000" y="2376000"/>
            <a:ext cx="169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속도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28000" y="2340000"/>
            <a:ext cx="180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82000" y="2376000"/>
            <a:ext cx="169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키 노출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28000" y="2340000"/>
            <a:ext cx="1080000" cy="251999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82000" y="2376000"/>
            <a:ext cx="972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C1C2E"/>
                </a:solidFill>
                <a:latin typeface="맑은 고딕"/>
              </a:rPr>
              <a:t>채택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00" y="2592000"/>
            <a:ext cx="504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000" y="2664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평문 전송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28000" y="2592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82000" y="2664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28000" y="2592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82000" y="2664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높음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28000" y="2592000"/>
            <a:ext cx="108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82000" y="2664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00" y="2988000"/>
            <a:ext cx="504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42000" y="3060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비대칭키 단독 (RSA)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0" y="2988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382000" y="3060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느림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28000" y="2988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82000" y="3060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낮음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28000" y="2988000"/>
            <a:ext cx="108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982000" y="3060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8000" y="3384000"/>
            <a:ext cx="504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42000" y="3456000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대칭키 단독 (AES)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28000" y="3384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382000" y="3456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빠름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128000" y="3384000"/>
            <a:ext cx="180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182000" y="3456000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맑은 고딕"/>
              </a:rPr>
              <a:t>높음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28000" y="3384000"/>
            <a:ext cx="1080000" cy="378000"/>
          </a:xfrm>
          <a:prstGeom prst="rect">
            <a:avLst/>
          </a:prstGeom>
          <a:solidFill>
            <a:srgbClr val="3030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82000" y="3456000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  <a:latin typeface="맑은 고딕"/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8000" y="3780000"/>
            <a:ext cx="504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2000" y="3851999"/>
            <a:ext cx="493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AES-GCM + RSA 세션키 교환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28000" y="3780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382000" y="3851999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빠름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28000" y="3780000"/>
            <a:ext cx="180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182000" y="3851999"/>
            <a:ext cx="169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D93D"/>
                </a:solidFill>
                <a:latin typeface="맑은 고딕"/>
              </a:rPr>
              <a:t>낮음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28000" y="3780000"/>
            <a:ext cx="1080000" cy="378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982000" y="3851999"/>
            <a:ext cx="972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D98A"/>
                </a:solidFill>
                <a:latin typeface="맑은 고딕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8000" y="4140000"/>
            <a:ext cx="11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게임 실행 시 신규 세션키 생성 → 서버 공개키(RSA)로 암호화하여 교환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8000" y="4428000"/>
            <a:ext cx="1152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맑은 고딕"/>
              </a:rPr>
              <a:t>• 이후 모든 통신은 AES-GCM으로 처리 / IV를 매 요청마다 갱신 → 재전송 공격 방지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119" cy="64800"/>
          </a:xfrm>
          <a:prstGeom prst="rect">
            <a:avLst/>
          </a:prstGeom>
          <a:solidFill>
            <a:srgbClr val="99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88000" y="144000"/>
            <a:ext cx="10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맑은 고딕"/>
              </a:rPr>
              <a:t>헤이터 — WebGL 렌더링 최적화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108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드로우콜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1332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3,500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1835999"/>
            <a:ext cx="28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212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180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0" y="10800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AAABB"/>
                </a:solidFill>
                <a:latin typeface="맑은 고딕"/>
              </a:rPr>
              <a:t>메모리 사용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0" y="1332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  <a:latin typeface="맑은 고딕"/>
              </a:rPr>
              <a:t>60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0" y="1835999"/>
            <a:ext cx="288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AAABB"/>
                </a:solidFill>
                <a:latin typeface="맑은 고딕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0" y="2124000"/>
            <a:ext cx="28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6BD98A"/>
                </a:solidFill>
                <a:latin typeface="맑은 고딕"/>
              </a:rPr>
              <a:t>15 mb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20000" y="1080000"/>
            <a:ext cx="4860000" cy="180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020000" y="108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28000" y="113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① GPU Instancing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28000" y="1404000"/>
            <a:ext cx="4644000" cy="14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환경 오브젝트 머티리얼 4개 활성화
동일 메시·머티리얼 → 1회 인스턴싱 호출
+ 텍스처·노멀맵 크기 축소 / shadowmask 거리 감소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20000" y="3060000"/>
            <a:ext cx="4860000" cy="234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020000" y="306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28000" y="311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② SpriteSync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28000" y="3384000"/>
            <a:ext cx="4644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유닛: 마스터 1개 + 자식 12개 레이어
기존: 13개 각각에 Animator → CPU 과부하
채택: 마스터에만 Animator, 자식은
      LateUpdate에서 sprite·flipX·color 복사
→ 기존 애니메이션 수정 없이 적용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20000" y="5580000"/>
            <a:ext cx="4860000" cy="1080000"/>
          </a:xfrm>
          <a:prstGeom prst="rect">
            <a:avLst/>
          </a:prstGeom>
          <a:solidFill>
            <a:srgbClr val="2828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020000" y="5580000"/>
            <a:ext cx="4860000" cy="21600"/>
          </a:xfrm>
          <a:prstGeom prst="rect">
            <a:avLst/>
          </a:prstGeom>
          <a:solidFill>
            <a:srgbClr val="4ECD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28000" y="5634000"/>
            <a:ext cx="4644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4ECDC4"/>
                </a:solidFill>
                <a:latin typeface="맑은 고딕"/>
              </a:rPr>
              <a:t>③ 픽셀아트 렌더링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28000" y="5903999"/>
            <a:ext cx="4644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맑은 고딕"/>
              </a:rPr>
              <a:t>Filter Mode: Bilinear → Point
압축: 무손실 적용
PPU 전체 통일 → 픽셀 흐림 + 충돌 크기 불일치 동시 해결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2688</Words>
  <Application>Microsoft Office PowerPoint</Application>
  <PresentationFormat>와이드스크린</PresentationFormat>
  <Paragraphs>342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전지윤</cp:lastModifiedBy>
  <cp:revision>22</cp:revision>
  <dcterms:created xsi:type="dcterms:W3CDTF">2013-01-27T09:14:16Z</dcterms:created>
  <dcterms:modified xsi:type="dcterms:W3CDTF">2026-05-28T10:26:12Z</dcterms:modified>
  <cp:category/>
</cp:coreProperties>
</file>