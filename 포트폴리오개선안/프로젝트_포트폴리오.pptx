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0" r:id="rId3"/>
    <p:sldId id="257" r:id="rId4"/>
    <p:sldId id="274" r:id="rId5"/>
    <p:sldId id="275" r:id="rId6"/>
    <p:sldId id="276" r:id="rId7"/>
    <p:sldId id="277" r:id="rId8"/>
    <p:sldId id="278" r:id="rId9"/>
    <p:sldId id="279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58" r:id="rId18"/>
    <p:sldId id="259" r:id="rId19"/>
    <p:sldId id="260" r:id="rId20"/>
    <p:sldId id="261" r:id="rId21"/>
    <p:sldId id="262" r:id="rId22"/>
    <p:sldId id="263" r:id="rId23"/>
    <p:sldId id="264" r:id="rId24"/>
    <p:sldId id="265" r:id="rId25"/>
    <p:sldId id="266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A5633"/>
    <a:srgbClr val="636363"/>
    <a:srgbClr val="630F0F"/>
    <a:srgbClr val="996633"/>
    <a:srgbClr val="787878"/>
    <a:srgbClr val="780000"/>
    <a:srgbClr val="996600"/>
    <a:srgbClr val="663300"/>
    <a:srgbClr val="1E1E1E"/>
    <a:srgbClr val="96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00" d="100"/>
          <a:sy n="100" d="100"/>
        </p:scale>
        <p:origin x="63" y="-62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3060000"/>
            <a:ext cx="12192119" cy="216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20000" y="1260000"/>
            <a:ext cx="10800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 i="0" dirty="0" err="1">
                <a:solidFill>
                  <a:schemeClr val="bg2"/>
                </a:solidFill>
                <a:latin typeface="맑은 고딕"/>
              </a:rPr>
              <a:t>전연욱</a:t>
            </a:r>
            <a:endParaRPr sz="7200" b="1" i="0" dirty="0">
              <a:solidFill>
                <a:schemeClr val="bg2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20000" y="2592000"/>
            <a:ext cx="1080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 dirty="0" err="1">
                <a:solidFill>
                  <a:schemeClr val="bg2"/>
                </a:solidFill>
                <a:latin typeface="맑은 고딕"/>
              </a:rPr>
              <a:t>게임</a:t>
            </a:r>
            <a:r>
              <a:rPr sz="2400" b="1" i="0" dirty="0">
                <a:solidFill>
                  <a:schemeClr val="bg2"/>
                </a:solidFill>
                <a:latin typeface="맑은 고딕"/>
              </a:rPr>
              <a:t> </a:t>
            </a:r>
            <a:r>
              <a:rPr sz="2400" b="1" i="0" dirty="0" err="1">
                <a:solidFill>
                  <a:schemeClr val="bg2"/>
                </a:solidFill>
                <a:latin typeface="맑은 고딕"/>
              </a:rPr>
              <a:t>클라이언트</a:t>
            </a:r>
            <a:r>
              <a:rPr sz="2400" b="1" i="0" dirty="0">
                <a:solidFill>
                  <a:schemeClr val="bg2"/>
                </a:solidFill>
                <a:latin typeface="맑은 고딕"/>
              </a:rPr>
              <a:t> </a:t>
            </a:r>
            <a:r>
              <a:rPr sz="2400" b="1" i="0" dirty="0" err="1">
                <a:solidFill>
                  <a:schemeClr val="bg2"/>
                </a:solidFill>
                <a:latin typeface="맑은 고딕"/>
              </a:rPr>
              <a:t>프로그래머</a:t>
            </a:r>
            <a:endParaRPr sz="2400" b="1" i="0" dirty="0">
              <a:solidFill>
                <a:schemeClr val="bg2"/>
              </a:solidFill>
              <a:latin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20000" y="3240000"/>
            <a:ext cx="10800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chemeClr val="bg2"/>
                </a:solidFill>
                <a:latin typeface="맑은 고딕"/>
              </a:rPr>
              <a:t>Unity / C#  ·  Phaser  ·  Django  ·  Vue.js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0000" y="3600000"/>
            <a:ext cx="10800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 err="1">
                <a:solidFill>
                  <a:schemeClr val="bg2"/>
                </a:solidFill>
                <a:latin typeface="맑은 고딕"/>
              </a:rPr>
              <a:t>삼성</a:t>
            </a:r>
            <a:r>
              <a:rPr sz="1600" b="0" i="0" dirty="0">
                <a:solidFill>
                  <a:schemeClr val="bg2"/>
                </a:solidFill>
                <a:latin typeface="맑은 고딕"/>
              </a:rPr>
              <a:t> </a:t>
            </a:r>
            <a:r>
              <a:rPr sz="1600" b="0" i="0" dirty="0" err="1">
                <a:solidFill>
                  <a:schemeClr val="bg2"/>
                </a:solidFill>
                <a:latin typeface="맑은 고딕"/>
              </a:rPr>
              <a:t>청년</a:t>
            </a:r>
            <a:r>
              <a:rPr sz="1600" b="0" i="0" dirty="0">
                <a:solidFill>
                  <a:schemeClr val="bg2"/>
                </a:solidFill>
                <a:latin typeface="맑은 고딕"/>
              </a:rPr>
              <a:t> SW </a:t>
            </a:r>
            <a:r>
              <a:rPr sz="1600" b="0" i="0" dirty="0" err="1">
                <a:solidFill>
                  <a:schemeClr val="bg2"/>
                </a:solidFill>
                <a:latin typeface="맑은 고딕"/>
              </a:rPr>
              <a:t>아카데미</a:t>
            </a:r>
            <a:r>
              <a:rPr sz="1600" b="0" i="0" dirty="0">
                <a:solidFill>
                  <a:schemeClr val="bg2"/>
                </a:solidFill>
                <a:latin typeface="맑은 고딕"/>
              </a:rPr>
              <a:t>(SSAFY) </a:t>
            </a:r>
            <a:r>
              <a:rPr sz="1600" b="0" i="0" dirty="0" err="1">
                <a:solidFill>
                  <a:schemeClr val="bg2"/>
                </a:solidFill>
                <a:latin typeface="맑은 고딕"/>
              </a:rPr>
              <a:t>수료</a:t>
            </a:r>
            <a:endParaRPr sz="1600" b="0" i="0" dirty="0">
              <a:solidFill>
                <a:schemeClr val="bg2"/>
              </a:solidFill>
              <a:latin typeface="맑은 고딕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20000" y="4031999"/>
            <a:ext cx="108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 dirty="0">
                <a:solidFill>
                  <a:schemeClr val="bg2"/>
                </a:solidFill>
                <a:latin typeface="맑은 고딕"/>
              </a:rPr>
              <a:t>jadam41817@gmail.com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119" cy="648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88000" y="144000"/>
            <a:ext cx="108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맑은 고딕"/>
              </a:rPr>
              <a:t>종합 성과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8000" y="648000"/>
            <a:ext cx="108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ECDC4"/>
                </a:solidFill>
                <a:latin typeface="맑은 고딕"/>
              </a:rPr>
              <a:t>3개 프로젝트 핵심 수치 &amp; 역량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8000" y="1080000"/>
            <a:ext cx="27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  <a:latin typeface="맑은 고딕"/>
              </a:rPr>
              <a:t>렌더링
(마네킹)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1332000"/>
            <a:ext cx="27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6B6B"/>
                </a:solidFill>
                <a:latin typeface="맑은 고딕"/>
              </a:rPr>
              <a:t>13 fps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00" y="1835999"/>
            <a:ext cx="27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AAAABB"/>
                </a:solidFill>
                <a:latin typeface="맑은 고딕"/>
              </a:rPr>
              <a:t>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00" y="2124000"/>
            <a:ext cx="27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6BD98A"/>
                </a:solidFill>
                <a:latin typeface="맑은 고딕"/>
              </a:rPr>
              <a:t>63.6 fps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68000" y="1080000"/>
            <a:ext cx="27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  <a:latin typeface="맑은 고딕"/>
              </a:rPr>
              <a:t>드로우콜
(헤이터)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68000" y="1332000"/>
            <a:ext cx="27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6B6B"/>
                </a:solidFill>
                <a:latin typeface="맑은 고딕"/>
              </a:rPr>
              <a:t>3,500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68000" y="1835999"/>
            <a:ext cx="27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AAAABB"/>
                </a:solidFill>
                <a:latin typeface="맑은 고딕"/>
              </a:rPr>
              <a:t>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68000" y="2124000"/>
            <a:ext cx="27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6BD98A"/>
                </a:solidFill>
                <a:latin typeface="맑은 고딕"/>
              </a:rPr>
              <a:t>180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48000" y="1080000"/>
            <a:ext cx="27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  <a:latin typeface="맑은 고딕"/>
              </a:rPr>
              <a:t>메모리
(헤이터)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48000" y="1332000"/>
            <a:ext cx="27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6B6B"/>
                </a:solidFill>
                <a:latin typeface="맑은 고딕"/>
              </a:rPr>
              <a:t>60 mb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48000" y="1835999"/>
            <a:ext cx="27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AAAABB"/>
                </a:solidFill>
                <a:latin typeface="맑은 고딕"/>
              </a:rPr>
              <a:t>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48000" y="2124000"/>
            <a:ext cx="27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6BD98A"/>
                </a:solidFill>
                <a:latin typeface="맑은 고딕"/>
              </a:rPr>
              <a:t>15 mb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28000" y="1080000"/>
            <a:ext cx="27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  <a:latin typeface="맑은 고딕"/>
              </a:rPr>
              <a:t>트래픽
(마네킹)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28000" y="1332000"/>
            <a:ext cx="27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6B6B"/>
                </a:solidFill>
                <a:latin typeface="맑은 고딕"/>
              </a:rPr>
              <a:t>기준치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28000" y="1835999"/>
            <a:ext cx="27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AAAABB"/>
                </a:solidFill>
                <a:latin typeface="맑은 고딕"/>
              </a:rPr>
              <a:t>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28000" y="2124000"/>
            <a:ext cx="27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6BD98A"/>
                </a:solidFill>
                <a:latin typeface="맑은 고딕"/>
              </a:rPr>
              <a:t>50% 감소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8000" y="4500000"/>
            <a:ext cx="115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ECDC4"/>
                </a:solidFill>
                <a:latin typeface="맑은 고딕"/>
              </a:rPr>
              <a:t>핵심 역량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36000" y="4860000"/>
            <a:ext cx="3780000" cy="396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44000" y="4914000"/>
            <a:ext cx="3564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Photon 멀티플레이 · Jitter 완화 경험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36000" y="4860000"/>
            <a:ext cx="3780000" cy="396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244000" y="4914000"/>
            <a:ext cx="3564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 err="1">
                <a:solidFill>
                  <a:srgbClr val="FFFFFF"/>
                </a:solidFill>
                <a:latin typeface="맑은 고딕"/>
              </a:rPr>
              <a:t>기획·개발</a:t>
            </a:r>
            <a:r>
              <a:rPr sz="1100" b="0" i="0" dirty="0">
                <a:solidFill>
                  <a:srgbClr val="FFFFFF"/>
                </a:solidFill>
                <a:latin typeface="맑은 고딕"/>
              </a:rPr>
              <a:t> </a:t>
            </a:r>
            <a:r>
              <a:rPr sz="1100" b="0" i="0" dirty="0" err="1">
                <a:solidFill>
                  <a:srgbClr val="FFFFFF"/>
                </a:solidFill>
                <a:latin typeface="맑은 고딕"/>
              </a:rPr>
              <a:t>양면</a:t>
            </a:r>
            <a:r>
              <a:rPr sz="1100" b="0" i="0" dirty="0">
                <a:solidFill>
                  <a:srgbClr val="FFFFFF"/>
                </a:solidFill>
                <a:latin typeface="맑은 고딕"/>
              </a:rPr>
              <a:t> </a:t>
            </a:r>
            <a:r>
              <a:rPr sz="1100" b="0" i="0" dirty="0" err="1">
                <a:solidFill>
                  <a:srgbClr val="FFFFFF"/>
                </a:solidFill>
                <a:latin typeface="맑은 고딕"/>
              </a:rPr>
              <a:t>경험</a:t>
            </a:r>
            <a:r>
              <a:rPr sz="1100" b="0" i="0" dirty="0">
                <a:solidFill>
                  <a:srgbClr val="FFFFFF"/>
                </a:solidFill>
                <a:latin typeface="맑은 고딕"/>
              </a:rPr>
              <a:t> — </a:t>
            </a:r>
            <a:r>
              <a:rPr sz="1100" b="0" i="0" dirty="0" err="1">
                <a:solidFill>
                  <a:srgbClr val="FFFFFF"/>
                </a:solidFill>
                <a:latin typeface="맑은 고딕"/>
              </a:rPr>
              <a:t>기획</a:t>
            </a:r>
            <a:r>
              <a:rPr sz="1100" b="0" i="0" dirty="0">
                <a:solidFill>
                  <a:srgbClr val="FFFFFF"/>
                </a:solidFill>
                <a:latin typeface="맑은 고딕"/>
              </a:rPr>
              <a:t> </a:t>
            </a:r>
            <a:r>
              <a:rPr sz="1100" b="0" i="0" dirty="0" err="1">
                <a:solidFill>
                  <a:srgbClr val="FFFFFF"/>
                </a:solidFill>
                <a:latin typeface="맑은 고딕"/>
              </a:rPr>
              <a:t>총괄</a:t>
            </a:r>
            <a:r>
              <a:rPr sz="1100" b="0" i="0" dirty="0">
                <a:solidFill>
                  <a:srgbClr val="FFFFFF"/>
                </a:solidFill>
                <a:latin typeface="맑은 고딕"/>
              </a:rPr>
              <a:t> 후 </a:t>
            </a:r>
            <a:r>
              <a:rPr sz="1100" b="0" i="0" dirty="0" err="1">
                <a:solidFill>
                  <a:srgbClr val="FFFFFF"/>
                </a:solidFill>
                <a:latin typeface="맑은 고딕"/>
              </a:rPr>
              <a:t>직접</a:t>
            </a:r>
            <a:r>
              <a:rPr sz="1100" b="0" i="0" dirty="0">
                <a:solidFill>
                  <a:srgbClr val="FFFFFF"/>
                </a:solidFill>
                <a:latin typeface="맑은 고딕"/>
              </a:rPr>
              <a:t> </a:t>
            </a:r>
            <a:r>
              <a:rPr sz="1100" b="0" i="0" dirty="0" err="1">
                <a:solidFill>
                  <a:srgbClr val="FFFFFF"/>
                </a:solidFill>
                <a:latin typeface="맑은 고딕"/>
              </a:rPr>
              <a:t>구현</a:t>
            </a:r>
            <a:endParaRPr sz="1100" b="0" i="0" dirty="0">
              <a:solidFill>
                <a:srgbClr val="FFFFFF"/>
              </a:solidFill>
              <a:latin typeface="맑은 고딕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119" cy="648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88000" y="328002"/>
            <a:ext cx="108000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 dirty="0" err="1">
                <a:solidFill>
                  <a:schemeClr val="bg2"/>
                </a:solidFill>
                <a:latin typeface="맑은 고딕"/>
              </a:rPr>
              <a:t>개발</a:t>
            </a:r>
            <a:r>
              <a:rPr sz="2600" b="1" i="0" dirty="0">
                <a:solidFill>
                  <a:schemeClr val="bg2"/>
                </a:solidFill>
                <a:latin typeface="맑은 고딕"/>
              </a:rPr>
              <a:t> </a:t>
            </a:r>
            <a:r>
              <a:rPr sz="2600" b="1" i="0" dirty="0" err="1">
                <a:solidFill>
                  <a:schemeClr val="bg2"/>
                </a:solidFill>
                <a:latin typeface="맑은 고딕"/>
              </a:rPr>
              <a:t>프로젝트</a:t>
            </a:r>
            <a:endParaRPr sz="2600" b="1" i="0" dirty="0">
              <a:solidFill>
                <a:schemeClr val="bg2"/>
              </a:solidFill>
              <a:latin typeface="맑은 고딕"/>
            </a:endParaRPr>
          </a:p>
        </p:txBody>
      </p:sp>
      <p:sp>
        <p:nvSpPr>
          <p:cNvPr id="40" name="Rectangle 1">
            <a:extLst>
              <a:ext uri="{FF2B5EF4-FFF2-40B4-BE49-F238E27FC236}">
                <a16:creationId xmlns:a16="http://schemas.microsoft.com/office/drawing/2014/main" id="{58BD59E3-A0A5-48F7-976D-0EB19C8C216F}"/>
              </a:ext>
            </a:extLst>
          </p:cNvPr>
          <p:cNvSpPr/>
          <p:nvPr/>
        </p:nvSpPr>
        <p:spPr>
          <a:xfrm>
            <a:off x="0" y="6802623"/>
            <a:ext cx="12192119" cy="648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614808BA-B8FF-4EA6-B113-C46C0A34D5AC}"/>
              </a:ext>
            </a:extLst>
          </p:cNvPr>
          <p:cNvGrpSpPr/>
          <p:nvPr/>
        </p:nvGrpSpPr>
        <p:grpSpPr>
          <a:xfrm>
            <a:off x="280479" y="1226650"/>
            <a:ext cx="11631042" cy="4448273"/>
            <a:chOff x="280479" y="1226650"/>
            <a:chExt cx="11631042" cy="4448273"/>
          </a:xfrm>
        </p:grpSpPr>
        <p:grpSp>
          <p:nvGrpSpPr>
            <p:cNvPr id="39" name="그룹 38">
              <a:extLst>
                <a:ext uri="{FF2B5EF4-FFF2-40B4-BE49-F238E27FC236}">
                  <a16:creationId xmlns:a16="http://schemas.microsoft.com/office/drawing/2014/main" id="{D1F54AF5-1061-4C0F-9548-F18060870E0D}"/>
                </a:ext>
              </a:extLst>
            </p:cNvPr>
            <p:cNvGrpSpPr/>
            <p:nvPr/>
          </p:nvGrpSpPr>
          <p:grpSpPr>
            <a:xfrm>
              <a:off x="280479" y="1226650"/>
              <a:ext cx="11631042" cy="4448273"/>
              <a:chOff x="288000" y="1279514"/>
              <a:chExt cx="11631042" cy="4448273"/>
            </a:xfrm>
          </p:grpSpPr>
          <p:pic>
            <p:nvPicPr>
              <p:cNvPr id="30" name="그림 29">
                <a:extLst>
                  <a:ext uri="{FF2B5EF4-FFF2-40B4-BE49-F238E27FC236}">
                    <a16:creationId xmlns:a16="http://schemas.microsoft.com/office/drawing/2014/main" id="{A5AEBE0E-62A1-4F0B-9490-FA4534620C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88000" y="1279514"/>
                <a:ext cx="3785228" cy="2111985"/>
              </a:xfrm>
              <a:prstGeom prst="rect">
                <a:avLst/>
              </a:prstGeom>
            </p:spPr>
          </p:pic>
          <p:pic>
            <p:nvPicPr>
              <p:cNvPr id="32" name="그림 31">
                <a:extLst>
                  <a:ext uri="{FF2B5EF4-FFF2-40B4-BE49-F238E27FC236}">
                    <a16:creationId xmlns:a16="http://schemas.microsoft.com/office/drawing/2014/main" id="{0383436F-9C44-4111-B74A-E8FFC6EBD12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212000" y="1279514"/>
                <a:ext cx="3781521" cy="2128073"/>
              </a:xfrm>
              <a:prstGeom prst="rect">
                <a:avLst/>
              </a:prstGeom>
            </p:spPr>
          </p:pic>
          <p:pic>
            <p:nvPicPr>
              <p:cNvPr id="34" name="그림 33">
                <a:extLst>
                  <a:ext uri="{FF2B5EF4-FFF2-40B4-BE49-F238E27FC236}">
                    <a16:creationId xmlns:a16="http://schemas.microsoft.com/office/drawing/2014/main" id="{F5B08569-A136-4897-8C03-96F8EF0ED2D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137521" y="1279514"/>
                <a:ext cx="3781521" cy="2115126"/>
              </a:xfrm>
              <a:prstGeom prst="rect">
                <a:avLst/>
              </a:prstGeom>
            </p:spPr>
          </p:pic>
          <p:grpSp>
            <p:nvGrpSpPr>
              <p:cNvPr id="38" name="그룹 37">
                <a:extLst>
                  <a:ext uri="{FF2B5EF4-FFF2-40B4-BE49-F238E27FC236}">
                    <a16:creationId xmlns:a16="http://schemas.microsoft.com/office/drawing/2014/main" id="{5FAF597F-9691-4642-87E9-BD237870AD2D}"/>
                  </a:ext>
                </a:extLst>
              </p:cNvPr>
              <p:cNvGrpSpPr/>
              <p:nvPr/>
            </p:nvGrpSpPr>
            <p:grpSpPr>
              <a:xfrm>
                <a:off x="4212000" y="3378787"/>
                <a:ext cx="3780000" cy="2349000"/>
                <a:chOff x="4212000" y="1080000"/>
                <a:chExt cx="3780000" cy="2349000"/>
              </a:xfrm>
            </p:grpSpPr>
            <p:sp>
              <p:nvSpPr>
                <p:cNvPr id="12" name="Rectangle 11"/>
                <p:cNvSpPr/>
                <p:nvPr/>
              </p:nvSpPr>
              <p:spPr>
                <a:xfrm>
                  <a:off x="4212000" y="1080000"/>
                  <a:ext cx="3780000" cy="2349000"/>
                </a:xfrm>
                <a:prstGeom prst="rect">
                  <a:avLst/>
                </a:prstGeom>
                <a:solidFill>
                  <a:srgbClr val="787878">
                    <a:alpha val="69804"/>
                  </a:srgb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13" name="Rectangle 12"/>
                <p:cNvSpPr/>
                <p:nvPr/>
              </p:nvSpPr>
              <p:spPr>
                <a:xfrm>
                  <a:off x="4212000" y="1080000"/>
                  <a:ext cx="3780000" cy="28800"/>
                </a:xfrm>
                <a:prstGeom prst="rect">
                  <a:avLst/>
                </a:prstGeom>
                <a:solidFill>
                  <a:schemeClr val="bg2"/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/>
                </a:p>
              </p:txBody>
            </p:sp>
            <p:grpSp>
              <p:nvGrpSpPr>
                <p:cNvPr id="27" name="그룹 26">
                  <a:extLst>
                    <a:ext uri="{FF2B5EF4-FFF2-40B4-BE49-F238E27FC236}">
                      <a16:creationId xmlns:a16="http://schemas.microsoft.com/office/drawing/2014/main" id="{740A5FAE-4A68-47D7-8D42-7632B8BDFB8F}"/>
                    </a:ext>
                  </a:extLst>
                </p:cNvPr>
                <p:cNvGrpSpPr/>
                <p:nvPr/>
              </p:nvGrpSpPr>
              <p:grpSpPr>
                <a:xfrm>
                  <a:off x="4320000" y="1152000"/>
                  <a:ext cx="3564000" cy="1620000"/>
                  <a:chOff x="4320000" y="1152000"/>
                  <a:chExt cx="3564000" cy="1620000"/>
                </a:xfrm>
              </p:grpSpPr>
              <p:sp>
                <p:nvSpPr>
                  <p:cNvPr id="14" name="TextBox 13"/>
                  <p:cNvSpPr txBox="1"/>
                  <p:nvPr/>
                </p:nvSpPr>
                <p:spPr>
                  <a:xfrm>
                    <a:off x="4320000" y="1152000"/>
                    <a:ext cx="356400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l"/>
                    <a:r>
                      <a:rPr sz="1800" b="1" i="0" dirty="0" err="1">
                        <a:solidFill>
                          <a:schemeClr val="bg2"/>
                        </a:solidFill>
                        <a:latin typeface="맑은 고딕"/>
                      </a:rPr>
                      <a:t>마네킹</a:t>
                    </a:r>
                    <a:r>
                      <a:rPr sz="1800" b="1" i="0" dirty="0">
                        <a:solidFill>
                          <a:schemeClr val="bg2"/>
                        </a:solidFill>
                        <a:latin typeface="맑은 고딕"/>
                      </a:rPr>
                      <a:t>: </a:t>
                    </a:r>
                    <a:r>
                      <a:rPr sz="1800" b="1" i="0" dirty="0" err="1">
                        <a:solidFill>
                          <a:schemeClr val="bg2"/>
                        </a:solidFill>
                        <a:latin typeface="맑은 고딕"/>
                      </a:rPr>
                      <a:t>헌티드</a:t>
                    </a:r>
                    <a:r>
                      <a:rPr sz="1800" b="1" i="0" dirty="0">
                        <a:solidFill>
                          <a:schemeClr val="bg2"/>
                        </a:solidFill>
                        <a:latin typeface="맑은 고딕"/>
                      </a:rPr>
                      <a:t> 몰</a:t>
                    </a:r>
                  </a:p>
                </p:txBody>
              </p:sp>
              <p:sp>
                <p:nvSpPr>
                  <p:cNvPr id="15" name="TextBox 14"/>
                  <p:cNvSpPr txBox="1"/>
                  <p:nvPr/>
                </p:nvSpPr>
                <p:spPr>
                  <a:xfrm>
                    <a:off x="4320000" y="1548000"/>
                    <a:ext cx="3564000" cy="251999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l"/>
                    <a:r>
                      <a:rPr sz="1000" b="0" i="0" dirty="0">
                        <a:solidFill>
                          <a:schemeClr val="bg2"/>
                        </a:solidFill>
                        <a:latin typeface="맑은 고딕"/>
                      </a:rPr>
                      <a:t>2026-02-20 ~ 03-25  |  6인  |  Unity, Photon PUN2</a:t>
                    </a:r>
                  </a:p>
                </p:txBody>
              </p:sp>
              <p:sp>
                <p:nvSpPr>
                  <p:cNvPr id="16" name="TextBox 15"/>
                  <p:cNvSpPr txBox="1"/>
                  <p:nvPr/>
                </p:nvSpPr>
                <p:spPr>
                  <a:xfrm>
                    <a:off x="4320000" y="1872000"/>
                    <a:ext cx="3564000" cy="28800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l"/>
                    <a:r>
                      <a:rPr sz="1200" b="0" i="0" dirty="0">
                        <a:solidFill>
                          <a:schemeClr val="bg2"/>
                        </a:solidFill>
                        <a:latin typeface="맑은 고딕"/>
                      </a:rPr>
                      <a:t>•  </a:t>
                    </a:r>
                    <a:r>
                      <a:rPr sz="1200" b="0" i="0" dirty="0" err="1">
                        <a:solidFill>
                          <a:schemeClr val="bg2"/>
                        </a:solidFill>
                        <a:latin typeface="맑은 고딕"/>
                      </a:rPr>
                      <a:t>비대칭</a:t>
                    </a:r>
                    <a:r>
                      <a:rPr sz="1200" b="0" i="0" dirty="0">
                        <a:solidFill>
                          <a:schemeClr val="bg2"/>
                        </a:solidFill>
                        <a:latin typeface="맑은 고딕"/>
                      </a:rPr>
                      <a:t> PVP</a:t>
                    </a:r>
                  </a:p>
                </p:txBody>
              </p:sp>
              <p:sp>
                <p:nvSpPr>
                  <p:cNvPr id="17" name="TextBox 16"/>
                  <p:cNvSpPr txBox="1"/>
                  <p:nvPr/>
                </p:nvSpPr>
                <p:spPr>
                  <a:xfrm>
                    <a:off x="4320000" y="2178000"/>
                    <a:ext cx="3564000" cy="28800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l"/>
                    <a:r>
                      <a:rPr lang="en-US" altLang="ko-KR" sz="1200" b="0" i="0" dirty="0">
                        <a:solidFill>
                          <a:schemeClr val="bg2"/>
                        </a:solidFill>
                        <a:latin typeface="맑은 고딕"/>
                      </a:rPr>
                      <a:t>•  </a:t>
                    </a:r>
                    <a:r>
                      <a:rPr lang="ko-KR" altLang="en-US" sz="1200" b="0" i="0" dirty="0">
                        <a:solidFill>
                          <a:schemeClr val="bg2"/>
                        </a:solidFill>
                        <a:latin typeface="맑은 고딕"/>
                      </a:rPr>
                      <a:t>살인마 진영 시스템 구현</a:t>
                    </a:r>
                  </a:p>
                </p:txBody>
              </p:sp>
              <p:sp>
                <p:nvSpPr>
                  <p:cNvPr id="18" name="TextBox 17"/>
                  <p:cNvSpPr txBox="1"/>
                  <p:nvPr/>
                </p:nvSpPr>
                <p:spPr>
                  <a:xfrm>
                    <a:off x="4320000" y="2484000"/>
                    <a:ext cx="3564000" cy="28800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l"/>
                    <a:r>
                      <a:rPr lang="en-US" altLang="ko-KR" sz="1200" b="0" i="0" dirty="0">
                        <a:solidFill>
                          <a:schemeClr val="bg2"/>
                        </a:solidFill>
                        <a:latin typeface="맑은 고딕"/>
                      </a:rPr>
                      <a:t>•  </a:t>
                    </a:r>
                    <a:r>
                      <a:rPr lang="ko-KR" altLang="en-US" sz="1200" b="0" i="0" dirty="0">
                        <a:solidFill>
                          <a:schemeClr val="bg2"/>
                        </a:solidFill>
                        <a:latin typeface="맑은 고딕"/>
                      </a:rPr>
                      <a:t>상호작용 시스템 구현</a:t>
                    </a:r>
                  </a:p>
                </p:txBody>
              </p:sp>
            </p:grpSp>
          </p:grpSp>
          <p:grpSp>
            <p:nvGrpSpPr>
              <p:cNvPr id="36" name="그룹 35">
                <a:extLst>
                  <a:ext uri="{FF2B5EF4-FFF2-40B4-BE49-F238E27FC236}">
                    <a16:creationId xmlns:a16="http://schemas.microsoft.com/office/drawing/2014/main" id="{C4F30F87-A853-45B5-91E5-D53A0F7F28EE}"/>
                  </a:ext>
                </a:extLst>
              </p:cNvPr>
              <p:cNvGrpSpPr/>
              <p:nvPr/>
            </p:nvGrpSpPr>
            <p:grpSpPr>
              <a:xfrm>
                <a:off x="288000" y="3378787"/>
                <a:ext cx="3780000" cy="2349000"/>
                <a:chOff x="288000" y="1080000"/>
                <a:chExt cx="3780000" cy="2349000"/>
              </a:xfrm>
            </p:grpSpPr>
            <p:sp>
              <p:nvSpPr>
                <p:cNvPr id="5" name="Rectangle 4"/>
                <p:cNvSpPr/>
                <p:nvPr/>
              </p:nvSpPr>
              <p:spPr>
                <a:xfrm>
                  <a:off x="288000" y="1080000"/>
                  <a:ext cx="3780000" cy="2349000"/>
                </a:xfrm>
                <a:prstGeom prst="rect">
                  <a:avLst/>
                </a:prstGeom>
                <a:solidFill>
                  <a:srgbClr val="780000">
                    <a:alpha val="69804"/>
                  </a:srgb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6" name="Rectangle 5"/>
                <p:cNvSpPr/>
                <p:nvPr/>
              </p:nvSpPr>
              <p:spPr>
                <a:xfrm>
                  <a:off x="288000" y="1080000"/>
                  <a:ext cx="3780000" cy="28800"/>
                </a:xfrm>
                <a:prstGeom prst="rect">
                  <a:avLst/>
                </a:prstGeom>
                <a:solidFill>
                  <a:schemeClr val="bg2"/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/>
                </a:p>
              </p:txBody>
            </p:sp>
            <p:grpSp>
              <p:nvGrpSpPr>
                <p:cNvPr id="28" name="그룹 27">
                  <a:extLst>
                    <a:ext uri="{FF2B5EF4-FFF2-40B4-BE49-F238E27FC236}">
                      <a16:creationId xmlns:a16="http://schemas.microsoft.com/office/drawing/2014/main" id="{F52E8602-2B60-4A5C-9DEE-F5037BE62102}"/>
                    </a:ext>
                  </a:extLst>
                </p:cNvPr>
                <p:cNvGrpSpPr/>
                <p:nvPr/>
              </p:nvGrpSpPr>
              <p:grpSpPr>
                <a:xfrm>
                  <a:off x="396000" y="1152000"/>
                  <a:ext cx="3564000" cy="1620000"/>
                  <a:chOff x="8244000" y="1152000"/>
                  <a:chExt cx="3564000" cy="1620000"/>
                </a:xfrm>
              </p:grpSpPr>
              <p:sp>
                <p:nvSpPr>
                  <p:cNvPr id="21" name="TextBox 20"/>
                  <p:cNvSpPr txBox="1"/>
                  <p:nvPr/>
                </p:nvSpPr>
                <p:spPr>
                  <a:xfrm>
                    <a:off x="8244000" y="1152000"/>
                    <a:ext cx="356400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l"/>
                    <a:r>
                      <a:rPr sz="1800" b="1" i="0" dirty="0" err="1">
                        <a:solidFill>
                          <a:schemeClr val="bg2"/>
                        </a:solidFill>
                        <a:latin typeface="맑은 고딕"/>
                      </a:rPr>
                      <a:t>프라가라흐</a:t>
                    </a:r>
                    <a:endParaRPr sz="1800" b="1" i="0" dirty="0">
                      <a:solidFill>
                        <a:schemeClr val="bg2"/>
                      </a:solidFill>
                      <a:latin typeface="맑은 고딕"/>
                    </a:endParaRPr>
                  </a:p>
                </p:txBody>
              </p:sp>
              <p:sp>
                <p:nvSpPr>
                  <p:cNvPr id="22" name="TextBox 21"/>
                  <p:cNvSpPr txBox="1"/>
                  <p:nvPr/>
                </p:nvSpPr>
                <p:spPr>
                  <a:xfrm>
                    <a:off x="8244000" y="1548000"/>
                    <a:ext cx="3564000" cy="251999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l"/>
                    <a:r>
                      <a:rPr sz="1000" b="0" i="0" dirty="0">
                        <a:solidFill>
                          <a:schemeClr val="bg2"/>
                        </a:solidFill>
                        <a:latin typeface="맑은 고딕"/>
                      </a:rPr>
                      <a:t>2025-09-30 ~ 12-25  |  2인  |  Phaser, Django, Vue</a:t>
                    </a:r>
                  </a:p>
                </p:txBody>
              </p:sp>
              <p:sp>
                <p:nvSpPr>
                  <p:cNvPr id="23" name="TextBox 22"/>
                  <p:cNvSpPr txBox="1"/>
                  <p:nvPr/>
                </p:nvSpPr>
                <p:spPr>
                  <a:xfrm>
                    <a:off x="8244000" y="1872000"/>
                    <a:ext cx="3564000" cy="28800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l"/>
                    <a:r>
                      <a:rPr sz="1200" b="0" i="0" dirty="0">
                        <a:solidFill>
                          <a:schemeClr val="bg2"/>
                        </a:solidFill>
                        <a:latin typeface="맑은 고딕"/>
                      </a:rPr>
                      <a:t>•  2D RPG</a:t>
                    </a:r>
                    <a:r>
                      <a:rPr lang="en-US" sz="1200" b="0" i="0" dirty="0">
                        <a:solidFill>
                          <a:schemeClr val="bg2"/>
                        </a:solidFill>
                        <a:latin typeface="맑은 고딕"/>
                      </a:rPr>
                      <a:t> </a:t>
                    </a:r>
                    <a:r>
                      <a:rPr lang="en-US" sz="1200" dirty="0">
                        <a:solidFill>
                          <a:schemeClr val="bg2"/>
                        </a:solidFill>
                        <a:latin typeface="맑은 고딕"/>
                      </a:rPr>
                      <a:t>Web</a:t>
                    </a:r>
                    <a:r>
                      <a:rPr lang="ko-KR" altLang="en-US" sz="1200" dirty="0">
                        <a:solidFill>
                          <a:schemeClr val="bg2"/>
                        </a:solidFill>
                        <a:latin typeface="맑은 고딕"/>
                      </a:rPr>
                      <a:t> 게임</a:t>
                    </a:r>
                    <a:endParaRPr sz="1200" b="0" i="0" dirty="0">
                      <a:solidFill>
                        <a:schemeClr val="bg2"/>
                      </a:solidFill>
                      <a:latin typeface="맑은 고딕"/>
                    </a:endParaRPr>
                  </a:p>
                </p:txBody>
              </p:sp>
              <p:sp>
                <p:nvSpPr>
                  <p:cNvPr id="24" name="TextBox 23"/>
                  <p:cNvSpPr txBox="1"/>
                  <p:nvPr/>
                </p:nvSpPr>
                <p:spPr>
                  <a:xfrm>
                    <a:off x="8244000" y="2178000"/>
                    <a:ext cx="3564000" cy="28800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l"/>
                    <a:r>
                      <a:rPr lang="en-US" altLang="ko-KR" sz="1200" b="0" i="0" dirty="0">
                        <a:solidFill>
                          <a:schemeClr val="bg2"/>
                        </a:solidFill>
                        <a:latin typeface="맑은 고딕"/>
                      </a:rPr>
                      <a:t>•  API </a:t>
                    </a:r>
                    <a:r>
                      <a:rPr lang="ko-KR" altLang="en-US" sz="1200" b="0" i="0" dirty="0">
                        <a:solidFill>
                          <a:schemeClr val="bg2"/>
                        </a:solidFill>
                        <a:latin typeface="맑은 고딕"/>
                      </a:rPr>
                      <a:t>서버 구축</a:t>
                    </a:r>
                  </a:p>
                </p:txBody>
              </p:sp>
              <p:sp>
                <p:nvSpPr>
                  <p:cNvPr id="25" name="TextBox 24"/>
                  <p:cNvSpPr txBox="1"/>
                  <p:nvPr/>
                </p:nvSpPr>
                <p:spPr>
                  <a:xfrm>
                    <a:off x="8244000" y="2484000"/>
                    <a:ext cx="3564000" cy="28800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l"/>
                    <a:r>
                      <a:rPr lang="en-US" altLang="ko-KR" sz="1200" b="0" i="0" dirty="0">
                        <a:solidFill>
                          <a:schemeClr val="bg2"/>
                        </a:solidFill>
                        <a:latin typeface="맑은 고딕"/>
                      </a:rPr>
                      <a:t>•  </a:t>
                    </a:r>
                    <a:r>
                      <a:rPr lang="ko-KR" altLang="en-US" sz="1200" b="0" i="0" dirty="0">
                        <a:solidFill>
                          <a:schemeClr val="bg2"/>
                        </a:solidFill>
                        <a:latin typeface="맑은 고딕"/>
                      </a:rPr>
                      <a:t>주요 클라이언트 시스템 설계</a:t>
                    </a:r>
                  </a:p>
                </p:txBody>
              </p:sp>
            </p:grpSp>
          </p:grpSp>
          <p:grpSp>
            <p:nvGrpSpPr>
              <p:cNvPr id="37" name="그룹 36">
                <a:extLst>
                  <a:ext uri="{FF2B5EF4-FFF2-40B4-BE49-F238E27FC236}">
                    <a16:creationId xmlns:a16="http://schemas.microsoft.com/office/drawing/2014/main" id="{AC6D9E57-F121-4375-B2D4-CB8ADDED204A}"/>
                  </a:ext>
                </a:extLst>
              </p:cNvPr>
              <p:cNvGrpSpPr/>
              <p:nvPr/>
            </p:nvGrpSpPr>
            <p:grpSpPr>
              <a:xfrm>
                <a:off x="8139042" y="3378787"/>
                <a:ext cx="3780000" cy="2349000"/>
                <a:chOff x="8136000" y="1080000"/>
                <a:chExt cx="3780000" cy="2349000"/>
              </a:xfrm>
            </p:grpSpPr>
            <p:sp>
              <p:nvSpPr>
                <p:cNvPr id="19" name="Rectangle 18"/>
                <p:cNvSpPr/>
                <p:nvPr/>
              </p:nvSpPr>
              <p:spPr>
                <a:xfrm>
                  <a:off x="8136000" y="1080000"/>
                  <a:ext cx="3780000" cy="2349000"/>
                </a:xfrm>
                <a:prstGeom prst="rect">
                  <a:avLst/>
                </a:prstGeom>
                <a:solidFill>
                  <a:srgbClr val="996633">
                    <a:alpha val="69804"/>
                  </a:srgb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20" name="Rectangle 19"/>
                <p:cNvSpPr/>
                <p:nvPr/>
              </p:nvSpPr>
              <p:spPr>
                <a:xfrm>
                  <a:off x="8136000" y="1080000"/>
                  <a:ext cx="3780000" cy="28800"/>
                </a:xfrm>
                <a:prstGeom prst="rect">
                  <a:avLst/>
                </a:prstGeom>
                <a:solidFill>
                  <a:schemeClr val="bg2"/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/>
                </a:p>
              </p:txBody>
            </p:sp>
            <p:grpSp>
              <p:nvGrpSpPr>
                <p:cNvPr id="26" name="그룹 25">
                  <a:extLst>
                    <a:ext uri="{FF2B5EF4-FFF2-40B4-BE49-F238E27FC236}">
                      <a16:creationId xmlns:a16="http://schemas.microsoft.com/office/drawing/2014/main" id="{19DAF0C6-9AC7-41FE-B0E0-609280316FCF}"/>
                    </a:ext>
                  </a:extLst>
                </p:cNvPr>
                <p:cNvGrpSpPr/>
                <p:nvPr/>
              </p:nvGrpSpPr>
              <p:grpSpPr>
                <a:xfrm>
                  <a:off x="8244000" y="1152000"/>
                  <a:ext cx="3564000" cy="2237391"/>
                  <a:chOff x="396000" y="1152000"/>
                  <a:chExt cx="3564000" cy="2237391"/>
                </a:xfrm>
              </p:grpSpPr>
              <p:sp>
                <p:nvSpPr>
                  <p:cNvPr id="7" name="TextBox 6"/>
                  <p:cNvSpPr txBox="1"/>
                  <p:nvPr/>
                </p:nvSpPr>
                <p:spPr>
                  <a:xfrm>
                    <a:off x="396000" y="1152000"/>
                    <a:ext cx="356400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l"/>
                    <a:r>
                      <a:rPr sz="1800" b="1" i="0" dirty="0" err="1">
                        <a:solidFill>
                          <a:schemeClr val="bg2"/>
                        </a:solidFill>
                        <a:latin typeface="맑은 고딕"/>
                      </a:rPr>
                      <a:t>헤이터</a:t>
                    </a:r>
                    <a:endParaRPr sz="1800" b="1" i="0" dirty="0">
                      <a:solidFill>
                        <a:schemeClr val="bg2"/>
                      </a:solidFill>
                      <a:latin typeface="맑은 고딕"/>
                    </a:endParaRPr>
                  </a:p>
                </p:txBody>
              </p:sp>
              <p:sp>
                <p:nvSpPr>
                  <p:cNvPr id="8" name="TextBox 7"/>
                  <p:cNvSpPr txBox="1"/>
                  <p:nvPr/>
                </p:nvSpPr>
                <p:spPr>
                  <a:xfrm>
                    <a:off x="396000" y="1548000"/>
                    <a:ext cx="3564000" cy="251999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l"/>
                    <a:r>
                      <a:rPr sz="1000" b="0" i="0" dirty="0">
                        <a:solidFill>
                          <a:schemeClr val="bg2"/>
                        </a:solidFill>
                        <a:latin typeface="맑은 고딕"/>
                      </a:rPr>
                      <a:t>2026-04-22 ~ 05-21  |  6인  |  Unity, Spring, React</a:t>
                    </a:r>
                  </a:p>
                </p:txBody>
              </p:sp>
              <p:sp>
                <p:nvSpPr>
                  <p:cNvPr id="9" name="TextBox 8"/>
                  <p:cNvSpPr txBox="1"/>
                  <p:nvPr/>
                </p:nvSpPr>
                <p:spPr>
                  <a:xfrm>
                    <a:off x="396000" y="1872000"/>
                    <a:ext cx="3564000" cy="28800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l"/>
                    <a:r>
                      <a:rPr sz="1200" b="0" i="0" dirty="0">
                        <a:solidFill>
                          <a:schemeClr val="bg2"/>
                        </a:solidFill>
                        <a:latin typeface="맑은 고딕"/>
                      </a:rPr>
                      <a:t>•  </a:t>
                    </a:r>
                    <a:r>
                      <a:rPr sz="1200" b="0" i="0" dirty="0" err="1">
                        <a:solidFill>
                          <a:schemeClr val="bg2"/>
                        </a:solidFill>
                        <a:latin typeface="맑은 고딕"/>
                      </a:rPr>
                      <a:t>디펜스</a:t>
                    </a:r>
                    <a:r>
                      <a:rPr sz="1200" b="0" i="0" dirty="0">
                        <a:solidFill>
                          <a:schemeClr val="bg2"/>
                        </a:solidFill>
                        <a:latin typeface="맑은 고딕"/>
                      </a:rPr>
                      <a:t> </a:t>
                    </a:r>
                    <a:r>
                      <a:rPr lang="en-US" sz="1200" dirty="0">
                        <a:solidFill>
                          <a:schemeClr val="bg2"/>
                        </a:solidFill>
                        <a:latin typeface="맑은 고딕"/>
                      </a:rPr>
                      <a:t>Web</a:t>
                    </a:r>
                    <a:r>
                      <a:rPr sz="1200" b="0" i="0" dirty="0">
                        <a:solidFill>
                          <a:schemeClr val="bg2"/>
                        </a:solidFill>
                        <a:latin typeface="맑은 고딕"/>
                      </a:rPr>
                      <a:t> </a:t>
                    </a:r>
                    <a:r>
                      <a:rPr sz="1200" b="0" i="0" dirty="0" err="1">
                        <a:solidFill>
                          <a:schemeClr val="bg2"/>
                        </a:solidFill>
                        <a:latin typeface="맑은 고딕"/>
                      </a:rPr>
                      <a:t>게임</a:t>
                    </a:r>
                    <a:endParaRPr sz="1200" b="0" i="0" dirty="0">
                      <a:solidFill>
                        <a:schemeClr val="bg2"/>
                      </a:solidFill>
                      <a:latin typeface="맑은 고딕"/>
                    </a:endParaRPr>
                  </a:p>
                </p:txBody>
              </p:sp>
              <p:sp>
                <p:nvSpPr>
                  <p:cNvPr id="10" name="TextBox 9"/>
                  <p:cNvSpPr txBox="1"/>
                  <p:nvPr/>
                </p:nvSpPr>
                <p:spPr>
                  <a:xfrm>
                    <a:off x="396000" y="2178000"/>
                    <a:ext cx="3564000" cy="28800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l"/>
                    <a:r>
                      <a:rPr sz="1200" b="0" i="0" dirty="0">
                        <a:solidFill>
                          <a:schemeClr val="bg2"/>
                        </a:solidFill>
                        <a:latin typeface="맑은 고딕"/>
                      </a:rPr>
                      <a:t>•  </a:t>
                    </a:r>
                    <a:r>
                      <a:rPr sz="1200" b="0" i="0" dirty="0" err="1">
                        <a:solidFill>
                          <a:schemeClr val="bg2"/>
                        </a:solidFill>
                        <a:latin typeface="맑은 고딕"/>
                      </a:rPr>
                      <a:t>기획</a:t>
                    </a:r>
                    <a:r>
                      <a:rPr sz="1200" b="0" i="0" dirty="0">
                        <a:solidFill>
                          <a:schemeClr val="bg2"/>
                        </a:solidFill>
                        <a:latin typeface="맑은 고딕"/>
                      </a:rPr>
                      <a:t> </a:t>
                    </a:r>
                    <a:r>
                      <a:rPr sz="1200" b="0" i="0" dirty="0" err="1">
                        <a:solidFill>
                          <a:schemeClr val="bg2"/>
                        </a:solidFill>
                        <a:latin typeface="맑은 고딕"/>
                      </a:rPr>
                      <a:t>총괄</a:t>
                    </a:r>
                    <a:endParaRPr sz="1200" b="0" i="0" dirty="0">
                      <a:solidFill>
                        <a:schemeClr val="bg2"/>
                      </a:solidFill>
                      <a:latin typeface="맑은 고딕"/>
                    </a:endParaRPr>
                  </a:p>
                </p:txBody>
              </p:sp>
              <p:sp>
                <p:nvSpPr>
                  <p:cNvPr id="11" name="TextBox 10"/>
                  <p:cNvSpPr txBox="1"/>
                  <p:nvPr/>
                </p:nvSpPr>
                <p:spPr>
                  <a:xfrm>
                    <a:off x="396000" y="2484000"/>
                    <a:ext cx="3564000" cy="28800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l"/>
                    <a:r>
                      <a:rPr sz="1200" b="0" i="0" dirty="0">
                        <a:solidFill>
                          <a:schemeClr val="bg2"/>
                        </a:solidFill>
                        <a:latin typeface="맑은 고딕"/>
                      </a:rPr>
                      <a:t>•  </a:t>
                    </a:r>
                    <a:r>
                      <a:rPr lang="ko-KR" altLang="en-US" sz="1200" dirty="0">
                        <a:solidFill>
                          <a:schemeClr val="bg2"/>
                        </a:solidFill>
                        <a:latin typeface="맑은 고딕"/>
                      </a:rPr>
                      <a:t>시스템 설계 </a:t>
                    </a:r>
                    <a:r>
                      <a:rPr lang="en-US" altLang="ko-KR" sz="1200" dirty="0">
                        <a:solidFill>
                          <a:schemeClr val="bg2"/>
                        </a:solidFill>
                        <a:latin typeface="맑은 고딕"/>
                      </a:rPr>
                      <a:t>(Singleton, </a:t>
                    </a:r>
                    <a:r>
                      <a:rPr lang="ko-KR" altLang="en-US" sz="1200" dirty="0">
                        <a:solidFill>
                          <a:schemeClr val="bg2"/>
                        </a:solidFill>
                        <a:latin typeface="맑은 고딕"/>
                      </a:rPr>
                      <a:t>게임 세션</a:t>
                    </a:r>
                    <a:r>
                      <a:rPr lang="en-US" altLang="ko-KR" sz="1200" dirty="0">
                        <a:solidFill>
                          <a:schemeClr val="bg2"/>
                        </a:solidFill>
                        <a:latin typeface="맑은 고딕"/>
                      </a:rPr>
                      <a:t>)</a:t>
                    </a:r>
                    <a:endParaRPr sz="1200" b="0" i="0" dirty="0">
                      <a:solidFill>
                        <a:schemeClr val="bg2"/>
                      </a:solidFill>
                      <a:latin typeface="맑은 고딕"/>
                    </a:endParaRPr>
                  </a:p>
                </p:txBody>
              </p:sp>
              <p:sp>
                <p:nvSpPr>
                  <p:cNvPr id="77" name="TextBox 76">
                    <a:extLst>
                      <a:ext uri="{FF2B5EF4-FFF2-40B4-BE49-F238E27FC236}">
                        <a16:creationId xmlns:a16="http://schemas.microsoft.com/office/drawing/2014/main" id="{D1348604-A212-45FA-BE21-58099611BE0B}"/>
                      </a:ext>
                    </a:extLst>
                  </p:cNvPr>
                  <p:cNvSpPr txBox="1"/>
                  <p:nvPr/>
                </p:nvSpPr>
                <p:spPr>
                  <a:xfrm>
                    <a:off x="396000" y="2792435"/>
                    <a:ext cx="3564000" cy="28800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l"/>
                    <a:r>
                      <a:rPr sz="1200" b="0" i="0" dirty="0">
                        <a:solidFill>
                          <a:schemeClr val="bg2"/>
                        </a:solidFill>
                        <a:latin typeface="맑은 고딕"/>
                      </a:rPr>
                      <a:t>•  </a:t>
                    </a:r>
                    <a:r>
                      <a:rPr lang="ko-KR" altLang="en-US" sz="1200" dirty="0">
                        <a:solidFill>
                          <a:schemeClr val="bg2"/>
                        </a:solidFill>
                        <a:latin typeface="맑은 고딕"/>
                      </a:rPr>
                      <a:t>디펜스 시스템 구현</a:t>
                    </a:r>
                    <a:endParaRPr sz="1200" b="0" i="0" dirty="0">
                      <a:solidFill>
                        <a:schemeClr val="bg2"/>
                      </a:solidFill>
                      <a:latin typeface="맑은 고딕"/>
                    </a:endParaRPr>
                  </a:p>
                </p:txBody>
              </p:sp>
              <p:sp>
                <p:nvSpPr>
                  <p:cNvPr id="78" name="TextBox 77">
                    <a:extLst>
                      <a:ext uri="{FF2B5EF4-FFF2-40B4-BE49-F238E27FC236}">
                        <a16:creationId xmlns:a16="http://schemas.microsoft.com/office/drawing/2014/main" id="{6DF98493-C51E-4A19-9CBD-B2F83F7D92A7}"/>
                      </a:ext>
                    </a:extLst>
                  </p:cNvPr>
                  <p:cNvSpPr txBox="1"/>
                  <p:nvPr/>
                </p:nvSpPr>
                <p:spPr>
                  <a:xfrm>
                    <a:off x="396000" y="3101391"/>
                    <a:ext cx="3564000" cy="28800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l"/>
                    <a:r>
                      <a:rPr sz="1200" b="0" i="0" dirty="0">
                        <a:solidFill>
                          <a:schemeClr val="bg2"/>
                        </a:solidFill>
                        <a:latin typeface="맑은 고딕"/>
                      </a:rPr>
                      <a:t>•  </a:t>
                    </a:r>
                    <a:r>
                      <a:rPr lang="ko-KR" altLang="en-US" sz="1200" dirty="0">
                        <a:solidFill>
                          <a:schemeClr val="bg2"/>
                        </a:solidFill>
                        <a:latin typeface="맑은 고딕"/>
                      </a:rPr>
                      <a:t>암호화 통신 구현</a:t>
                    </a:r>
                    <a:endParaRPr sz="1200" b="0" i="0" dirty="0">
                      <a:solidFill>
                        <a:schemeClr val="bg2"/>
                      </a:solidFill>
                      <a:latin typeface="맑은 고딕"/>
                    </a:endParaRPr>
                  </a:p>
                </p:txBody>
              </p:sp>
            </p:grpSp>
          </p:grpSp>
        </p:grp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AEA54209-4AE6-43BF-9927-C100F8B61262}"/>
                </a:ext>
              </a:extLst>
            </p:cNvPr>
            <p:cNvSpPr txBox="1"/>
            <p:nvPr/>
          </p:nvSpPr>
          <p:spPr>
            <a:xfrm>
              <a:off x="388479" y="5035923"/>
              <a:ext cx="3564000" cy="288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lang="en-US" altLang="ko-KR" sz="1200" b="0" i="0" dirty="0">
                  <a:solidFill>
                    <a:schemeClr val="bg2"/>
                  </a:solidFill>
                  <a:latin typeface="맑은 고딕"/>
                </a:rPr>
                <a:t>•  </a:t>
              </a:r>
              <a:r>
                <a:rPr lang="ko-KR" altLang="en-US" sz="1200" b="0" i="0" dirty="0">
                  <a:solidFill>
                    <a:schemeClr val="bg2"/>
                  </a:solidFill>
                  <a:latin typeface="맑은 고딕"/>
                </a:rPr>
                <a:t>비정형 </a:t>
              </a:r>
              <a:r>
                <a:rPr lang="en-US" altLang="ko-KR" sz="1200" b="0" i="0" dirty="0">
                  <a:solidFill>
                    <a:schemeClr val="bg2"/>
                  </a:solidFill>
                  <a:latin typeface="맑은 고딕"/>
                </a:rPr>
                <a:t>AI </a:t>
              </a:r>
              <a:r>
                <a:rPr lang="ko-KR" altLang="en-US" sz="1200" b="0" i="0" dirty="0">
                  <a:solidFill>
                    <a:schemeClr val="bg2"/>
                  </a:solidFill>
                  <a:latin typeface="맑은 고딕"/>
                </a:rPr>
                <a:t>코드 </a:t>
              </a:r>
              <a:r>
                <a:rPr lang="ko-KR" altLang="en-US" sz="1200" b="0" i="0" dirty="0" err="1">
                  <a:solidFill>
                    <a:schemeClr val="bg2"/>
                  </a:solidFill>
                  <a:latin typeface="맑은 고딕"/>
                </a:rPr>
                <a:t>역분석</a:t>
              </a:r>
              <a:r>
                <a:rPr lang="ko-KR" altLang="en-US" sz="1200" b="0" i="0" dirty="0">
                  <a:solidFill>
                    <a:schemeClr val="bg2"/>
                  </a:solidFill>
                  <a:latin typeface="맑은 고딕"/>
                </a:rPr>
                <a:t> 및 재정비</a:t>
              </a:r>
            </a:p>
          </p:txBody>
        </p:sp>
      </p:grpSp>
      <p:grpSp>
        <p:nvGrpSpPr>
          <p:cNvPr id="54" name="그룹 53">
            <a:extLst>
              <a:ext uri="{FF2B5EF4-FFF2-40B4-BE49-F238E27FC236}">
                <a16:creationId xmlns:a16="http://schemas.microsoft.com/office/drawing/2014/main" id="{22CC9F1C-6BD0-4D66-B219-B2A563DAE36C}"/>
              </a:ext>
            </a:extLst>
          </p:cNvPr>
          <p:cNvGrpSpPr/>
          <p:nvPr/>
        </p:nvGrpSpPr>
        <p:grpSpPr>
          <a:xfrm>
            <a:off x="4206000" y="6035384"/>
            <a:ext cx="3780000" cy="420256"/>
            <a:chOff x="4206000" y="5672791"/>
            <a:chExt cx="3780000" cy="420256"/>
          </a:xfrm>
        </p:grpSpPr>
        <p:sp>
          <p:nvSpPr>
            <p:cNvPr id="46" name="Rectangle 27">
              <a:extLst>
                <a:ext uri="{FF2B5EF4-FFF2-40B4-BE49-F238E27FC236}">
                  <a16:creationId xmlns:a16="http://schemas.microsoft.com/office/drawing/2014/main" id="{B585CE87-5718-4BCB-B85D-A790BD80F2BC}"/>
                </a:ext>
              </a:extLst>
            </p:cNvPr>
            <p:cNvSpPr/>
            <p:nvPr/>
          </p:nvSpPr>
          <p:spPr>
            <a:xfrm>
              <a:off x="4206000" y="5697047"/>
              <a:ext cx="3780000" cy="396000"/>
            </a:xfrm>
            <a:prstGeom prst="rect">
              <a:avLst/>
            </a:prstGeom>
            <a:solidFill>
              <a:srgbClr val="636363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dirty="0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B0B134E2-AD3E-4DD1-A867-DBAB2A8207CD}"/>
                </a:ext>
              </a:extLst>
            </p:cNvPr>
            <p:cNvSpPr txBox="1"/>
            <p:nvPr/>
          </p:nvSpPr>
          <p:spPr>
            <a:xfrm>
              <a:off x="4206000" y="5761766"/>
              <a:ext cx="3564000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0" i="0" dirty="0">
                  <a:solidFill>
                    <a:schemeClr val="bg2"/>
                  </a:solidFill>
                  <a:latin typeface="맑은 고딕"/>
                </a:rPr>
                <a:t>Occlusion Culling</a:t>
              </a:r>
              <a:r>
                <a:rPr lang="en-US" sz="1100" b="0" i="0" dirty="0">
                  <a:solidFill>
                    <a:schemeClr val="bg2"/>
                  </a:solidFill>
                  <a:latin typeface="맑은 고딕"/>
                </a:rPr>
                <a:t> </a:t>
              </a:r>
              <a:r>
                <a:rPr lang="ko-KR" altLang="en-US" sz="1100" b="0" i="0" dirty="0">
                  <a:solidFill>
                    <a:schemeClr val="bg2"/>
                  </a:solidFill>
                  <a:latin typeface="맑은 고딕"/>
                </a:rPr>
                <a:t>등 기능</a:t>
              </a:r>
              <a:r>
                <a:rPr sz="1100" b="0" i="0" dirty="0">
                  <a:solidFill>
                    <a:schemeClr val="bg2"/>
                  </a:solidFill>
                  <a:latin typeface="맑은 고딕"/>
                </a:rPr>
                <a:t> </a:t>
              </a:r>
              <a:r>
                <a:rPr sz="1100" b="0" i="0" dirty="0" err="1">
                  <a:solidFill>
                    <a:schemeClr val="bg2"/>
                  </a:solidFill>
                  <a:latin typeface="맑은 고딕"/>
                </a:rPr>
                <a:t>최적화</a:t>
              </a:r>
              <a:endParaRPr sz="1100" b="0" i="0" dirty="0">
                <a:solidFill>
                  <a:schemeClr val="bg2"/>
                </a:solidFill>
                <a:latin typeface="맑은 고딕"/>
              </a:endParaRPr>
            </a:p>
          </p:txBody>
        </p:sp>
        <p:sp>
          <p:nvSpPr>
            <p:cNvPr id="53" name="Rectangle 12">
              <a:extLst>
                <a:ext uri="{FF2B5EF4-FFF2-40B4-BE49-F238E27FC236}">
                  <a16:creationId xmlns:a16="http://schemas.microsoft.com/office/drawing/2014/main" id="{42A3B840-83AC-40DD-8659-B2DD0ECFF82D}"/>
                </a:ext>
              </a:extLst>
            </p:cNvPr>
            <p:cNvSpPr/>
            <p:nvPr/>
          </p:nvSpPr>
          <p:spPr>
            <a:xfrm>
              <a:off x="4206000" y="5672791"/>
              <a:ext cx="3780000" cy="288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192704BF-96C1-4ADE-B1F1-6B5A98FC7896}"/>
              </a:ext>
            </a:extLst>
          </p:cNvPr>
          <p:cNvGrpSpPr/>
          <p:nvPr/>
        </p:nvGrpSpPr>
        <p:grpSpPr>
          <a:xfrm>
            <a:off x="277437" y="6041028"/>
            <a:ext cx="3780000" cy="420256"/>
            <a:chOff x="4206000" y="5672791"/>
            <a:chExt cx="3780000" cy="420256"/>
          </a:xfrm>
        </p:grpSpPr>
        <p:sp>
          <p:nvSpPr>
            <p:cNvPr id="64" name="Rectangle 27">
              <a:extLst>
                <a:ext uri="{FF2B5EF4-FFF2-40B4-BE49-F238E27FC236}">
                  <a16:creationId xmlns:a16="http://schemas.microsoft.com/office/drawing/2014/main" id="{8E8BBBC6-6DD6-4D76-8B5C-12D2838142CA}"/>
                </a:ext>
              </a:extLst>
            </p:cNvPr>
            <p:cNvSpPr/>
            <p:nvPr/>
          </p:nvSpPr>
          <p:spPr>
            <a:xfrm>
              <a:off x="4206000" y="5697047"/>
              <a:ext cx="3780000" cy="396000"/>
            </a:xfrm>
            <a:prstGeom prst="rect">
              <a:avLst/>
            </a:prstGeom>
            <a:solidFill>
              <a:srgbClr val="630F0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dirty="0"/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E31838EB-AF2D-41F0-A0A0-16AFD432795C}"/>
                </a:ext>
              </a:extLst>
            </p:cNvPr>
            <p:cNvSpPr txBox="1"/>
            <p:nvPr/>
          </p:nvSpPr>
          <p:spPr>
            <a:xfrm>
              <a:off x="4206000" y="5761766"/>
              <a:ext cx="3564000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lang="en-US" altLang="ko-KR" sz="1100" b="0" i="0" dirty="0">
                  <a:solidFill>
                    <a:schemeClr val="bg2"/>
                  </a:solidFill>
                  <a:latin typeface="맑은 고딕"/>
                </a:rPr>
                <a:t>AI </a:t>
              </a:r>
              <a:r>
                <a:rPr lang="ko-KR" altLang="en-US" sz="1100" b="0" i="0" dirty="0">
                  <a:solidFill>
                    <a:schemeClr val="bg2"/>
                  </a:solidFill>
                  <a:latin typeface="맑은 고딕"/>
                </a:rPr>
                <a:t>생성 코드 </a:t>
              </a:r>
              <a:r>
                <a:rPr lang="ko-KR" altLang="en-US" sz="1100" b="0" i="0" dirty="0" err="1">
                  <a:solidFill>
                    <a:schemeClr val="bg2"/>
                  </a:solidFill>
                  <a:latin typeface="맑은 고딕"/>
                </a:rPr>
                <a:t>역분석</a:t>
              </a:r>
              <a:r>
                <a:rPr lang="ko-KR" altLang="en-US" sz="1100" b="0" i="0" dirty="0">
                  <a:solidFill>
                    <a:schemeClr val="bg2"/>
                  </a:solidFill>
                  <a:latin typeface="맑은 고딕"/>
                </a:rPr>
                <a:t> 디버깅 및 구조화</a:t>
              </a:r>
            </a:p>
          </p:txBody>
        </p:sp>
        <p:sp>
          <p:nvSpPr>
            <p:cNvPr id="66" name="Rectangle 12">
              <a:extLst>
                <a:ext uri="{FF2B5EF4-FFF2-40B4-BE49-F238E27FC236}">
                  <a16:creationId xmlns:a16="http://schemas.microsoft.com/office/drawing/2014/main" id="{12B7C7FD-51F5-44F5-AD94-C007510AF2D7}"/>
                </a:ext>
              </a:extLst>
            </p:cNvPr>
            <p:cNvSpPr/>
            <p:nvPr/>
          </p:nvSpPr>
          <p:spPr>
            <a:xfrm>
              <a:off x="4206000" y="5672791"/>
              <a:ext cx="3780000" cy="288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67" name="그룹 66">
            <a:extLst>
              <a:ext uri="{FF2B5EF4-FFF2-40B4-BE49-F238E27FC236}">
                <a16:creationId xmlns:a16="http://schemas.microsoft.com/office/drawing/2014/main" id="{3DAADC60-BC6C-4D96-B6E7-6D1C9C36D689}"/>
              </a:ext>
            </a:extLst>
          </p:cNvPr>
          <p:cNvGrpSpPr/>
          <p:nvPr/>
        </p:nvGrpSpPr>
        <p:grpSpPr>
          <a:xfrm>
            <a:off x="8131521" y="6031242"/>
            <a:ext cx="3780000" cy="420256"/>
            <a:chOff x="4206000" y="5672791"/>
            <a:chExt cx="3780000" cy="420256"/>
          </a:xfrm>
        </p:grpSpPr>
        <p:sp>
          <p:nvSpPr>
            <p:cNvPr id="68" name="Rectangle 27">
              <a:extLst>
                <a:ext uri="{FF2B5EF4-FFF2-40B4-BE49-F238E27FC236}">
                  <a16:creationId xmlns:a16="http://schemas.microsoft.com/office/drawing/2014/main" id="{90096750-C1BF-4FDD-910A-4665A47FF464}"/>
                </a:ext>
              </a:extLst>
            </p:cNvPr>
            <p:cNvSpPr/>
            <p:nvPr/>
          </p:nvSpPr>
          <p:spPr>
            <a:xfrm>
              <a:off x="4206000" y="5697047"/>
              <a:ext cx="3780000" cy="396000"/>
            </a:xfrm>
            <a:prstGeom prst="rect">
              <a:avLst/>
            </a:prstGeom>
            <a:solidFill>
              <a:srgbClr val="7A5633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3F8F3B3D-1D5B-4312-B536-515BD0989372}"/>
                </a:ext>
              </a:extLst>
            </p:cNvPr>
            <p:cNvSpPr txBox="1"/>
            <p:nvPr/>
          </p:nvSpPr>
          <p:spPr>
            <a:xfrm>
              <a:off x="4206000" y="5761766"/>
              <a:ext cx="3564000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lang="ko-KR" altLang="en-US" sz="1100" b="0" i="0" dirty="0">
                  <a:solidFill>
                    <a:schemeClr val="bg2"/>
                  </a:solidFill>
                  <a:latin typeface="맑은 고딕"/>
                </a:rPr>
                <a:t>기획</a:t>
              </a:r>
              <a:r>
                <a:rPr lang="en-US" altLang="ko-KR" sz="1100" b="0" i="0" dirty="0">
                  <a:solidFill>
                    <a:schemeClr val="bg2"/>
                  </a:solidFill>
                  <a:latin typeface="맑은 고딕"/>
                </a:rPr>
                <a:t>·</a:t>
              </a:r>
              <a:r>
                <a:rPr lang="ko-KR" altLang="en-US" sz="1100" b="0" i="0" dirty="0">
                  <a:solidFill>
                    <a:schemeClr val="bg2"/>
                  </a:solidFill>
                  <a:latin typeface="맑은 고딕"/>
                </a:rPr>
                <a:t>개발 양면 경험 </a:t>
              </a:r>
              <a:r>
                <a:rPr lang="en-US" altLang="ko-KR" sz="1100" b="0" i="0" dirty="0">
                  <a:solidFill>
                    <a:schemeClr val="bg2"/>
                  </a:solidFill>
                  <a:latin typeface="맑은 고딕"/>
                </a:rPr>
                <a:t>— </a:t>
              </a:r>
              <a:r>
                <a:rPr lang="ko-KR" altLang="en-US" sz="1100" b="0" i="0" dirty="0">
                  <a:solidFill>
                    <a:schemeClr val="bg2"/>
                  </a:solidFill>
                  <a:latin typeface="맑은 고딕"/>
                </a:rPr>
                <a:t>기획 총괄 후 프로젝트 진행</a:t>
              </a:r>
            </a:p>
          </p:txBody>
        </p:sp>
        <p:sp>
          <p:nvSpPr>
            <p:cNvPr id="70" name="Rectangle 12">
              <a:extLst>
                <a:ext uri="{FF2B5EF4-FFF2-40B4-BE49-F238E27FC236}">
                  <a16:creationId xmlns:a16="http://schemas.microsoft.com/office/drawing/2014/main" id="{86C225FB-FDAC-482E-8130-D1CE78D540A5}"/>
                </a:ext>
              </a:extLst>
            </p:cNvPr>
            <p:cNvSpPr/>
            <p:nvPr/>
          </p:nvSpPr>
          <p:spPr>
            <a:xfrm>
              <a:off x="4206000" y="5672791"/>
              <a:ext cx="3780000" cy="288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71" name="TextBox 70">
            <a:extLst>
              <a:ext uri="{FF2B5EF4-FFF2-40B4-BE49-F238E27FC236}">
                <a16:creationId xmlns:a16="http://schemas.microsoft.com/office/drawing/2014/main" id="{6C944357-8403-4297-BD0D-BA6466B26D64}"/>
              </a:ext>
            </a:extLst>
          </p:cNvPr>
          <p:cNvSpPr txBox="1"/>
          <p:nvPr/>
        </p:nvSpPr>
        <p:spPr>
          <a:xfrm>
            <a:off x="288000" y="5767290"/>
            <a:ext cx="3564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ko-KR" altLang="en-US" sz="1300" b="0" i="0" dirty="0">
                <a:solidFill>
                  <a:schemeClr val="bg2"/>
                </a:solidFill>
                <a:latin typeface="맑은 고딕"/>
              </a:rPr>
              <a:t>주요 경험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2AF8D6A-4997-444B-A958-82C6426D2768}"/>
              </a:ext>
            </a:extLst>
          </p:cNvPr>
          <p:cNvSpPr txBox="1"/>
          <p:nvPr/>
        </p:nvSpPr>
        <p:spPr>
          <a:xfrm>
            <a:off x="4209760" y="5767290"/>
            <a:ext cx="3564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ko-KR" altLang="en-US" sz="1300" b="0" i="0" dirty="0">
                <a:solidFill>
                  <a:schemeClr val="bg2"/>
                </a:solidFill>
                <a:latin typeface="맑은 고딕"/>
              </a:rPr>
              <a:t>주요 경험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6F14BB7-8DA9-434E-B90D-9605806D0CD8}"/>
              </a:ext>
            </a:extLst>
          </p:cNvPr>
          <p:cNvSpPr txBox="1"/>
          <p:nvPr/>
        </p:nvSpPr>
        <p:spPr>
          <a:xfrm>
            <a:off x="8136802" y="5767290"/>
            <a:ext cx="3564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ko-KR" altLang="en-US" sz="1300" b="0" i="0" dirty="0">
                <a:solidFill>
                  <a:schemeClr val="bg2"/>
                </a:solidFill>
                <a:latin typeface="맑은 고딕"/>
              </a:rPr>
              <a:t>주요 경험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3B5ABB9-CE62-4ED6-AEE9-516FFB372B67}"/>
              </a:ext>
            </a:extLst>
          </p:cNvPr>
          <p:cNvSpPr txBox="1"/>
          <p:nvPr/>
        </p:nvSpPr>
        <p:spPr>
          <a:xfrm>
            <a:off x="4312479" y="5029622"/>
            <a:ext cx="356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ko-KR" sz="1200" b="0" i="0" dirty="0">
                <a:solidFill>
                  <a:schemeClr val="bg2"/>
                </a:solidFill>
                <a:latin typeface="맑은 고딕"/>
              </a:rPr>
              <a:t>•  </a:t>
            </a:r>
            <a:r>
              <a:rPr lang="ko-KR" altLang="en-US" sz="1200" b="0" i="0" dirty="0">
                <a:solidFill>
                  <a:schemeClr val="bg2"/>
                </a:solidFill>
                <a:latin typeface="맑은 고딕"/>
              </a:rPr>
              <a:t>증강 시스템 구현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8B9FF4C-6CEB-4EA1-B24D-65A0E9A9566D}"/>
              </a:ext>
            </a:extLst>
          </p:cNvPr>
          <p:cNvSpPr txBox="1"/>
          <p:nvPr/>
        </p:nvSpPr>
        <p:spPr>
          <a:xfrm>
            <a:off x="4312479" y="5329819"/>
            <a:ext cx="356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ko-KR" sz="1200" b="0" i="0" dirty="0">
                <a:solidFill>
                  <a:schemeClr val="bg2"/>
                </a:solidFill>
                <a:latin typeface="맑은 고딕"/>
              </a:rPr>
              <a:t>•  </a:t>
            </a:r>
            <a:r>
              <a:rPr lang="ko-KR" altLang="en-US" sz="1200" b="0" i="0" dirty="0">
                <a:solidFill>
                  <a:schemeClr val="bg2"/>
                </a:solidFill>
                <a:latin typeface="맑은 고딕"/>
              </a:rPr>
              <a:t>기능 최적화 </a:t>
            </a:r>
            <a:r>
              <a:rPr lang="en-US" altLang="ko-KR" sz="1200" b="0" i="0" dirty="0">
                <a:solidFill>
                  <a:schemeClr val="bg2"/>
                </a:solidFill>
                <a:latin typeface="맑은 고딕"/>
              </a:rPr>
              <a:t>(Occlusion Culling, Jitter </a:t>
            </a:r>
            <a:r>
              <a:rPr lang="ko-KR" altLang="en-US" sz="1200" b="0" i="0" dirty="0">
                <a:solidFill>
                  <a:schemeClr val="bg2"/>
                </a:solidFill>
                <a:latin typeface="맑은 고딕"/>
              </a:rPr>
              <a:t>해소</a:t>
            </a:r>
            <a:r>
              <a:rPr lang="en-US" altLang="ko-KR" sz="1200" b="0" i="0" dirty="0">
                <a:solidFill>
                  <a:schemeClr val="bg2"/>
                </a:solidFill>
                <a:latin typeface="맑은 고딕"/>
              </a:rPr>
              <a:t>)</a:t>
            </a:r>
            <a:endParaRPr lang="ko-KR" altLang="en-US" sz="1200" b="0" i="0" dirty="0">
              <a:solidFill>
                <a:schemeClr val="bg2"/>
              </a:solidFill>
              <a:latin typeface="맑은 고딕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700000"/>
            <a:ext cx="12192119" cy="1440000"/>
          </a:xfrm>
          <a:prstGeom prst="rect">
            <a:avLst/>
          </a:prstGeom>
          <a:solidFill>
            <a:srgbClr val="780000">
              <a:alpha val="6980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88000" y="2808000"/>
            <a:ext cx="1152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 dirty="0" err="1">
                <a:solidFill>
                  <a:schemeClr val="bg2"/>
                </a:solidFill>
                <a:latin typeface="맑은 고딕"/>
              </a:rPr>
              <a:t>프라가라흐</a:t>
            </a:r>
            <a:endParaRPr sz="4400" b="1" i="0" dirty="0">
              <a:solidFill>
                <a:schemeClr val="bg2"/>
              </a:solidFill>
              <a:latin typeface="맑은 고딕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88000" y="3780000"/>
            <a:ext cx="11520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b="0" i="0" dirty="0">
                <a:solidFill>
                  <a:schemeClr val="bg2"/>
                </a:solidFill>
                <a:latin typeface="맑은 고딕"/>
              </a:rPr>
              <a:t>https://jeve98.github.io/Portfolio/Fragarach</a:t>
            </a:r>
            <a:endParaRPr sz="1200" b="0" i="0" dirty="0">
              <a:solidFill>
                <a:schemeClr val="bg2"/>
              </a:solidFill>
              <a:latin typeface="맑은 고딕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119" cy="64800"/>
          </a:xfrm>
          <a:prstGeom prst="rect">
            <a:avLst/>
          </a:prstGeom>
          <a:solidFill>
            <a:srgbClr val="78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88000" y="144000"/>
            <a:ext cx="108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맑은 고딕"/>
              </a:rPr>
              <a:t>프라가라흐 — 담당 역할</a:t>
            </a:r>
          </a:p>
        </p:txBody>
      </p:sp>
      <p:sp>
        <p:nvSpPr>
          <p:cNvPr id="4" name="Rectangle 3"/>
          <p:cNvSpPr/>
          <p:nvPr/>
        </p:nvSpPr>
        <p:spPr>
          <a:xfrm>
            <a:off x="288000" y="1080000"/>
            <a:ext cx="1800000" cy="270000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2000" y="1116000"/>
            <a:ext cx="169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C1C2E"/>
                </a:solidFill>
                <a:latin typeface="맑은 고딕"/>
              </a:rPr>
              <a:t>역할</a:t>
            </a:r>
          </a:p>
        </p:txBody>
      </p:sp>
      <p:sp>
        <p:nvSpPr>
          <p:cNvPr id="6" name="Rectangle 5"/>
          <p:cNvSpPr/>
          <p:nvPr/>
        </p:nvSpPr>
        <p:spPr>
          <a:xfrm>
            <a:off x="2088000" y="1080000"/>
            <a:ext cx="1260000" cy="270000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142000" y="1116000"/>
            <a:ext cx="115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C1C2E"/>
                </a:solidFill>
                <a:latin typeface="맑은 고딕"/>
              </a:rPr>
              <a:t>비중</a:t>
            </a:r>
          </a:p>
        </p:txBody>
      </p:sp>
      <p:sp>
        <p:nvSpPr>
          <p:cNvPr id="8" name="Rectangle 7"/>
          <p:cNvSpPr/>
          <p:nvPr/>
        </p:nvSpPr>
        <p:spPr>
          <a:xfrm>
            <a:off x="3348000" y="1080000"/>
            <a:ext cx="7740000" cy="270000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402000" y="1116000"/>
            <a:ext cx="763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C1C2E"/>
                </a:solidFill>
                <a:latin typeface="맑은 고딕"/>
              </a:rPr>
              <a:t>내용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8000" y="1350000"/>
            <a:ext cx="1800000" cy="360000"/>
          </a:xfrm>
          <a:prstGeom prst="rect">
            <a:avLst/>
          </a:prstGeom>
          <a:solidFill>
            <a:srgbClr val="25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42000" y="1393200"/>
            <a:ext cx="169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ECDC4"/>
                </a:solidFill>
                <a:latin typeface="맑은 고딕"/>
              </a:rPr>
              <a:t>보스 패턴 설계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88000" y="1350000"/>
            <a:ext cx="1260000" cy="360000"/>
          </a:xfrm>
          <a:prstGeom prst="rect">
            <a:avLst/>
          </a:prstGeom>
          <a:solidFill>
            <a:srgbClr val="25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142000" y="1393200"/>
            <a:ext cx="115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맑은 고딕"/>
              </a:rPr>
              <a:t>본인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48000" y="1350000"/>
            <a:ext cx="7740000" cy="360000"/>
          </a:xfrm>
          <a:prstGeom prst="rect">
            <a:avLst/>
          </a:prstGeom>
          <a:solidFill>
            <a:srgbClr val="25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02000" y="1393200"/>
            <a:ext cx="763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Min-Heap 기반 패턴 관리 + Dictionary 리팩토링 (OCP)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8000" y="1728000"/>
            <a:ext cx="1800000" cy="36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42000" y="1771200"/>
            <a:ext cx="169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ECDC4"/>
                </a:solidFill>
                <a:latin typeface="맑은 고딕"/>
              </a:rPr>
              <a:t>스폰 시스템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88000" y="1728000"/>
            <a:ext cx="1260000" cy="36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142000" y="1771200"/>
            <a:ext cx="115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맑은 고딕"/>
              </a:rPr>
              <a:t>본인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48000" y="1728000"/>
            <a:ext cx="7740000" cy="36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402000" y="1771200"/>
            <a:ext cx="763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안전 구역 기반 설계 — 매 프레임 충돌 연산 제거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8000" y="2106000"/>
            <a:ext cx="1800000" cy="360000"/>
          </a:xfrm>
          <a:prstGeom prst="rect">
            <a:avLst/>
          </a:prstGeom>
          <a:solidFill>
            <a:srgbClr val="25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42000" y="2149200"/>
            <a:ext cx="169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ECDC4"/>
                </a:solidFill>
                <a:latin typeface="맑은 고딕"/>
              </a:rPr>
              <a:t>컷씬 시스템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88000" y="2106000"/>
            <a:ext cx="1260000" cy="360000"/>
          </a:xfrm>
          <a:prstGeom prst="rect">
            <a:avLst/>
          </a:prstGeom>
          <a:solidFill>
            <a:srgbClr val="25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142000" y="2149200"/>
            <a:ext cx="115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맑은 고딕"/>
              </a:rPr>
              <a:t>본인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48000" y="2106000"/>
            <a:ext cx="7740000" cy="360000"/>
          </a:xfrm>
          <a:prstGeom prst="rect">
            <a:avLst/>
          </a:prstGeom>
          <a:solidFill>
            <a:srgbClr val="25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402000" y="2149200"/>
            <a:ext cx="763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비트 연산 기반 시청 기록 관리 — DB 컬럼 고정, O(1) 조회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8000" y="2484000"/>
            <a:ext cx="1800000" cy="36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42000" y="2527200"/>
            <a:ext cx="169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ECDC4"/>
                </a:solidFill>
                <a:latin typeface="맑은 고딕"/>
              </a:rPr>
              <a:t>Scene 로딩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088000" y="2484000"/>
            <a:ext cx="1260000" cy="36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142000" y="2527200"/>
            <a:ext cx="115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맑은 고딕"/>
              </a:rPr>
              <a:t>본인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348000" y="2484000"/>
            <a:ext cx="7740000" cy="36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402000" y="2527200"/>
            <a:ext cx="763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지연 로딩 전환 — 유령 오브젝트 및 중복 import 제거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8000" y="2862000"/>
            <a:ext cx="1800000" cy="360000"/>
          </a:xfrm>
          <a:prstGeom prst="rect">
            <a:avLst/>
          </a:prstGeom>
          <a:solidFill>
            <a:srgbClr val="25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42000" y="2905200"/>
            <a:ext cx="169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ECDC4"/>
                </a:solidFill>
                <a:latin typeface="맑은 고딕"/>
              </a:rPr>
              <a:t>Django REST API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088000" y="2862000"/>
            <a:ext cx="1260000" cy="360000"/>
          </a:xfrm>
          <a:prstGeom prst="rect">
            <a:avLst/>
          </a:prstGeom>
          <a:solidFill>
            <a:srgbClr val="25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142000" y="2905200"/>
            <a:ext cx="115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맑은 고딕"/>
              </a:rPr>
              <a:t>본인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348000" y="2862000"/>
            <a:ext cx="7740000" cy="360000"/>
          </a:xfrm>
          <a:prstGeom prst="rect">
            <a:avLst/>
          </a:prstGeom>
          <a:solidFill>
            <a:srgbClr val="25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3402000" y="2905200"/>
            <a:ext cx="763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SQLite3 기반 서버 구축 — 동시성 한계 분석 후 적합성 판단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88000" y="3240000"/>
            <a:ext cx="1800000" cy="36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42000" y="3283199"/>
            <a:ext cx="169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ECDC4"/>
                </a:solidFill>
                <a:latin typeface="맑은 고딕"/>
              </a:rPr>
              <a:t>코드 구조화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088000" y="3240000"/>
            <a:ext cx="1260000" cy="36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2142000" y="3283199"/>
            <a:ext cx="115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맑은 고딕"/>
              </a:rPr>
              <a:t>본인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348000" y="3240000"/>
            <a:ext cx="7740000" cy="36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3402000" y="3283199"/>
            <a:ext cx="763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AI 생성 비정형 코드 분석 및 버그 역행 추적 해결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119" cy="64800"/>
          </a:xfrm>
          <a:prstGeom prst="rect">
            <a:avLst/>
          </a:prstGeom>
          <a:solidFill>
            <a:srgbClr val="78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88000" y="144000"/>
            <a:ext cx="108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맑은 고딕"/>
              </a:rPr>
              <a:t>프라가라흐 — Min-Heap 기반 보스 패턴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8000" y="648000"/>
            <a:ext cx="108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ECDC4"/>
                </a:solidFill>
                <a:latin typeface="맑은 고딕"/>
              </a:rPr>
              <a:t>균형 있는 패턴 배치 + Dictionary 리팩토링</a:t>
            </a:r>
          </a:p>
        </p:txBody>
      </p:sp>
      <p:sp>
        <p:nvSpPr>
          <p:cNvPr id="5" name="Rectangle 4"/>
          <p:cNvSpPr/>
          <p:nvPr/>
        </p:nvSpPr>
        <p:spPr>
          <a:xfrm>
            <a:off x="288000" y="1080000"/>
            <a:ext cx="11340000" cy="503999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0000" y="1188000"/>
            <a:ext cx="432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6B6B"/>
                </a:solidFill>
                <a:latin typeface="맑은 고딕"/>
              </a:rPr>
              <a:t>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6000" y="1116000"/>
            <a:ext cx="32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B6B"/>
                </a:solidFill>
                <a:latin typeface="맑은 고딕"/>
              </a:rPr>
              <a:t>랜덤 함수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0" y="1116000"/>
            <a:ext cx="73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맑은 고딕"/>
              </a:rPr>
              <a:t>강한 패턴이 연속 → 억빠/억까 발생</a:t>
            </a:r>
          </a:p>
        </p:txBody>
      </p:sp>
      <p:sp>
        <p:nvSpPr>
          <p:cNvPr id="9" name="Rectangle 8"/>
          <p:cNvSpPr/>
          <p:nvPr/>
        </p:nvSpPr>
        <p:spPr>
          <a:xfrm>
            <a:off x="288000" y="1620000"/>
            <a:ext cx="11340000" cy="503999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0000" y="1728000"/>
            <a:ext cx="432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6B6B"/>
                </a:solidFill>
                <a:latin typeface="맑은 고딕"/>
              </a:rPr>
              <a:t>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6000" y="1655999"/>
            <a:ext cx="32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B6B"/>
                </a:solidFill>
                <a:latin typeface="맑은 고딕"/>
              </a:rPr>
              <a:t>쿨타임 기반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0000" y="1655999"/>
            <a:ext cx="73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맑은 고딕"/>
              </a:rPr>
              <a:t>특정 시점에 강한 패턴 집중 사이클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8000" y="2160000"/>
            <a:ext cx="11340000" cy="503999"/>
          </a:xfrm>
          <a:prstGeom prst="rect">
            <a:avLst/>
          </a:prstGeom>
          <a:solidFill>
            <a:srgbClr val="203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0000" y="2268000"/>
            <a:ext cx="432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6BD98A"/>
                </a:solidFill>
                <a:latin typeface="맑은 고딕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6000" y="2196000"/>
            <a:ext cx="32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BD98A"/>
                </a:solidFill>
                <a:latin typeface="맑은 고딕"/>
              </a:rPr>
              <a:t>Min-Heap + 우선순위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0000" y="2196000"/>
            <a:ext cx="73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D98A"/>
                </a:solidFill>
                <a:latin typeface="맑은 고딕"/>
              </a:rPr>
              <a:t>패턴이 균형 있게 혼합 / O(log N) 삽입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88000" y="2700000"/>
            <a:ext cx="5580000" cy="234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288000" y="2700000"/>
            <a:ext cx="5580000" cy="21600"/>
          </a:xfrm>
          <a:prstGeom prst="rect">
            <a:avLst/>
          </a:prstGeom>
          <a:solidFill>
            <a:srgbClr val="78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96000" y="2754000"/>
            <a:ext cx="536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ECDC4"/>
                </a:solidFill>
                <a:latin typeface="맑은 고딕"/>
              </a:rPr>
              <a:t>Dictionary 리팩토링 (OCP)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6000" y="3024000"/>
            <a:ext cx="5364000" cy="19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Before: switch문 — 새 패턴 추가 시 switch 수정 필요
After: BossPatterns[bossName][priority] 구조
새 패턴 추가 = 딕셔너리에 항목 하나 추가
→ 기존 코드 변경 없음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0000" y="2700000"/>
            <a:ext cx="5760000" cy="3600000"/>
          </a:xfrm>
          <a:prstGeom prst="rect">
            <a:avLst/>
          </a:prstGeom>
          <a:solidFill>
            <a:srgbClr val="282840"/>
          </a:solidFill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ECDC4"/>
                </a:solidFill>
                <a:latin typeface="Consolas"/>
              </a:rPr>
              <a:t>const BossPatterns = {
  coffin: {
    999: { key:'thunder',   cool:2.5, init:1  },
    1:   { key:'summons',   cool:90,  init:5  },
    2:   { key:'fireshoot', cool:30,  init:10 },
  },
  vampire: {
    999: { key:'batswarm',  cool:2.5, init:1  },
    1:   { key:'summons',   cool:65,  init:23 },
  },
};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119" cy="64800"/>
          </a:xfrm>
          <a:prstGeom prst="rect">
            <a:avLst/>
          </a:prstGeom>
          <a:solidFill>
            <a:srgbClr val="78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88000" y="144000"/>
            <a:ext cx="108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맑은 고딕"/>
              </a:rPr>
              <a:t>프라가라흐 — 안전 구역 스폰 &amp; 컷씬 비트 연산</a:t>
            </a:r>
          </a:p>
        </p:txBody>
      </p:sp>
      <p:sp>
        <p:nvSpPr>
          <p:cNvPr id="4" name="Rectangle 3"/>
          <p:cNvSpPr/>
          <p:nvPr/>
        </p:nvSpPr>
        <p:spPr>
          <a:xfrm>
            <a:off x="288000" y="1080000"/>
            <a:ext cx="5580000" cy="288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88000" y="1080000"/>
            <a:ext cx="5580000" cy="21600"/>
          </a:xfrm>
          <a:prstGeom prst="rect">
            <a:avLst/>
          </a:prstGeom>
          <a:solidFill>
            <a:srgbClr val="78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96000" y="1134000"/>
            <a:ext cx="536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ECDC4"/>
                </a:solidFill>
                <a:latin typeface="맑은 고딕"/>
              </a:rPr>
              <a:t>안전 구역 기반 스폰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6000" y="1404000"/>
            <a:ext cx="5364000" cy="24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문제: Phaser에서 충돌 오브젝트가 겹쳐 스폰되면 분리 불가
기존 시도: 매 프레임 밀어내기 → 느림 + 연쇄 충돌
해결: 미리 설정한 안전 좌표 리스트에서 스폰 위치 선택
      겹침 발생 시 양쪽을 반대 방향으로 동일 거리 이동
효과: 매 프레임 충돌 연산 제거 / 빠른 위치 재설정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4140000"/>
            <a:ext cx="5580000" cy="198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88000" y="4140000"/>
            <a:ext cx="5580000" cy="21600"/>
          </a:xfrm>
          <a:prstGeom prst="rect">
            <a:avLst/>
          </a:prstGeom>
          <a:solidFill>
            <a:srgbClr val="78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96000" y="4194000"/>
            <a:ext cx="536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ECDC4"/>
                </a:solidFill>
                <a:latin typeface="맑은 고딕"/>
              </a:rPr>
              <a:t>컷씬 시청 기록 — 비트 연산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6000" y="4464000"/>
            <a:ext cx="5364000" cy="15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문제: 씬마다 개별 컬럼 → 씬 추가 시 DB 스키마 변경 필요
해결: cutScene 정수 필드 1개 / 씬 번호 = 비트 위치
효과: DB 컬럼 수 고정 / 조회 O(1) / 스키마 변경 불필요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0000" y="1080000"/>
            <a:ext cx="5760000" cy="1980000"/>
          </a:xfrm>
          <a:prstGeom prst="rect">
            <a:avLst/>
          </a:prstGeom>
          <a:solidFill>
            <a:srgbClr val="282840"/>
          </a:solidFill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ECDC4"/>
                </a:solidFill>
                <a:latin typeface="Consolas"/>
              </a:rPr>
              <a:t>// 안전 구역 스폰
// 1. 미리 설정한 safeZones 리스트
// 2. 겹침 감지 시 반대 방향으로 이동
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0000" y="3240000"/>
            <a:ext cx="5760000" cy="2520000"/>
          </a:xfrm>
          <a:prstGeom prst="rect">
            <a:avLst/>
          </a:prstGeom>
          <a:solidFill>
            <a:srgbClr val="282840"/>
          </a:solidFill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ECDC4"/>
                </a:solidFill>
                <a:latin typeface="Consolas"/>
              </a:rPr>
              <a:t>// 컷씬 비트 플래그
if ((cutScene &amp; (1 &lt;&lt; sceneNum)) == 0)
{
    cutscene.play(introScript);
    cutScene += 1 &lt;&lt; sceneNum;
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119" cy="64800"/>
          </a:xfrm>
          <a:prstGeom prst="rect">
            <a:avLst/>
          </a:prstGeom>
          <a:solidFill>
            <a:srgbClr val="78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88000" y="144000"/>
            <a:ext cx="108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맑은 고딕"/>
              </a:rPr>
              <a:t>프라가라흐 — Scene 로딩 최적화 &amp; API 서버</a:t>
            </a:r>
          </a:p>
        </p:txBody>
      </p:sp>
      <p:sp>
        <p:nvSpPr>
          <p:cNvPr id="4" name="Rectangle 3"/>
          <p:cNvSpPr/>
          <p:nvPr/>
        </p:nvSpPr>
        <p:spPr>
          <a:xfrm>
            <a:off x="288000" y="1080000"/>
            <a:ext cx="5580000" cy="288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88000" y="1080000"/>
            <a:ext cx="5580000" cy="21600"/>
          </a:xfrm>
          <a:prstGeom prst="rect">
            <a:avLst/>
          </a:prstGeom>
          <a:solidFill>
            <a:srgbClr val="78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96000" y="1134000"/>
            <a:ext cx="536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ECDC4"/>
                </a:solidFill>
                <a:latin typeface="맑은 고딕"/>
              </a:rPr>
              <a:t>Phaser Scene 로딩 최적화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6000" y="1404000"/>
            <a:ext cx="5364000" cy="24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문제: Phaser 게임 객체 생성 시 모든 씬 동시 로드
→ 씬별 오브젝트가 유령 상태로 잔존 / import key 중복 워닝
해결: 게임 객체 생성 시 로드 씬만 포함
      각 씬에서 필요한 데이터를 지연 로드
효과: 유령 오브젝트 제거 / 중복 워닝 해소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4140000"/>
            <a:ext cx="5580000" cy="198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88000" y="4140000"/>
            <a:ext cx="5580000" cy="21600"/>
          </a:xfrm>
          <a:prstGeom prst="rect">
            <a:avLst/>
          </a:prstGeom>
          <a:solidFill>
            <a:srgbClr val="78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96000" y="4194000"/>
            <a:ext cx="536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ECDC4"/>
                </a:solidFill>
                <a:latin typeface="맑은 고딕"/>
              </a:rPr>
              <a:t>Django REST API — SQLite3 적합성 판단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6000" y="4464000"/>
            <a:ext cx="5364000" cy="15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SQLite3: write-lock 기반 동시성 한계 인지
바로 구조 변경 대신 먼저 실제 쓰기 빈도 분석
→ 1인용 게임, 대부분 요청이 조회
→ 쓰기: 회원가입 + 저장 시점만 / 최대 동시 접속 ~1,000명
판단: SQLite3로 충분히 대응 가능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0000" y="1080000"/>
            <a:ext cx="5760000" cy="504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120000" y="1080000"/>
            <a:ext cx="5760000" cy="21600"/>
          </a:xfrm>
          <a:prstGeom prst="rect">
            <a:avLst/>
          </a:prstGeom>
          <a:solidFill>
            <a:srgbClr val="78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28000" y="1134000"/>
            <a:ext cx="554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ECDC4"/>
                </a:solidFill>
                <a:latin typeface="맑은 고딕"/>
              </a:rPr>
              <a:t>구조 판단 흐름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8000" y="1404000"/>
            <a:ext cx="5544000" cy="46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① 문제 인지: SQLite3 동시성 한계
② 실제 부하 분석: 쓰기 빈도 측정
③ 규모 확인: 배포·테스트 대상 SSAFY 서울 캠퍼스 한정
④ 결론: 현재 규모에서는 SQLite3 적합
→ 과도한 기술 전환 없이 근거 있는 판단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119" cy="64800"/>
          </a:xfrm>
          <a:prstGeom prst="rect">
            <a:avLst/>
          </a:prstGeom>
          <a:solidFill>
            <a:srgbClr val="78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88000" y="144000"/>
            <a:ext cx="108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맑은 고딕"/>
              </a:rPr>
              <a:t>프라가라흐 — AI 생성 코드 구조화 &amp; 버그 해결</a:t>
            </a:r>
          </a:p>
        </p:txBody>
      </p:sp>
      <p:sp>
        <p:nvSpPr>
          <p:cNvPr id="4" name="Rectangle 3"/>
          <p:cNvSpPr/>
          <p:nvPr/>
        </p:nvSpPr>
        <p:spPr>
          <a:xfrm>
            <a:off x="288000" y="1080000"/>
            <a:ext cx="5580000" cy="198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88000" y="1080000"/>
            <a:ext cx="5580000" cy="21600"/>
          </a:xfrm>
          <a:prstGeom prst="rect">
            <a:avLst/>
          </a:prstGeom>
          <a:solidFill>
            <a:srgbClr val="78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96000" y="1134000"/>
            <a:ext cx="536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ECDC4"/>
                </a:solidFill>
                <a:latin typeface="맑은 고딕"/>
              </a:rPr>
              <a:t>배경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6000" y="1404000"/>
            <a:ext cx="5364000" cy="15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팀원이 AI 코딩 도구로 대량의 코드 생성
컨텍스트·컨벤션 미정의 → 높은 coupling
AI에 다시 의존하면 더 큰 문제 발생 자명
→ 프로젝트 전체 구조 직접 분석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3240000"/>
            <a:ext cx="5580000" cy="306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88000" y="3240000"/>
            <a:ext cx="5580000" cy="21600"/>
          </a:xfrm>
          <a:prstGeom prst="rect">
            <a:avLst/>
          </a:prstGeom>
          <a:solidFill>
            <a:srgbClr val="78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96000" y="3294000"/>
            <a:ext cx="536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ECDC4"/>
                </a:solidFill>
                <a:latin typeface="맑은 고딕"/>
              </a:rPr>
              <a:t>CASE 1 — 스킬 시스템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6000" y="3564000"/>
            <a:ext cx="5364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증상: 스킬 포인트 투자 시 특정 스킬만 미적용
원인: 일부 스킬이 씬에서 직접 바인딩
      추상 클래스 상속 시 base 누락
해결: 각 스킬 동작 흐름도 작성
      이상적 구조 + 주석 포함 코드 문서화
      → 팀원에게 리팩토링 방향 제시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0000" y="1080000"/>
            <a:ext cx="5760000" cy="522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120000" y="1080000"/>
            <a:ext cx="5760000" cy="21600"/>
          </a:xfrm>
          <a:prstGeom prst="rect">
            <a:avLst/>
          </a:prstGeom>
          <a:solidFill>
            <a:srgbClr val="78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28000" y="1134000"/>
            <a:ext cx="554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ECDC4"/>
                </a:solidFill>
                <a:latin typeface="맑은 고딕"/>
              </a:rPr>
              <a:t>CASE 2 — 데이터 동기화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8000" y="1404000"/>
            <a:ext cx="5544000" cy="48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증상: 맵 이동·재로그인 시 해금 스킬 초기화
       UI에서는 미해금 표시인데 스킬 사용 가능
방법: 코드량 방대 → 전체 로그 분석 불가
      관련 함수·변수를 역방향 추적(역행 분석)
원인: Vue→Phaser 로드 시 더미 계정 레벨 값이
      API 데이터로 덮어씌워져야 하는데 누락
해결: 해당 필드 수정 + 의심 부분 목록 팀 공유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700000"/>
            <a:ext cx="12192119" cy="1440000"/>
          </a:xfrm>
          <a:prstGeom prst="rect">
            <a:avLst/>
          </a:prstGeom>
          <a:solidFill>
            <a:srgbClr val="787878">
              <a:alpha val="6980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88000" y="2808000"/>
            <a:ext cx="1152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 dirty="0" err="1">
                <a:solidFill>
                  <a:schemeClr val="bg2"/>
                </a:solidFill>
                <a:latin typeface="맑은 고딕"/>
              </a:rPr>
              <a:t>마네킹</a:t>
            </a:r>
            <a:r>
              <a:rPr sz="4400" b="1" i="0" dirty="0">
                <a:solidFill>
                  <a:schemeClr val="bg2"/>
                </a:solidFill>
                <a:latin typeface="맑은 고딕"/>
              </a:rPr>
              <a:t>: </a:t>
            </a:r>
            <a:r>
              <a:rPr sz="4400" b="1" i="0" dirty="0" err="1">
                <a:solidFill>
                  <a:schemeClr val="bg2"/>
                </a:solidFill>
                <a:latin typeface="맑은 고딕"/>
              </a:rPr>
              <a:t>헌티드</a:t>
            </a:r>
            <a:r>
              <a:rPr sz="4400" b="1" i="0" dirty="0">
                <a:solidFill>
                  <a:schemeClr val="bg2"/>
                </a:solidFill>
                <a:latin typeface="맑은 고딕"/>
              </a:rPr>
              <a:t> 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8000" y="3780000"/>
            <a:ext cx="11520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b="0" i="0" dirty="0">
                <a:solidFill>
                  <a:schemeClr val="bg2"/>
                </a:solidFill>
                <a:latin typeface="맑은 고딕"/>
              </a:rPr>
              <a:t>https://jeve98.github.io/Portfolio/Mannequin</a:t>
            </a:r>
            <a:endParaRPr sz="1200" b="0" i="0" dirty="0">
              <a:solidFill>
                <a:schemeClr val="bg2"/>
              </a:solidFill>
              <a:latin typeface="맑은 고딕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119" cy="64800"/>
          </a:xfrm>
          <a:prstGeom prst="rect">
            <a:avLst/>
          </a:prstGeom>
          <a:solidFill>
            <a:srgbClr val="78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88000" y="144000"/>
            <a:ext cx="108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맑은 고딕"/>
              </a:rPr>
              <a:t>마네킹 — 담당 역할</a:t>
            </a:r>
          </a:p>
        </p:txBody>
      </p:sp>
      <p:sp>
        <p:nvSpPr>
          <p:cNvPr id="4" name="Rectangle 3"/>
          <p:cNvSpPr/>
          <p:nvPr/>
        </p:nvSpPr>
        <p:spPr>
          <a:xfrm>
            <a:off x="288000" y="1080000"/>
            <a:ext cx="1800000" cy="270000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2000" y="1116000"/>
            <a:ext cx="169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C1C2E"/>
                </a:solidFill>
                <a:latin typeface="맑은 고딕"/>
              </a:rPr>
              <a:t>역할</a:t>
            </a:r>
          </a:p>
        </p:txBody>
      </p:sp>
      <p:sp>
        <p:nvSpPr>
          <p:cNvPr id="6" name="Rectangle 5"/>
          <p:cNvSpPr/>
          <p:nvPr/>
        </p:nvSpPr>
        <p:spPr>
          <a:xfrm>
            <a:off x="2088000" y="1080000"/>
            <a:ext cx="1260000" cy="270000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142000" y="1116000"/>
            <a:ext cx="115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C1C2E"/>
                </a:solidFill>
                <a:latin typeface="맑은 고딕"/>
              </a:rPr>
              <a:t>비중</a:t>
            </a:r>
          </a:p>
        </p:txBody>
      </p:sp>
      <p:sp>
        <p:nvSpPr>
          <p:cNvPr id="8" name="Rectangle 7"/>
          <p:cNvSpPr/>
          <p:nvPr/>
        </p:nvSpPr>
        <p:spPr>
          <a:xfrm>
            <a:off x="3348000" y="1080000"/>
            <a:ext cx="7740000" cy="270000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402000" y="1116000"/>
            <a:ext cx="763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C1C2E"/>
                </a:solidFill>
                <a:latin typeface="맑은 고딕"/>
              </a:rPr>
              <a:t>내용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8000" y="1350000"/>
            <a:ext cx="1800000" cy="360000"/>
          </a:xfrm>
          <a:prstGeom prst="rect">
            <a:avLst/>
          </a:prstGeom>
          <a:solidFill>
            <a:srgbClr val="25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42000" y="1393200"/>
            <a:ext cx="169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ECDC4"/>
                </a:solidFill>
                <a:latin typeface="맑은 고딕"/>
              </a:rPr>
              <a:t>기획 참여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88000" y="1350000"/>
            <a:ext cx="1260000" cy="360000"/>
          </a:xfrm>
          <a:prstGeom prst="rect">
            <a:avLst/>
          </a:prstGeom>
          <a:solidFill>
            <a:srgbClr val="25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142000" y="1393200"/>
            <a:ext cx="115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맑은 고딕"/>
              </a:rPr>
              <a:t>본인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48000" y="1350000"/>
            <a:ext cx="7740000" cy="360000"/>
          </a:xfrm>
          <a:prstGeom prst="rect">
            <a:avLst/>
          </a:prstGeom>
          <a:solidFill>
            <a:srgbClr val="25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02000" y="1393200"/>
            <a:ext cx="763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살인마 스킬 기획 및 밸런스 논의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8000" y="1728000"/>
            <a:ext cx="1800000" cy="36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42000" y="1771200"/>
            <a:ext cx="169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ECDC4"/>
                </a:solidFill>
                <a:latin typeface="맑은 고딕"/>
              </a:rPr>
              <a:t>살인마 진영 구현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88000" y="1728000"/>
            <a:ext cx="1260000" cy="36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142000" y="1771200"/>
            <a:ext cx="115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맑은 고딕"/>
              </a:rPr>
              <a:t>본인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48000" y="1728000"/>
            <a:ext cx="7740000" cy="36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402000" y="1771200"/>
            <a:ext cx="763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더미 설치 · 전이 · 교란 · 위장 스킬 4종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8000" y="2106000"/>
            <a:ext cx="1800000" cy="360000"/>
          </a:xfrm>
          <a:prstGeom prst="rect">
            <a:avLst/>
          </a:prstGeom>
          <a:solidFill>
            <a:srgbClr val="25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42000" y="2149200"/>
            <a:ext cx="169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ECDC4"/>
                </a:solidFill>
                <a:latin typeface="맑은 고딕"/>
              </a:rPr>
              <a:t>스폰 시스템 최적화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88000" y="2106000"/>
            <a:ext cx="1260000" cy="360000"/>
          </a:xfrm>
          <a:prstGeom prst="rect">
            <a:avLst/>
          </a:prstGeom>
          <a:solidFill>
            <a:srgbClr val="25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142000" y="2149200"/>
            <a:ext cx="115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맑은 고딕"/>
              </a:rPr>
              <a:t>본인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48000" y="2106000"/>
            <a:ext cx="7740000" cy="360000"/>
          </a:xfrm>
          <a:prstGeom prst="rect">
            <a:avLst/>
          </a:prstGeom>
          <a:solidFill>
            <a:srgbClr val="25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402000" y="2149200"/>
            <a:ext cx="763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스폰 데이터 구조 재설계 → 네트워크 트래픽 50% 감소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8000" y="2484000"/>
            <a:ext cx="1800000" cy="36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42000" y="2527200"/>
            <a:ext cx="169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ECDC4"/>
                </a:solidFill>
                <a:latin typeface="맑은 고딕"/>
              </a:rPr>
              <a:t>상호작용 시스템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088000" y="2484000"/>
            <a:ext cx="1260000" cy="36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142000" y="2527200"/>
            <a:ext cx="115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맑은 고딕"/>
              </a:rPr>
              <a:t>본인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348000" y="2484000"/>
            <a:ext cx="7740000" cy="36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402000" y="2527200"/>
            <a:ext cx="763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IInteractable 인터페이스 기반 설계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8000" y="2862000"/>
            <a:ext cx="1800000" cy="360000"/>
          </a:xfrm>
          <a:prstGeom prst="rect">
            <a:avLst/>
          </a:prstGeom>
          <a:solidFill>
            <a:srgbClr val="25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42000" y="2905200"/>
            <a:ext cx="169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ECDC4"/>
                </a:solidFill>
                <a:latin typeface="맑은 고딕"/>
              </a:rPr>
              <a:t>증강 시스템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088000" y="2862000"/>
            <a:ext cx="1260000" cy="360000"/>
          </a:xfrm>
          <a:prstGeom prst="rect">
            <a:avLst/>
          </a:prstGeom>
          <a:solidFill>
            <a:srgbClr val="25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142000" y="2905200"/>
            <a:ext cx="115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맑은 고딕"/>
              </a:rPr>
              <a:t>본인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348000" y="2862000"/>
            <a:ext cx="7740000" cy="360000"/>
          </a:xfrm>
          <a:prstGeom prst="rect">
            <a:avLst/>
          </a:prstGeom>
          <a:solidFill>
            <a:srgbClr val="25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3402000" y="2905200"/>
            <a:ext cx="763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AbilityBase 추상 클래스 기반 설계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88000" y="3240000"/>
            <a:ext cx="1800000" cy="36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42000" y="3283199"/>
            <a:ext cx="169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ECDC4"/>
                </a:solidFill>
                <a:latin typeface="맑은 고딕"/>
              </a:rPr>
              <a:t>렌더링 최적화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088000" y="3240000"/>
            <a:ext cx="1260000" cy="36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2142000" y="3283199"/>
            <a:ext cx="115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맑은 고딕"/>
              </a:rPr>
              <a:t>본인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348000" y="3240000"/>
            <a:ext cx="7740000" cy="36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3402000" y="3283199"/>
            <a:ext cx="763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Occlusion Culling 적용 (13fps → 63.6fps, 약 390% 향상)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88000" y="3618000"/>
            <a:ext cx="1800000" cy="360000"/>
          </a:xfrm>
          <a:prstGeom prst="rect">
            <a:avLst/>
          </a:prstGeom>
          <a:solidFill>
            <a:srgbClr val="25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342000" y="3661200"/>
            <a:ext cx="169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ECDC4"/>
                </a:solidFill>
                <a:latin typeface="맑은 고딕"/>
              </a:rPr>
              <a:t>네트워크 안정화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088000" y="3618000"/>
            <a:ext cx="1260000" cy="360000"/>
          </a:xfrm>
          <a:prstGeom prst="rect">
            <a:avLst/>
          </a:prstGeom>
          <a:solidFill>
            <a:srgbClr val="25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2142000" y="3661200"/>
            <a:ext cx="115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맑은 고딕"/>
              </a:rPr>
              <a:t>본인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348000" y="3618000"/>
            <a:ext cx="7740000" cy="360000"/>
          </a:xfrm>
          <a:prstGeom prst="rect">
            <a:avLst/>
          </a:prstGeom>
          <a:solidFill>
            <a:srgbClr val="25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3402000" y="3661200"/>
            <a:ext cx="763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Jitter 원인 분석 및 동기화 기준 일원화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119" cy="64800"/>
          </a:xfrm>
          <a:prstGeom prst="rect">
            <a:avLst/>
          </a:prstGeom>
          <a:solidFill>
            <a:srgbClr val="78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88000" y="144000"/>
            <a:ext cx="108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맑은 고딕"/>
              </a:rPr>
              <a:t>마네킹 — 기획 의도</a:t>
            </a:r>
          </a:p>
        </p:txBody>
      </p:sp>
      <p:sp>
        <p:nvSpPr>
          <p:cNvPr id="4" name="Rectangle 3"/>
          <p:cNvSpPr/>
          <p:nvPr/>
        </p:nvSpPr>
        <p:spPr>
          <a:xfrm>
            <a:off x="288000" y="1080000"/>
            <a:ext cx="5580000" cy="198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88000" y="1080000"/>
            <a:ext cx="5580000" cy="21600"/>
          </a:xfrm>
          <a:prstGeom prst="rect">
            <a:avLst/>
          </a:prstGeom>
          <a:solidFill>
            <a:srgbClr val="78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96000" y="1134000"/>
            <a:ext cx="536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ECDC4"/>
                </a:solidFill>
                <a:latin typeface="맑은 고딕"/>
              </a:rPr>
              <a:t>트렌드 분석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6000" y="1404000"/>
            <a:ext cx="5364000" cy="15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게이머 평균 플레이 타임 지속 감소
롤 칼바람 나락에 증강 추가 → 단판 템포 가속 트렌드
비대칭 PVP(협력·심리전)에 로그라이크 요소(증강) 결합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3311999"/>
            <a:ext cx="5580000" cy="180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88000" y="3311999"/>
            <a:ext cx="5580000" cy="21600"/>
          </a:xfrm>
          <a:prstGeom prst="rect">
            <a:avLst/>
          </a:prstGeom>
          <a:solidFill>
            <a:srgbClr val="78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96000" y="3366000"/>
            <a:ext cx="536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ECDC4"/>
                </a:solidFill>
                <a:latin typeface="맑은 고딕"/>
              </a:rPr>
              <a:t>AI 활용 팀 규칙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6000" y="3636000"/>
            <a:ext cx="5364000" cy="140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단순 '만들어줘'가 아닌 명확한 근거와 동작 방식 명시
기존 코드와의 정합성·연동성을 고려하여 프롬프팅
생성된 코드 반드시 직접 검토 후 사용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0000" y="1080000"/>
            <a:ext cx="5580000" cy="198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300000" y="1080000"/>
            <a:ext cx="5580000" cy="21600"/>
          </a:xfrm>
          <a:prstGeom prst="rect">
            <a:avLst/>
          </a:prstGeom>
          <a:solidFill>
            <a:srgbClr val="78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8000" y="1134000"/>
            <a:ext cx="536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ECDC4"/>
                </a:solidFill>
                <a:latin typeface="맑은 고딕"/>
              </a:rPr>
              <a:t>증강 시스템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8000" y="1404000"/>
            <a:ext cx="5364000" cy="15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매 판마다 증강 조합이 달라 → 리플레이어빌리티 확보
로그라이크 장르의 핵심 '빌드 다양성'을 PVP에 이식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0000" y="3311999"/>
            <a:ext cx="5580000" cy="180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300000" y="3311999"/>
            <a:ext cx="5580000" cy="21600"/>
          </a:xfrm>
          <a:prstGeom prst="rect">
            <a:avLst/>
          </a:prstGeom>
          <a:solidFill>
            <a:srgbClr val="78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8000" y="3366000"/>
            <a:ext cx="536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ECDC4"/>
                </a:solidFill>
                <a:latin typeface="맑은 고딕"/>
              </a:rPr>
              <a:t>결과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8000" y="3636000"/>
            <a:ext cx="5364000" cy="140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단판 플레이 템포 가속
매 판 새로운 빌드 경험으로 반복 플레이 유도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119" cy="64800"/>
          </a:xfrm>
          <a:prstGeom prst="rect">
            <a:avLst/>
          </a:prstGeom>
          <a:solidFill>
            <a:srgbClr val="78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88000" y="144000"/>
            <a:ext cx="108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맑은 고딕"/>
              </a:rPr>
              <a:t>마네킹 — 살인마 스킬 4종</a:t>
            </a:r>
          </a:p>
        </p:txBody>
      </p:sp>
      <p:sp>
        <p:nvSpPr>
          <p:cNvPr id="4" name="Rectangle 3"/>
          <p:cNvSpPr/>
          <p:nvPr/>
        </p:nvSpPr>
        <p:spPr>
          <a:xfrm>
            <a:off x="288000" y="1080000"/>
            <a:ext cx="2808000" cy="468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88000" y="1080000"/>
            <a:ext cx="2808000" cy="25200"/>
          </a:xfrm>
          <a:prstGeom prst="rect">
            <a:avLst/>
          </a:prstGeom>
          <a:solidFill>
            <a:srgbClr val="78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0000" y="1152000"/>
            <a:ext cx="2592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6B6B"/>
                </a:solidFill>
                <a:latin typeface="맑은 고딕"/>
              </a:rPr>
              <a:t>더미 설치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0000" y="1548000"/>
            <a:ext cx="2592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•  설치 가능 구역 리스트를 순회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000" y="1872000"/>
            <a:ext cx="2592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•  가장 가깝고 유효 거리 내 지점 자동 선택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000" y="2196000"/>
            <a:ext cx="2592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•  전이·교란 스킬의 기반 오브젝트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0" y="1080000"/>
            <a:ext cx="2808000" cy="468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240000" y="1080000"/>
            <a:ext cx="2808000" cy="25200"/>
          </a:xfrm>
          <a:prstGeom prst="rect">
            <a:avLst/>
          </a:prstGeom>
          <a:solidFill>
            <a:srgbClr val="78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311999" y="1152000"/>
            <a:ext cx="2592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6B6B"/>
                </a:solidFill>
                <a:latin typeface="맑은 고딕"/>
              </a:rPr>
              <a:t>전이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11999" y="1548000"/>
            <a:ext cx="2592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•  더미만 렌더링하는 전용 카메라 별도 구성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11999" y="1872000"/>
            <a:ext cx="2592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•  맵 안개에 의한 시야 차단 해결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11999" y="2196000"/>
            <a:ext cx="2592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•  → 안개 무시 커스텀 쉐이더 제작·적용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2000" y="1080000"/>
            <a:ext cx="2808000" cy="468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192000" y="1080000"/>
            <a:ext cx="2808000" cy="25200"/>
          </a:xfrm>
          <a:prstGeom prst="rect">
            <a:avLst/>
          </a:prstGeom>
          <a:solidFill>
            <a:srgbClr val="78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999" y="1152000"/>
            <a:ext cx="2592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6B6B"/>
                </a:solidFill>
                <a:latin typeface="맑은 고딕"/>
              </a:rPr>
              <a:t>교란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999" y="1548000"/>
            <a:ext cx="2592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•  전이 애니메이션을 생존자가 파악하는 문제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999" y="1872000"/>
            <a:ext cx="2592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•  교란 사용 시 모든 더미에 동시 애니메이션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999" y="2196000"/>
            <a:ext cx="2592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•  → 실제 전이와 구분 불가 → 심리전 확장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0" y="1080000"/>
            <a:ext cx="2808000" cy="468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9144000" y="1080000"/>
            <a:ext cx="2808000" cy="25200"/>
          </a:xfrm>
          <a:prstGeom prst="rect">
            <a:avLst/>
          </a:prstGeom>
          <a:solidFill>
            <a:srgbClr val="78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216000" y="1152000"/>
            <a:ext cx="2592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6B6B"/>
                </a:solidFill>
                <a:latin typeface="맑은 고딕"/>
              </a:rPr>
              <a:t>위장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16000" y="1548000"/>
            <a:ext cx="2592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•  1인칭 시점의 색적 능력 보완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16000" y="1872000"/>
            <a:ext cx="2592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•  3인칭 시점 전환 기능 추가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16000" y="2196000"/>
            <a:ext cx="2592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•  인근 거리 내 살인마 존재 시 생존자 효음 차단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119" cy="64800"/>
          </a:xfrm>
          <a:prstGeom prst="rect">
            <a:avLst/>
          </a:prstGeom>
          <a:solidFill>
            <a:srgbClr val="78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88000" y="144000"/>
            <a:ext cx="108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맑은 고딕"/>
              </a:rPr>
              <a:t>마네킹 — 스폰 시스템 최적화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8000" y="648000"/>
            <a:ext cx="108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ECDC4"/>
                </a:solidFill>
                <a:latin typeface="맑은 고딕"/>
              </a:rPr>
              <a:t>네트워크 트래픽 50% 감소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260000"/>
            <a:ext cx="32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  <a:latin typeface="맑은 고딕"/>
              </a:rPr>
              <a:t>전송 데이터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1512000"/>
            <a:ext cx="32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6B6B"/>
                </a:solidFill>
                <a:latin typeface="맑은 고딕"/>
              </a:rPr>
              <a:t>6개 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2015999"/>
            <a:ext cx="324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AAAABB"/>
                </a:solidFill>
                <a:latin typeface="맑은 고딕"/>
              </a:rPr>
              <a:t>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2304000"/>
            <a:ext cx="32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6BD98A"/>
                </a:solidFill>
                <a:latin typeface="맑은 고딕"/>
              </a:rPr>
              <a:t>3개 값</a:t>
            </a:r>
          </a:p>
        </p:txBody>
      </p:sp>
      <p:sp>
        <p:nvSpPr>
          <p:cNvPr id="9" name="Rectangle 8"/>
          <p:cNvSpPr/>
          <p:nvPr/>
        </p:nvSpPr>
        <p:spPr>
          <a:xfrm>
            <a:off x="3960000" y="1080000"/>
            <a:ext cx="7740000" cy="270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960000" y="1080000"/>
            <a:ext cx="7740000" cy="21600"/>
          </a:xfrm>
          <a:prstGeom prst="rect">
            <a:avLst/>
          </a:prstGeom>
          <a:solidFill>
            <a:srgbClr val="78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068000" y="1134000"/>
            <a:ext cx="7523999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ECDC4"/>
                </a:solidFill>
                <a:latin typeface="맑은 고딕"/>
              </a:rPr>
              <a:t>분석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68000" y="1404000"/>
            <a:ext cx="7523999" cy="230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기존: position(x,y,z) + rotation(x,y,z) = 6개 전송
살인마 position.y = 108f 고정
생존자 position.y = 1f 고정
rotation.x, rotation.z 항상 0 고정
→ 실제로 변하는 값: x, z, rotation.y 3개뿐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0000" y="3960000"/>
            <a:ext cx="7740000" cy="2520000"/>
          </a:xfrm>
          <a:prstGeom prst="rect">
            <a:avLst/>
          </a:prstGeom>
          <a:solidFill>
            <a:srgbClr val="282840"/>
          </a:solidFill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ECDC4"/>
                </a:solidFill>
                <a:latin typeface="Consolas"/>
              </a:rPr>
              <a:t>public (Vector3 pos, Quaternion rot)
    GetKillerSpawnData()
{
    Vector3 d = killerPoints[SelectedIndex];
    return (
        new Vector3(d.x, 108f, d.z),
        Quaternion.Euler(0, d.y, 0));
}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119" cy="64800"/>
          </a:xfrm>
          <a:prstGeom prst="rect">
            <a:avLst/>
          </a:prstGeom>
          <a:solidFill>
            <a:srgbClr val="78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88000" y="144000"/>
            <a:ext cx="108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맑은 고딕"/>
              </a:rPr>
              <a:t>마네킹 — 인터페이스 vs 추상 클래스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8000" y="648000"/>
            <a:ext cx="108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ECDC4"/>
                </a:solidFill>
                <a:latin typeface="맑은 고딕"/>
              </a:rPr>
              <a:t>상호작용 시스템 &amp; 증강 시스템</a:t>
            </a:r>
          </a:p>
        </p:txBody>
      </p:sp>
      <p:sp>
        <p:nvSpPr>
          <p:cNvPr id="5" name="Rectangle 4"/>
          <p:cNvSpPr/>
          <p:nvPr/>
        </p:nvSpPr>
        <p:spPr>
          <a:xfrm>
            <a:off x="288000" y="1080000"/>
            <a:ext cx="5688000" cy="522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88000" y="1080000"/>
            <a:ext cx="5688000" cy="25200"/>
          </a:xfrm>
          <a:prstGeom prst="rect">
            <a:avLst/>
          </a:prstGeom>
          <a:solidFill>
            <a:srgbClr val="78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96000" y="1152000"/>
            <a:ext cx="54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ECDC4"/>
                </a:solidFill>
                <a:latin typeface="맑은 고딕"/>
              </a:rPr>
              <a:t>상호작용 시스템 → 인터페이스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6000" y="1548000"/>
            <a:ext cx="54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맑은 고딕"/>
              </a:rPr>
              <a:t>•  파괴 / 정화 / 뛰어넘기  ← 수평 확장 관계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6000" y="1908000"/>
            <a:ext cx="54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맑은 고딕"/>
              </a:rPr>
              <a:t>•  파괴·정화: NetworkBehaviour 상속 필요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6000" y="2268000"/>
            <a:ext cx="54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맑은 고딕"/>
              </a:rPr>
              <a:t>•  뛰어넘기: MonoBehaviour로 충분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6000" y="2628000"/>
            <a:ext cx="54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맑은 고딕"/>
              </a:rPr>
              <a:t>•  C# 단일 상속 제약 → 추상 클래스로 묶기 불가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6000" y="2988000"/>
            <a:ext cx="54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D93D"/>
                </a:solidFill>
                <a:latin typeface="맑은 고딕"/>
              </a:rPr>
              <a:t>   → 인터페이스 선택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000" y="3491999"/>
            <a:ext cx="5400000" cy="2520000"/>
          </a:xfrm>
          <a:prstGeom prst="rect">
            <a:avLst/>
          </a:prstGeom>
          <a:solidFill>
            <a:srgbClr val="202034"/>
          </a:solidFill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ECDC4"/>
                </a:solidFill>
                <a:latin typeface="Consolas"/>
              </a:rPr>
              <a:t>public interface IInteractable
{
    string GetInteractionText(
               GameObject interactor);
    string GetAnimationTrigger();
    void   OnInteract(
               GameObject gameObject);
}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2000" y="1080000"/>
            <a:ext cx="5688000" cy="522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192000" y="1080000"/>
            <a:ext cx="5688000" cy="25200"/>
          </a:xfrm>
          <a:prstGeom prst="rect">
            <a:avLst/>
          </a:prstGeom>
          <a:solidFill>
            <a:srgbClr val="78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00000" y="1152000"/>
            <a:ext cx="54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B6B"/>
                </a:solidFill>
                <a:latin typeface="맑은 고딕"/>
              </a:rPr>
              <a:t>증강 시스템 → 추상 클래스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0000" y="1548000"/>
            <a:ext cx="54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맑은 고딕"/>
              </a:rPr>
              <a:t>•  NetworkBehaviour 반드시 상속 (호스트·클라이언트 동기화)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0000" y="1908000"/>
            <a:ext cx="54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맑은 고딕"/>
              </a:rPr>
              <a:t>•  기능이 계층적으로 확장 ← 수직 확장 관계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000" y="2268000"/>
            <a:ext cx="54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D93D"/>
                </a:solidFill>
                <a:latin typeface="맑은 고딕"/>
              </a:rPr>
              <a:t>   → 추상 클래스 선택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000" y="2628000"/>
            <a:ext cx="54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맑은 고딕"/>
              </a:rPr>
              <a:t>•  Activate(): 미구현 시 치명적 → 추상 함수로 강제화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0000" y="2988000"/>
            <a:ext cx="54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맑은 고딕"/>
              </a:rPr>
              <a:t>•  Awake():  방어 코드 (선택적) → 가상 함수로 오버라이드 허용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0000" y="3491999"/>
            <a:ext cx="5400000" cy="2520000"/>
          </a:xfrm>
          <a:prstGeom prst="rect">
            <a:avLst/>
          </a:prstGeom>
          <a:solidFill>
            <a:srgbClr val="202034"/>
          </a:solidFill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ECDC4"/>
                </a:solidFill>
                <a:latin typeface="Consolas"/>
              </a:rPr>
              <a:t>public abstract class AbilityBase
    : NetworkBehaviour
{
    // 미구현 시 치명적 → 추상 함수
    public abstract void Activate();
    // 방어 코드 → 가상 함수
    protected virtual void Awake()
    { this.enabled = false; }
}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119" cy="64800"/>
          </a:xfrm>
          <a:prstGeom prst="rect">
            <a:avLst/>
          </a:prstGeom>
          <a:solidFill>
            <a:srgbClr val="78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88000" y="144000"/>
            <a:ext cx="108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맑은 고딕"/>
              </a:rPr>
              <a:t>마네킹 — 렌더링 최적화 &amp; 네트워크 안정화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1080000"/>
            <a:ext cx="36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  <a:latin typeface="맑은 고딕"/>
              </a:rPr>
              <a:t>렌더링 성능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1332000"/>
            <a:ext cx="36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6B6B"/>
                </a:solidFill>
                <a:latin typeface="맑은 고딕"/>
              </a:rPr>
              <a:t>13 fps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1835999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AAAABB"/>
                </a:solidFill>
                <a:latin typeface="맑은 고딕"/>
              </a:rPr>
              <a:t>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0000" y="2124000"/>
            <a:ext cx="36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6BD98A"/>
                </a:solidFill>
                <a:latin typeface="맑은 고딕"/>
              </a:rPr>
              <a:t>63.6 fps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0000" y="1080000"/>
            <a:ext cx="7560000" cy="252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320000" y="1080000"/>
            <a:ext cx="7560000" cy="21600"/>
          </a:xfrm>
          <a:prstGeom prst="rect">
            <a:avLst/>
          </a:prstGeom>
          <a:solidFill>
            <a:srgbClr val="78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428000" y="1134000"/>
            <a:ext cx="7343999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ECDC4"/>
                </a:solidFill>
                <a:latin typeface="맑은 고딕"/>
              </a:rPr>
              <a:t>Occlusion Culling 선택 이유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8000" y="1404000"/>
            <a:ext cx="7343999" cy="21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AI 생성 3D 메시 다수 → vertex 복잡
맵 규모 상당 → Frustum Culling 한계
카메라 뷰 내 가려진 오브젝트가 많은 구조
5주 일정 → 개별 LOD보다 공간 단위 Occlusion Culling이
비용 대비 효과 높다고 판단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0000" y="3780000"/>
            <a:ext cx="7560000" cy="252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20000" y="3780000"/>
            <a:ext cx="7560000" cy="21600"/>
          </a:xfrm>
          <a:prstGeom prst="rect">
            <a:avLst/>
          </a:prstGeom>
          <a:solidFill>
            <a:srgbClr val="78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28000" y="3834000"/>
            <a:ext cx="7343999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ECDC4"/>
                </a:solidFill>
                <a:latin typeface="맑은 고딕"/>
              </a:rPr>
              <a:t>Jitter 완화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8000" y="4104000"/>
            <a:ext cx="7343999" cy="21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발생: 특정 증강 획득 시 Jitter 발생
원인: 서버·클라이언트가 서로 다른 시간축으로
       상태 변경 → 네트워크 지연 누적
해결: RPC로 상태값 추가 확정 (방어 코드)
       동기화 기준을 서버로 일원화
       증강 적용 시점을 동기화 확인 이후로 지연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700000"/>
            <a:ext cx="12192119" cy="1440000"/>
          </a:xfrm>
          <a:prstGeom prst="rect">
            <a:avLst/>
          </a:prstGeom>
          <a:solidFill>
            <a:srgbClr val="996633">
              <a:alpha val="6980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88000" y="2808000"/>
            <a:ext cx="1152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 dirty="0" err="1">
                <a:solidFill>
                  <a:schemeClr val="bg2"/>
                </a:solidFill>
                <a:latin typeface="맑은 고딕"/>
              </a:rPr>
              <a:t>헤이터</a:t>
            </a:r>
            <a:endParaRPr sz="4400" b="1" i="0" dirty="0">
              <a:solidFill>
                <a:schemeClr val="bg2"/>
              </a:solidFill>
              <a:latin typeface="맑은 고딕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88000" y="3780000"/>
            <a:ext cx="11520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b="0" i="0" dirty="0">
                <a:solidFill>
                  <a:schemeClr val="bg2"/>
                </a:solidFill>
                <a:latin typeface="맑은 고딕"/>
              </a:rPr>
              <a:t>https://jeve98.github.io/Portfolio/hater-project</a:t>
            </a:r>
            <a:endParaRPr sz="1200" b="0" i="0" dirty="0">
              <a:solidFill>
                <a:schemeClr val="bg2"/>
              </a:solidFill>
              <a:latin typeface="맑은 고딕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119" cy="64800"/>
          </a:xfrm>
          <a:prstGeom prst="rect">
            <a:avLst/>
          </a:prstGeom>
          <a:solidFill>
            <a:srgbClr val="996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88000" y="144000"/>
            <a:ext cx="108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맑은 고딕"/>
              </a:rPr>
              <a:t>헤이터 — 담당 역할</a:t>
            </a:r>
          </a:p>
        </p:txBody>
      </p:sp>
      <p:sp>
        <p:nvSpPr>
          <p:cNvPr id="4" name="Rectangle 3"/>
          <p:cNvSpPr/>
          <p:nvPr/>
        </p:nvSpPr>
        <p:spPr>
          <a:xfrm>
            <a:off x="288000" y="1080000"/>
            <a:ext cx="1800000" cy="270000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2000" y="1116000"/>
            <a:ext cx="169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C1C2E"/>
                </a:solidFill>
                <a:latin typeface="맑은 고딕"/>
              </a:rPr>
              <a:t>역할</a:t>
            </a:r>
          </a:p>
        </p:txBody>
      </p:sp>
      <p:sp>
        <p:nvSpPr>
          <p:cNvPr id="6" name="Rectangle 5"/>
          <p:cNvSpPr/>
          <p:nvPr/>
        </p:nvSpPr>
        <p:spPr>
          <a:xfrm>
            <a:off x="2088000" y="1080000"/>
            <a:ext cx="1260000" cy="270000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142000" y="1116000"/>
            <a:ext cx="115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C1C2E"/>
                </a:solidFill>
                <a:latin typeface="맑은 고딕"/>
              </a:rPr>
              <a:t>비중</a:t>
            </a:r>
          </a:p>
        </p:txBody>
      </p:sp>
      <p:sp>
        <p:nvSpPr>
          <p:cNvPr id="8" name="Rectangle 7"/>
          <p:cNvSpPr/>
          <p:nvPr/>
        </p:nvSpPr>
        <p:spPr>
          <a:xfrm>
            <a:off x="3348000" y="1080000"/>
            <a:ext cx="7740000" cy="270000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402000" y="1116000"/>
            <a:ext cx="763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C1C2E"/>
                </a:solidFill>
                <a:latin typeface="맑은 고딕"/>
              </a:rPr>
              <a:t>내용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8000" y="1350000"/>
            <a:ext cx="1800000" cy="360000"/>
          </a:xfrm>
          <a:prstGeom prst="rect">
            <a:avLst/>
          </a:prstGeom>
          <a:solidFill>
            <a:srgbClr val="25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42000" y="1393200"/>
            <a:ext cx="169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ECDC4"/>
                </a:solidFill>
                <a:latin typeface="맑은 고딕"/>
              </a:rPr>
              <a:t>아키텍처 설계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88000" y="1350000"/>
            <a:ext cx="1260000" cy="360000"/>
          </a:xfrm>
          <a:prstGeom prst="rect">
            <a:avLst/>
          </a:prstGeom>
          <a:solidFill>
            <a:srgbClr val="25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142000" y="1393200"/>
            <a:ext cx="115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맑은 고딕"/>
              </a:rPr>
              <a:t>본인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48000" y="1350000"/>
            <a:ext cx="7740000" cy="360000"/>
          </a:xfrm>
          <a:prstGeom prst="rect">
            <a:avLst/>
          </a:prstGeom>
          <a:solidFill>
            <a:srgbClr val="25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02000" y="1393200"/>
            <a:ext cx="763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Thread safe Singleton 제네릭 베이스 클래스 (CRTP 패턴)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8000" y="1728000"/>
            <a:ext cx="1800000" cy="36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42000" y="1771200"/>
            <a:ext cx="169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ECDC4"/>
                </a:solidFill>
                <a:latin typeface="맑은 고딕"/>
              </a:rPr>
              <a:t>세션 관리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88000" y="1728000"/>
            <a:ext cx="1260000" cy="36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142000" y="1771200"/>
            <a:ext cx="115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맑은 고딕"/>
              </a:rPr>
              <a:t>본인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48000" y="1728000"/>
            <a:ext cx="7740000" cy="36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402000" y="1771200"/>
            <a:ext cx="763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새로고침 대응 세션 복구 시스템 (OCP 리팩토링)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8000" y="2106000"/>
            <a:ext cx="1800000" cy="360000"/>
          </a:xfrm>
          <a:prstGeom prst="rect">
            <a:avLst/>
          </a:prstGeom>
          <a:solidFill>
            <a:srgbClr val="25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42000" y="2149200"/>
            <a:ext cx="169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ECDC4"/>
                </a:solidFill>
                <a:latin typeface="맑은 고딕"/>
              </a:rPr>
              <a:t>디펜스 기능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88000" y="2106000"/>
            <a:ext cx="1260000" cy="360000"/>
          </a:xfrm>
          <a:prstGeom prst="rect">
            <a:avLst/>
          </a:prstGeom>
          <a:solidFill>
            <a:srgbClr val="25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142000" y="2149200"/>
            <a:ext cx="115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맑은 고딕"/>
              </a:rPr>
              <a:t>본인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48000" y="2106000"/>
            <a:ext cx="7740000" cy="360000"/>
          </a:xfrm>
          <a:prstGeom prst="rect">
            <a:avLst/>
          </a:prstGeom>
          <a:solidFill>
            <a:srgbClr val="25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402000" y="2149200"/>
            <a:ext cx="763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유닛 배치 동기화 · 사정거리 인디케이터 · 오브젝트 풀 스폰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8000" y="2484000"/>
            <a:ext cx="1800000" cy="36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42000" y="2527200"/>
            <a:ext cx="169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ECDC4"/>
                </a:solidFill>
                <a:latin typeface="맑은 고딕"/>
              </a:rPr>
              <a:t>탐사 컨텐츠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088000" y="2484000"/>
            <a:ext cx="1260000" cy="36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142000" y="2527200"/>
            <a:ext cx="115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맑은 고딕"/>
              </a:rPr>
              <a:t>본인 (N종 중 4종)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348000" y="2484000"/>
            <a:ext cx="7740000" cy="36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402000" y="2527200"/>
            <a:ext cx="763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기근 · 마력 안개 · 인사 이동 · 저주 정화 이벤트 구현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8000" y="2862000"/>
            <a:ext cx="1800000" cy="360000"/>
          </a:xfrm>
          <a:prstGeom prst="rect">
            <a:avLst/>
          </a:prstGeom>
          <a:solidFill>
            <a:srgbClr val="25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42000" y="2905200"/>
            <a:ext cx="169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ECDC4"/>
                </a:solidFill>
                <a:latin typeface="맑은 고딕"/>
              </a:rPr>
              <a:t>보안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088000" y="2862000"/>
            <a:ext cx="1260000" cy="360000"/>
          </a:xfrm>
          <a:prstGeom prst="rect">
            <a:avLst/>
          </a:prstGeom>
          <a:solidFill>
            <a:srgbClr val="25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142000" y="2905200"/>
            <a:ext cx="115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맑은 고딕"/>
              </a:rPr>
              <a:t>본인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348000" y="2862000"/>
            <a:ext cx="7740000" cy="360000"/>
          </a:xfrm>
          <a:prstGeom prst="rect">
            <a:avLst/>
          </a:prstGeom>
          <a:solidFill>
            <a:srgbClr val="25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3402000" y="2905200"/>
            <a:ext cx="763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AES-GCM + RSA 세션키 교환 기반 암호화 통신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88000" y="3240000"/>
            <a:ext cx="1800000" cy="36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42000" y="3283199"/>
            <a:ext cx="169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ECDC4"/>
                </a:solidFill>
                <a:latin typeface="맑은 고딕"/>
              </a:rPr>
              <a:t>최적화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088000" y="3240000"/>
            <a:ext cx="1260000" cy="36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2142000" y="3283199"/>
            <a:ext cx="115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맑은 고딕"/>
              </a:rPr>
              <a:t>본인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348000" y="3240000"/>
            <a:ext cx="7740000" cy="36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3402000" y="3283199"/>
            <a:ext cx="763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GPU Instancing · SpriteSync · 픽셀아트 설정으로 WebGL 개선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119" cy="64800"/>
          </a:xfrm>
          <a:prstGeom prst="rect">
            <a:avLst/>
          </a:prstGeom>
          <a:solidFill>
            <a:srgbClr val="996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88000" y="144000"/>
            <a:ext cx="108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맑은 고딕"/>
              </a:rPr>
              <a:t>헤이터 — Thread safe Singleton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8000" y="648000"/>
            <a:ext cx="108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ECDC4"/>
                </a:solidFill>
                <a:latin typeface="맑은 고딕"/>
              </a:rPr>
              <a:t>CRTP 패턴 + 상호 배제</a:t>
            </a:r>
          </a:p>
        </p:txBody>
      </p:sp>
      <p:sp>
        <p:nvSpPr>
          <p:cNvPr id="5" name="Rectangle 4"/>
          <p:cNvSpPr/>
          <p:nvPr/>
        </p:nvSpPr>
        <p:spPr>
          <a:xfrm>
            <a:off x="288000" y="1080000"/>
            <a:ext cx="5580000" cy="90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88000" y="1080000"/>
            <a:ext cx="5580000" cy="21600"/>
          </a:xfrm>
          <a:prstGeom prst="rect">
            <a:avLst/>
          </a:prstGeom>
          <a:solidFill>
            <a:srgbClr val="996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96000" y="1134000"/>
            <a:ext cx="536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ECDC4"/>
                </a:solidFill>
                <a:latin typeface="맑은 고딕"/>
              </a:rPr>
              <a:t>문제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6000" y="1404000"/>
            <a:ext cx="5364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매니저 클래스마다 싱글톤 생성 코드를 반복 작성 → 유지 보수성 저하</a:t>
            </a:r>
          </a:p>
        </p:txBody>
      </p:sp>
      <p:sp>
        <p:nvSpPr>
          <p:cNvPr id="9" name="Rectangle 8"/>
          <p:cNvSpPr/>
          <p:nvPr/>
        </p:nvSpPr>
        <p:spPr>
          <a:xfrm>
            <a:off x="288000" y="2160000"/>
            <a:ext cx="5580000" cy="144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88000" y="2160000"/>
            <a:ext cx="5580000" cy="21600"/>
          </a:xfrm>
          <a:prstGeom prst="rect">
            <a:avLst/>
          </a:prstGeom>
          <a:solidFill>
            <a:srgbClr val="996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96000" y="2214000"/>
            <a:ext cx="536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ECDC4"/>
                </a:solidFill>
                <a:latin typeface="맑은 고딕"/>
              </a:rPr>
              <a:t>해결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6000" y="2484000"/>
            <a:ext cx="5364000" cy="10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제네릭 베이스 클래스로 싱글톤 로직 분리
CRTP 패턴으로 매니저마다 독립 정적 인스턴스 → 캐스팅 없이 직접 접근
lock 블록으로 상호 배제 적용 (멀티 스레드 확장 대비)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8000" y="3780000"/>
            <a:ext cx="5580000" cy="144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88000" y="3780000"/>
            <a:ext cx="5580000" cy="21600"/>
          </a:xfrm>
          <a:prstGeom prst="rect">
            <a:avLst/>
          </a:prstGeom>
          <a:solidFill>
            <a:srgbClr val="996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96000" y="3834000"/>
            <a:ext cx="536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ECDC4"/>
                </a:solidFill>
                <a:latin typeface="맑은 고딕"/>
              </a:rPr>
              <a:t>추가 트러블슈팅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6000" y="4104000"/>
            <a:ext cx="5364000" cy="10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부모 오브젝트로 묶었을 때 DontDestroyOnLoad 동작 안 함
Find + 캐싱 방식은 싱글톤을 클라이언트 코드에서 재구현하는 것과 동일 → 안전성 저하
해결: 생성 시 부모 관계를 끊는 방식 채택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0000" y="1080000"/>
            <a:ext cx="5760000" cy="4140000"/>
          </a:xfrm>
          <a:prstGeom prst="rect">
            <a:avLst/>
          </a:prstGeom>
          <a:solidFill>
            <a:srgbClr val="282840"/>
          </a:solidFill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ECDC4"/>
                </a:solidFill>
                <a:latin typeface="Consolas"/>
              </a:rPr>
              <a:t>public class Singleton&lt;T&gt; : MonoBehaviour
    where T : MonoBehaviour
{
    private static T _instance;
    private static readonly object _lock
                     = new object();
    public static T Instance
    {
        get { lock (_lock) { /* 생성 */ } }
    }
}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119" cy="64800"/>
          </a:xfrm>
          <a:prstGeom prst="rect">
            <a:avLst/>
          </a:prstGeom>
          <a:solidFill>
            <a:srgbClr val="996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88000" y="144000"/>
            <a:ext cx="108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맑은 고딕"/>
              </a:rPr>
              <a:t>헤이터 — 세션 복구 시스템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8000" y="648000"/>
            <a:ext cx="108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ECDC4"/>
                </a:solidFill>
                <a:latin typeface="맑은 고딕"/>
              </a:rPr>
              <a:t>OCP 위반 → Dictionary 기반 리팩토링</a:t>
            </a:r>
          </a:p>
        </p:txBody>
      </p:sp>
      <p:sp>
        <p:nvSpPr>
          <p:cNvPr id="5" name="Rectangle 4"/>
          <p:cNvSpPr/>
          <p:nvPr/>
        </p:nvSpPr>
        <p:spPr>
          <a:xfrm>
            <a:off x="288000" y="1080000"/>
            <a:ext cx="5580000" cy="1007999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88000" y="1080000"/>
            <a:ext cx="5580000" cy="21600"/>
          </a:xfrm>
          <a:prstGeom prst="rect">
            <a:avLst/>
          </a:prstGeom>
          <a:solidFill>
            <a:srgbClr val="996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96000" y="1134000"/>
            <a:ext cx="536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ECDC4"/>
                </a:solidFill>
                <a:latin typeface="맑은 고딕"/>
              </a:rPr>
              <a:t>문제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6000" y="1404000"/>
            <a:ext cx="5364000" cy="61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웹 게임 새로고침 시 씬 재로드
상태 미저장 → 다음 스테이지 정보 미리 확인 / 방어전 무한 반복 가능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00" y="2340000"/>
            <a:ext cx="558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ECDC4"/>
                </a:solidFill>
                <a:latin typeface="맑은 고딕"/>
              </a:rPr>
              <a:t>Before  —  switch문 (OCP 위반)</a:t>
            </a:r>
          </a:p>
          <a:p>
            <a:pPr algn="l"/>
            <a:r>
              <a:rPr sz="1100" b="0" i="0">
                <a:solidFill>
                  <a:srgbClr val="AAAABB"/>
                </a:solidFill>
                <a:latin typeface="맑은 고딕"/>
              </a:rPr>
              <a:t>새 상태 추가 시 switch 수정 필요 → 확장 폐쇄 원칙 위반</a:t>
            </a:r>
          </a:p>
          <a:p>
            <a:pPr algn="l"/>
            <a:r>
              <a:rPr sz="1200" b="1" i="0">
                <a:solidFill>
                  <a:srgbClr val="6BD98A"/>
                </a:solidFill>
                <a:latin typeface="맑은 고딕"/>
              </a:rPr>
              <a:t>After  —  Dictionary 상태-핸들러 매핑</a:t>
            </a:r>
          </a:p>
          <a:p>
            <a:pPr algn="l"/>
            <a:r>
              <a:rPr sz="1100" b="0" i="0">
                <a:solidFill>
                  <a:srgbClr val="AAAABB"/>
                </a:solidFill>
                <a:latin typeface="맑은 고딕"/>
              </a:rPr>
              <a:t>딕셔너리에 항목만 추가 → 기존 코드 변경 없음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0000" y="1080000"/>
            <a:ext cx="5760000" cy="5220000"/>
          </a:xfrm>
          <a:prstGeom prst="rect">
            <a:avLst/>
          </a:prstGeom>
          <a:solidFill>
            <a:srgbClr val="282840"/>
          </a:solidFill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ECDC4"/>
                </a:solidFill>
                <a:latin typeface="Consolas"/>
              </a:rPr>
              <a:t>void Awake()
{
    Action recover =
      () =&gt; StartCoroutine(
        RecoveryTransitionRoutine("Defense"));
    _handlers = new Dictionary&lt;GameState, Action&gt;
    {
        { GameState.Preparation, recover },
        { GameState.Battle,      recover },
        { GameState.PostStage,   LoadPostStage },
    };
}
public void CheckAndRecoverySession()
{
    var state = GetLastSavedState();
    if (_handlers.TryGetValue(state,
           out Action handler))
        handler();
}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119" cy="64800"/>
          </a:xfrm>
          <a:prstGeom prst="rect">
            <a:avLst/>
          </a:prstGeom>
          <a:solidFill>
            <a:srgbClr val="996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88000" y="144000"/>
            <a:ext cx="108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맑은 고딕"/>
              </a:rPr>
              <a:t>헤이터 — 유닛 배치 &amp; 사정거리 인디케이터</a:t>
            </a:r>
          </a:p>
        </p:txBody>
      </p:sp>
      <p:sp>
        <p:nvSpPr>
          <p:cNvPr id="4" name="Rectangle 3"/>
          <p:cNvSpPr/>
          <p:nvPr/>
        </p:nvSpPr>
        <p:spPr>
          <a:xfrm>
            <a:off x="288000" y="1080000"/>
            <a:ext cx="5580000" cy="234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88000" y="1080000"/>
            <a:ext cx="5580000" cy="21600"/>
          </a:xfrm>
          <a:prstGeom prst="rect">
            <a:avLst/>
          </a:prstGeom>
          <a:solidFill>
            <a:srgbClr val="996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96000" y="1134000"/>
            <a:ext cx="536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ECDC4"/>
                </a:solidFill>
                <a:latin typeface="맑은 고딕"/>
              </a:rPr>
              <a:t>유닛 배치 — 단방향 동기화 + 상태 보존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6000" y="1404000"/>
            <a:ext cx="5364000" cy="19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문제: UI 변경마다 오브젝트 생성/파괴 → 버프·HP 등 컴포넌트 상태 초기화
해결: UIGridController에서 배치 상태 저장,
      패널 닫힐 때 SyncDeploymentWithWorld() 호출
      고유 ID 매핑으로 재배치 시 이동(파괴 X) → 상태 보존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3600000"/>
            <a:ext cx="5580000" cy="198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88000" y="3600000"/>
            <a:ext cx="5580000" cy="21600"/>
          </a:xfrm>
          <a:prstGeom prst="rect">
            <a:avLst/>
          </a:prstGeom>
          <a:solidFill>
            <a:srgbClr val="996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96000" y="3654000"/>
            <a:ext cx="536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ECDC4"/>
                </a:solidFill>
                <a:latin typeface="맑은 고딕"/>
              </a:rPr>
              <a:t>사정거리 인디케이터 — 상대적 비율 계산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6000" y="3924000"/>
            <a:ext cx="5364000" cy="15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문제: 유닛마다 고정값 저장 시 서버 밸런스 변경 때 클라이언트도 수정 필요
해결: 가장 짧은 사정거리(방패병) 기준으로
      인디케이터 크기를 상대 비율로 계산 → 서버 독립적
버프 증가분은 별도 레이어로 추가 표시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0000" y="1080000"/>
            <a:ext cx="5760000" cy="3600000"/>
          </a:xfrm>
          <a:prstGeom prst="rect">
            <a:avLst/>
          </a:prstGeom>
          <a:solidFill>
            <a:srgbClr val="282840"/>
          </a:solidFill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ECDC4"/>
                </a:solidFill>
                <a:latin typeface="Consolas"/>
              </a:rPr>
              <a:t>// 사정거리 인디케이터
float baseScale =
    (unitRange / shieldRange) * 1.4f;
float effectiveRange =
    unitRange * (1f + percentSum) + flatSum;
float effectiveScale =
    (effectiveRange / shieldRange) * 1.4f;
if (effectiveScale &gt; baseScale)
    SpawnIndicatorObject(
        bonusIndicator, coord, effectiveScale);
SpawnIndicatorObject(
    baseIndicator, coord, baseScale);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119" cy="64800"/>
          </a:xfrm>
          <a:prstGeom prst="rect">
            <a:avLst/>
          </a:prstGeom>
          <a:solidFill>
            <a:srgbClr val="996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88000" y="144000"/>
            <a:ext cx="108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맑은 고딕"/>
              </a:rPr>
              <a:t>헤이터 — 오브젝트 풀 기반 스폰 시스템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8000" y="648000"/>
            <a:ext cx="108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ECDC4"/>
                </a:solidFill>
                <a:latin typeface="맑은 고딕"/>
              </a:rPr>
              <a:t>Pending Queue 방식</a:t>
            </a:r>
          </a:p>
        </p:txBody>
      </p:sp>
      <p:sp>
        <p:nvSpPr>
          <p:cNvPr id="5" name="Rectangle 4"/>
          <p:cNvSpPr/>
          <p:nvPr/>
        </p:nvSpPr>
        <p:spPr>
          <a:xfrm>
            <a:off x="288000" y="1080000"/>
            <a:ext cx="5040000" cy="162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88000" y="1080000"/>
            <a:ext cx="5040000" cy="21600"/>
          </a:xfrm>
          <a:prstGeom prst="rect">
            <a:avLst/>
          </a:prstGeom>
          <a:solidFill>
            <a:srgbClr val="996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96000" y="1134000"/>
            <a:ext cx="482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ECDC4"/>
                </a:solidFill>
                <a:latin typeface="맑은 고딕"/>
              </a:rPr>
              <a:t>배경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6000" y="1404000"/>
            <a:ext cx="4824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적 유닛 300 ~ 1,500+ 마리 등장
웹 게임: 브라우저 리소스 공유 → GC 비용에 민감
유닛 생성/파괴 반복 시 GC 스파이크 빈번</a:t>
            </a:r>
          </a:p>
        </p:txBody>
      </p:sp>
      <p:sp>
        <p:nvSpPr>
          <p:cNvPr id="9" name="Rectangle 8"/>
          <p:cNvSpPr/>
          <p:nvPr/>
        </p:nvSpPr>
        <p:spPr>
          <a:xfrm>
            <a:off x="288000" y="2880000"/>
            <a:ext cx="5040000" cy="198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88000" y="2880000"/>
            <a:ext cx="5040000" cy="21600"/>
          </a:xfrm>
          <a:prstGeom prst="rect">
            <a:avLst/>
          </a:prstGeom>
          <a:solidFill>
            <a:srgbClr val="996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96000" y="2934000"/>
            <a:ext cx="482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ECDC4"/>
                </a:solidFill>
                <a:latin typeface="맑은 고딕"/>
              </a:rPr>
              <a:t>설계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6000" y="3204000"/>
            <a:ext cx="4824000" cy="15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웨이브 등장 유닛의 40% 사전 풀 생성
풀 고갈 시 → Pending Queue에 적재
유닛 반납 이벤트 발생 시 → Pending 처리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80000" y="1080000"/>
            <a:ext cx="6300000" cy="4680000"/>
          </a:xfrm>
          <a:prstGeom prst="rect">
            <a:avLst/>
          </a:prstGeom>
          <a:solidFill>
            <a:srgbClr val="282840"/>
          </a:solidFill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ECDC4"/>
                </a:solidFill>
                <a:latin typeface="Consolas"/>
              </a:rPr>
              <a:t>private void SpawnEnemy(int unitId, int grade)
{
    var obj = pool.Get(unitId);
    if (obj == null)
    {
        _pendingSpawn[unitId]++;  // pending
        return;
    }
    ApplyGrade(obj, unitId, grade);
}
// 반납 이벤트 시 pending 처리
private void OnEnemyReturnedHandler(int id)
{
    if (_pendingSpawn[id] &lt;= 0) return;
    _pendingSpawn[id]--;
    SpawnEnemy(id, _unitGrades[id]);
}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119" cy="64800"/>
          </a:xfrm>
          <a:prstGeom prst="rect">
            <a:avLst/>
          </a:prstGeom>
          <a:solidFill>
            <a:srgbClr val="996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88000" y="144000"/>
            <a:ext cx="108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맑은 고딕"/>
              </a:rPr>
              <a:t>헤이터 — 탐사 컨텐츠 구현 (4종)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8000" y="648000"/>
            <a:ext cx="108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ECDC4"/>
                </a:solidFill>
                <a:latin typeface="맑은 고딕"/>
              </a:rPr>
              <a:t>다회차 랜덤성 부여 선택지 기반 컨텐츠</a:t>
            </a:r>
          </a:p>
        </p:txBody>
      </p:sp>
      <p:sp>
        <p:nvSpPr>
          <p:cNvPr id="5" name="Rectangle 4"/>
          <p:cNvSpPr/>
          <p:nvPr/>
        </p:nvSpPr>
        <p:spPr>
          <a:xfrm>
            <a:off x="288000" y="1080000"/>
            <a:ext cx="2844000" cy="486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88000" y="1080000"/>
            <a:ext cx="2844000" cy="25200"/>
          </a:xfrm>
          <a:prstGeom prst="rect">
            <a:avLst/>
          </a:prstGeom>
          <a:solidFill>
            <a:srgbClr val="996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0000" y="1134000"/>
            <a:ext cx="180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ECDC4"/>
                </a:solidFill>
                <a:latin typeface="맑은 고딕"/>
              </a:rPr>
              <a:t>기근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60000" y="1134000"/>
            <a:ext cx="90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D93D"/>
                </a:solidFill>
                <a:latin typeface="맑은 고딕"/>
              </a:rPr>
              <a:t>지속 디버프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000" y="1548000"/>
            <a:ext cx="26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•  n회 방어전 동안 소비 식량 2배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1872000"/>
            <a:ext cx="26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•  횟수 차감을 식량 소비(방어전 시작)와 동기화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000" y="2196000"/>
            <a:ext cx="26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•  → 씬 재로드 시 횟수/식량 불일치 버그 방지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58000" y="1080000"/>
            <a:ext cx="2844000" cy="486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258000" y="1080000"/>
            <a:ext cx="2844000" cy="25200"/>
          </a:xfrm>
          <a:prstGeom prst="rect">
            <a:avLst/>
          </a:prstGeom>
          <a:solidFill>
            <a:srgbClr val="996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330000" y="1134000"/>
            <a:ext cx="180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ECDC4"/>
                </a:solidFill>
                <a:latin typeface="맑은 고딕"/>
              </a:rPr>
              <a:t>마력 안개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30000" y="1134000"/>
            <a:ext cx="90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D93D"/>
                </a:solidFill>
                <a:latin typeface="맑은 고딕"/>
              </a:rPr>
              <a:t>연출 + 스탯 분기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0000" y="1548000"/>
            <a:ext cx="26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•  성공/실패 → 버프/디버프 적용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0000" y="1872000"/>
            <a:ext cx="26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•  결과 무관 → 다음 전투에 안개 연출 등장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0000" y="2196000"/>
            <a:ext cx="26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•  채널 분리로 3가지 분기 처리 단순화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30000" y="2520000"/>
            <a:ext cx="26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•  WebGL 쉐이더 미지원 → Unlit 기반 머티리얼 제작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28000" y="1080000"/>
            <a:ext cx="2844000" cy="486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228000" y="1080000"/>
            <a:ext cx="2844000" cy="25200"/>
          </a:xfrm>
          <a:prstGeom prst="rect">
            <a:avLst/>
          </a:prstGeom>
          <a:solidFill>
            <a:srgbClr val="996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00000" y="1134000"/>
            <a:ext cx="180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ECDC4"/>
                </a:solidFill>
                <a:latin typeface="맑은 고딕"/>
              </a:rPr>
              <a:t>인사 이동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00000" y="1134000"/>
            <a:ext cx="90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D93D"/>
                </a:solidFill>
                <a:latin typeface="맑은 고딕"/>
              </a:rPr>
              <a:t>병과 교체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000" y="1548000"/>
            <a:ext cx="26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•  보유 병과 중 랜덤 선택 → 다른 병과로 변경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0000" y="1872000"/>
            <a:ext cx="26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•  클램프 처리로 보유 수량 초과 방지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0000" y="2196000"/>
            <a:ext cx="26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•  부족 병과 보충 또는 복불복 역할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98000" y="1080000"/>
            <a:ext cx="2844000" cy="486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9198000" y="1080000"/>
            <a:ext cx="2844000" cy="25200"/>
          </a:xfrm>
          <a:prstGeom prst="rect">
            <a:avLst/>
          </a:prstGeom>
          <a:solidFill>
            <a:srgbClr val="996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270000" y="1134000"/>
            <a:ext cx="180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ECDC4"/>
                </a:solidFill>
                <a:latin typeface="맑은 고딕"/>
              </a:rPr>
              <a:t>저주 정화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70000" y="1134000"/>
            <a:ext cx="90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D93D"/>
                </a:solidFill>
                <a:latin typeface="맑은 고딕"/>
              </a:rPr>
              <a:t>엘리트 유닛 소환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70000" y="1548000"/>
            <a:ext cx="26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•  실패 시 다음 방어전에 엘리트 추가 등장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70000" y="1872000"/>
            <a:ext cx="26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•  로그 분석: 고정 유닛 지정 시 웨이브 조합에 따라 위험도 편차 과대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70000" y="2196000"/>
            <a:ext cx="26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•  → 다음 웨이브 구성에서 무작위 추출 후 엘리트 대체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119" cy="64800"/>
          </a:xfrm>
          <a:prstGeom prst="rect">
            <a:avLst/>
          </a:prstGeom>
          <a:solidFill>
            <a:srgbClr val="996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88000" y="144000"/>
            <a:ext cx="108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맑은 고딕"/>
              </a:rPr>
              <a:t>헤이터 — 암호화 통신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8000" y="648000"/>
            <a:ext cx="108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ECDC4"/>
                </a:solidFill>
                <a:latin typeface="맑은 고딕"/>
              </a:rPr>
              <a:t>AES-GCM + RSA 세션키 교환</a:t>
            </a:r>
          </a:p>
        </p:txBody>
      </p:sp>
      <p:sp>
        <p:nvSpPr>
          <p:cNvPr id="5" name="Rectangle 4"/>
          <p:cNvSpPr/>
          <p:nvPr/>
        </p:nvSpPr>
        <p:spPr>
          <a:xfrm>
            <a:off x="288000" y="1080000"/>
            <a:ext cx="11520000" cy="1007999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88000" y="1080000"/>
            <a:ext cx="11520000" cy="21600"/>
          </a:xfrm>
          <a:prstGeom prst="rect">
            <a:avLst/>
          </a:prstGeom>
          <a:solidFill>
            <a:srgbClr val="996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96000" y="1134000"/>
            <a:ext cx="1130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ECDC4"/>
                </a:solidFill>
                <a:latin typeface="맑은 고딕"/>
              </a:rPr>
              <a:t>배경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6000" y="1404000"/>
            <a:ext cx="11304000" cy="61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웹 게임: 개발자 도구로 통신 내역 노출
주요 데이터를 API로 받아 덮어쓰는 치팅 방지 구조 사용 중
→ 통신 보안이 핵심</a:t>
            </a:r>
          </a:p>
        </p:txBody>
      </p:sp>
      <p:sp>
        <p:nvSpPr>
          <p:cNvPr id="9" name="Rectangle 8"/>
          <p:cNvSpPr/>
          <p:nvPr/>
        </p:nvSpPr>
        <p:spPr>
          <a:xfrm>
            <a:off x="288000" y="2340000"/>
            <a:ext cx="5040000" cy="251999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42000" y="2376000"/>
            <a:ext cx="49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C1C2E"/>
                </a:solidFill>
                <a:latin typeface="맑은 고딕"/>
              </a:rPr>
              <a:t>방식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28000" y="2340000"/>
            <a:ext cx="1800000" cy="251999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382000" y="2376000"/>
            <a:ext cx="169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C1C2E"/>
                </a:solidFill>
                <a:latin typeface="맑은 고딕"/>
              </a:rPr>
              <a:t>속도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28000" y="2340000"/>
            <a:ext cx="1800000" cy="251999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82000" y="2376000"/>
            <a:ext cx="169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C1C2E"/>
                </a:solidFill>
                <a:latin typeface="맑은 고딕"/>
              </a:rPr>
              <a:t>키 노출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28000" y="2340000"/>
            <a:ext cx="1080000" cy="251999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982000" y="2376000"/>
            <a:ext cx="97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C1C2E"/>
                </a:solidFill>
                <a:latin typeface="맑은 고딕"/>
              </a:rPr>
              <a:t>채택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88000" y="2592000"/>
            <a:ext cx="5040000" cy="378000"/>
          </a:xfrm>
          <a:prstGeom prst="rect">
            <a:avLst/>
          </a:prstGeom>
          <a:solidFill>
            <a:srgbClr val="3030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42000" y="2664000"/>
            <a:ext cx="493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맑은 고딕"/>
              </a:rPr>
              <a:t>평문 전송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28000" y="2592000"/>
            <a:ext cx="1800000" cy="378000"/>
          </a:xfrm>
          <a:prstGeom prst="rect">
            <a:avLst/>
          </a:prstGeom>
          <a:solidFill>
            <a:srgbClr val="3030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382000" y="2664000"/>
            <a:ext cx="169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맑은 고딕"/>
              </a:rPr>
              <a:t>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28000" y="2592000"/>
            <a:ext cx="1800000" cy="378000"/>
          </a:xfrm>
          <a:prstGeom prst="rect">
            <a:avLst/>
          </a:prstGeom>
          <a:solidFill>
            <a:srgbClr val="3030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182000" y="2664000"/>
            <a:ext cx="169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맑은 고딕"/>
              </a:rPr>
              <a:t>높음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28000" y="2592000"/>
            <a:ext cx="1080000" cy="378000"/>
          </a:xfrm>
          <a:prstGeom prst="rect">
            <a:avLst/>
          </a:prstGeom>
          <a:solidFill>
            <a:srgbClr val="3030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982000" y="2664000"/>
            <a:ext cx="97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6B6B"/>
                </a:solidFill>
                <a:latin typeface="맑은 고딕"/>
              </a:rPr>
              <a:t>✗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8000" y="2988000"/>
            <a:ext cx="5040000" cy="378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42000" y="3060000"/>
            <a:ext cx="493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맑은 고딕"/>
              </a:rPr>
              <a:t>비대칭키 단독 (RSA)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0" y="2988000"/>
            <a:ext cx="1800000" cy="378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382000" y="3060000"/>
            <a:ext cx="169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맑은 고딕"/>
              </a:rPr>
              <a:t>느림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128000" y="2988000"/>
            <a:ext cx="1800000" cy="378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182000" y="3060000"/>
            <a:ext cx="169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맑은 고딕"/>
              </a:rPr>
              <a:t>낮음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928000" y="2988000"/>
            <a:ext cx="1080000" cy="378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982000" y="3060000"/>
            <a:ext cx="97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6B6B"/>
                </a:solidFill>
                <a:latin typeface="맑은 고딕"/>
              </a:rPr>
              <a:t>✗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88000" y="3384000"/>
            <a:ext cx="5040000" cy="378000"/>
          </a:xfrm>
          <a:prstGeom prst="rect">
            <a:avLst/>
          </a:prstGeom>
          <a:solidFill>
            <a:srgbClr val="3030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42000" y="3456000"/>
            <a:ext cx="493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맑은 고딕"/>
              </a:rPr>
              <a:t>대칭키 단독 (AES)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328000" y="3384000"/>
            <a:ext cx="1800000" cy="378000"/>
          </a:xfrm>
          <a:prstGeom prst="rect">
            <a:avLst/>
          </a:prstGeom>
          <a:solidFill>
            <a:srgbClr val="3030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382000" y="3456000"/>
            <a:ext cx="169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맑은 고딕"/>
              </a:rPr>
              <a:t>빠름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128000" y="3384000"/>
            <a:ext cx="1800000" cy="378000"/>
          </a:xfrm>
          <a:prstGeom prst="rect">
            <a:avLst/>
          </a:prstGeom>
          <a:solidFill>
            <a:srgbClr val="3030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182000" y="3456000"/>
            <a:ext cx="169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맑은 고딕"/>
              </a:rPr>
              <a:t>높음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928000" y="3384000"/>
            <a:ext cx="1080000" cy="378000"/>
          </a:xfrm>
          <a:prstGeom prst="rect">
            <a:avLst/>
          </a:prstGeom>
          <a:solidFill>
            <a:srgbClr val="3030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982000" y="3456000"/>
            <a:ext cx="97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6B6B"/>
                </a:solidFill>
                <a:latin typeface="맑은 고딕"/>
              </a:rPr>
              <a:t>✗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88000" y="3780000"/>
            <a:ext cx="5040000" cy="378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42000" y="3851999"/>
            <a:ext cx="493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D93D"/>
                </a:solidFill>
                <a:latin typeface="맑은 고딕"/>
              </a:rPr>
              <a:t>AES-GCM + RSA 세션키 교환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328000" y="3780000"/>
            <a:ext cx="1800000" cy="378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382000" y="3851999"/>
            <a:ext cx="169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D93D"/>
                </a:solidFill>
                <a:latin typeface="맑은 고딕"/>
              </a:rPr>
              <a:t>빠름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128000" y="3780000"/>
            <a:ext cx="1800000" cy="378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7182000" y="3851999"/>
            <a:ext cx="169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D93D"/>
                </a:solidFill>
                <a:latin typeface="맑은 고딕"/>
              </a:rPr>
              <a:t>낮음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28000" y="3780000"/>
            <a:ext cx="1080000" cy="378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982000" y="3851999"/>
            <a:ext cx="97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6BD98A"/>
                </a:solidFill>
                <a:latin typeface="맑은 고딕"/>
              </a:rPr>
              <a:t>✓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8000" y="4140000"/>
            <a:ext cx="1152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맑은 고딕"/>
              </a:rPr>
              <a:t>• 게임 실행 시 신규 세션키 생성 → 서버 공개키(RSA)로 암호화하여 교환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8000" y="4428000"/>
            <a:ext cx="1152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맑은 고딕"/>
              </a:rPr>
              <a:t>• 이후 모든 통신은 AES-GCM으로 처리 / IV를 매 요청마다 갱신 → 재전송 공격 방지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119" cy="64800"/>
          </a:xfrm>
          <a:prstGeom prst="rect">
            <a:avLst/>
          </a:prstGeom>
          <a:solidFill>
            <a:srgbClr val="996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88000" y="144000"/>
            <a:ext cx="108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맑은 고딕"/>
              </a:rPr>
              <a:t>헤이터 — WebGL 렌더링 최적화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1080000"/>
            <a:ext cx="28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  <a:latin typeface="맑은 고딕"/>
              </a:rPr>
              <a:t>드로우콜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1332000"/>
            <a:ext cx="28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6B6B"/>
                </a:solidFill>
                <a:latin typeface="맑은 고딕"/>
              </a:rPr>
              <a:t>3,500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1835999"/>
            <a:ext cx="288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AAAABB"/>
                </a:solidFill>
                <a:latin typeface="맑은 고딕"/>
              </a:rPr>
              <a:t>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0000" y="2124000"/>
            <a:ext cx="28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6BD98A"/>
                </a:solidFill>
                <a:latin typeface="맑은 고딕"/>
              </a:rPr>
              <a:t>180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0000" y="1080000"/>
            <a:ext cx="28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  <a:latin typeface="맑은 고딕"/>
              </a:rPr>
              <a:t>메모리 사용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0000" y="1332000"/>
            <a:ext cx="28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6B6B"/>
                </a:solidFill>
                <a:latin typeface="맑은 고딕"/>
              </a:rPr>
              <a:t>60 mb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0" y="1835999"/>
            <a:ext cx="288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AAAABB"/>
                </a:solidFill>
                <a:latin typeface="맑은 고딕"/>
              </a:rPr>
              <a:t>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0000" y="2124000"/>
            <a:ext cx="28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6BD98A"/>
                </a:solidFill>
                <a:latin typeface="맑은 고딕"/>
              </a:rPr>
              <a:t>15 mb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20000" y="1080000"/>
            <a:ext cx="4860000" cy="180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020000" y="1080000"/>
            <a:ext cx="4860000" cy="21600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28000" y="1134000"/>
            <a:ext cx="464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ECDC4"/>
                </a:solidFill>
                <a:latin typeface="맑은 고딕"/>
              </a:rPr>
              <a:t>① GPU Instancing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28000" y="1404000"/>
            <a:ext cx="4644000" cy="140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환경 오브젝트 머티리얼 4개 활성화
동일 메시·머티리얼 → 1회 인스턴싱 호출
+ 텍스처·노멀맵 크기 축소 / shadowmask 거리 감소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20000" y="3060000"/>
            <a:ext cx="4860000" cy="234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020000" y="3060000"/>
            <a:ext cx="4860000" cy="21600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128000" y="3114000"/>
            <a:ext cx="464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ECDC4"/>
                </a:solidFill>
                <a:latin typeface="맑은 고딕"/>
              </a:rPr>
              <a:t>② SpriteSync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28000" y="3384000"/>
            <a:ext cx="4644000" cy="19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유닛: 마스터 1개 + 자식 12개 레이어
기존: 13개 각각에 Animator → CPU 과부하
채택: 마스터에만 Animator, 자식은
      LateUpdate에서 sprite·flipX·color 복사
→ 기존 애니메이션 수정 없이 적용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20000" y="5580000"/>
            <a:ext cx="4860000" cy="108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020000" y="5580000"/>
            <a:ext cx="4860000" cy="21600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128000" y="5634000"/>
            <a:ext cx="464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ECDC4"/>
                </a:solidFill>
                <a:latin typeface="맑은 고딕"/>
              </a:rPr>
              <a:t>③ 픽셀아트 렌더링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28000" y="5903999"/>
            <a:ext cx="4644000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Filter Mode: Bilinear → Point
압축: 무손실 적용
PPU 전체 통일 → 픽셀 흐림 + 충돌 크기 불일치 동시 해결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56</TotalTime>
  <Words>2989</Words>
  <Application>Microsoft Office PowerPoint</Application>
  <PresentationFormat>와이드스크린</PresentationFormat>
  <Paragraphs>318</Paragraphs>
  <Slides>25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30" baseType="lpstr">
      <vt:lpstr>맑은 고딕</vt:lpstr>
      <vt:lpstr>Arial</vt:lpstr>
      <vt:lpstr>Calibri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subject/>
  <dc:creator/>
  <cp:keywords/>
  <dc:description>generated using python-pptx</dc:description>
  <cp:lastModifiedBy>SSAFY</cp:lastModifiedBy>
  <cp:revision>10</cp:revision>
  <dcterms:created xsi:type="dcterms:W3CDTF">2013-01-27T09:14:16Z</dcterms:created>
  <dcterms:modified xsi:type="dcterms:W3CDTF">2026-05-28T04:57:12Z</dcterms:modified>
  <cp:category/>
</cp:coreProperties>
</file>