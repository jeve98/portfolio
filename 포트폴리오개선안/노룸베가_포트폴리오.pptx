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7400000" cy="33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420000"/>
            <a:ext cx="71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6EDF3"/>
                </a:solidFill>
              </a:rPr>
              <a:t>노룸베가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" y="1360000"/>
            <a:ext cx="7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FB950"/>
                </a:solidFill>
              </a:rPr>
              <a:t>Norumbega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870000"/>
            <a:ext cx="2000000" cy="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" y="1970000"/>
            <a:ext cx="7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모바일 액션 RPG  |  개인 기획 프로젝트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220000" y="2450000"/>
            <a:ext cx="1400000" cy="31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00" y="2470000"/>
            <a:ext cx="13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EDF3"/>
                </a:solidFill>
              </a:rPr>
              <a:t>기획 문서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0" y="150000"/>
            <a:ext cx="4450000" cy="655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0" y="3125000"/>
            <a:ext cx="445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0000" y="3515000"/>
            <a:ext cx="44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게임 스크린샷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모바일 액션 RPG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4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1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플랫폼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모바일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6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핵심 키워드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보스 반복 · 랜덤 빌드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0000" y="370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50000" y="377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0000" y="406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기획 진행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000" y="6498000"/>
            <a:ext cx="7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전연욱  |  jeve98.github.io/Portfolio  |  jadam41817@gmail.com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게임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20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엘리베이터 피치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118091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6EDF3"/>
                </a:solidFill>
              </a:rPr>
              <a:t>"보스를 반복 처치하며 랜덤 스킬이 담긴 무기를 모으는 모바일 액션 RPG. 같은 등급의 무기라도 어떤 스킬이 붙느냐에 따라 가치가 달라지고, 그것이 반복 도전의 핵심 동기가 된다."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3000000"/>
            <a:ext cx="5879560" cy="377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440" y="311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핵심 USP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440" y="3500000"/>
            <a:ext cx="5679560" cy="32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무기에 랜덤 스킬이 붙는다
→ 같은 등급 무기도 스킬 조합에 따라
   가치가 천차만별
→ '이번엔 다른 조합이 나올 수도'
   라는 기대가 반복 도전 동기 형성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1000" y="3000000"/>
            <a:ext cx="5879560" cy="377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1000" y="311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기획 배경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1000" y="3500000"/>
            <a:ext cx="5679560" cy="32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코로나 이후 개인화 + 숏폼 확산
→ 초반의 즉각적인 재미가 필수
커뮤니티 의존도 낮아지고
성장 체감·보스 몰입·아이템 획득
중요도 높아짐
던파 '종말의 숭배자 던전' 사례:
성장+보상 집중 컨텐츠의 높은 리텐션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시장 분석 — 게이머 행동 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28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RPG 핵심 요소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1440" y="820000"/>
            <a:ext cx="18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1440" y="87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과거 중요도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1440" y="820000"/>
            <a:ext cx="18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1440" y="87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현재 중요도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1440" y="820000"/>
            <a:ext cx="4000000" cy="43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1440" y="87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노룸베가 대응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250000"/>
            <a:ext cx="2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0" y="130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성장 체감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1440" y="125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1440" y="130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FB950"/>
                </a:solidFill>
              </a:rPr>
              <a:t>높음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91440" y="125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1440" y="130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더 높아짐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1440" y="1250000"/>
            <a:ext cx="40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1440" y="130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즉각적 보스 처치+보상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1680000"/>
            <a:ext cx="2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0" y="173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커뮤니티 정체성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91440" y="168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1440" y="173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FB950"/>
                </a:solidFill>
              </a:rPr>
              <a:t>높음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91440" y="168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1440" y="173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낮아짐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1440" y="1680000"/>
            <a:ext cx="40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1440" y="173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1인 컨텐츠 중심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2110000"/>
            <a:ext cx="2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0" y="216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보스 레이드 몰입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91440" y="211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31440" y="216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1440" y="211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1440" y="216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높아짐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1440" y="2110000"/>
            <a:ext cx="40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1440" y="216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다양한 기믹 보스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" y="2540000"/>
            <a:ext cx="2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1440" y="259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스토리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91440" y="254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31440" y="259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FB950"/>
                </a:solidFill>
              </a:rPr>
              <a:t>높음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91440" y="2540000"/>
            <a:ext cx="18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31440" y="259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1440" y="2540000"/>
            <a:ext cx="4000000" cy="4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1440" y="259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최소 프레임만 유지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" y="2970000"/>
            <a:ext cx="2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1440" y="3020000"/>
            <a:ext cx="2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아이템 획득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91440" y="297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31440" y="302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중간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91440" y="2970000"/>
            <a:ext cx="18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31440" y="3020000"/>
            <a:ext cx="17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높아짐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1440" y="2970000"/>
            <a:ext cx="4000000" cy="43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1440" y="3020000"/>
            <a:ext cx="39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랜덤 스킬 무기 시스템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3420000"/>
            <a:ext cx="12009120" cy="32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440" y="35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분석 근거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1440" y="3920000"/>
            <a:ext cx="1180912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코로나 이후 개인화된 생활 패턴과 숏폼 콘텐츠 확산으로 게이머들은 초반부의 즉각적인 재미를 요구하게 되었다. 던전앤파이터의 '종말의 숭배자 던전'은 성장과 보상에 집중한 반복 컨텐츠로 높은 리텐션을 기록했다. 노룸베가는 이 구조를 모바일 환경에 맞게 재설계한다.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타겟 플레이어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87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타겟 프로필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67956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주 타겟
모바일 RPG에 익숙한 20대
과거 PC RPG 경험자
핵심 니즈
"짧은 시간 안에 강해지는 느낌"
"내 빌드를 직접 만드는 재미"
기피 유형
긴 스토리 위주 / 소셜 의존도 높은 게임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1000" y="820000"/>
            <a:ext cx="1800000" cy="5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1000" y="870000"/>
            <a:ext cx="17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참조 게임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1000" y="820000"/>
            <a:ext cx="2200000" cy="5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000" y="870000"/>
            <a:ext cx="2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공통점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21000" y="820000"/>
            <a:ext cx="4200000" cy="50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61000" y="870000"/>
            <a:ext cx="4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차별점 (노룸베가)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1000" y="1320000"/>
            <a:ext cx="18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1000" y="1370000"/>
            <a:ext cx="17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에픽세븐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1000" y="1320000"/>
            <a:ext cx="22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1000" y="1370000"/>
            <a:ext cx="2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보스 반복 도전 / 아이템 수집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21000" y="1320000"/>
            <a:ext cx="42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1000" y="1370000"/>
            <a:ext cx="4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캐릭터 수집 중심 vs 무기 스킬 빌드 중심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1000" y="1820000"/>
            <a:ext cx="1800000" cy="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1000" y="1870000"/>
            <a:ext cx="17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던전앤파이터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1000" y="1820000"/>
            <a:ext cx="2200000" cy="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1000" y="1870000"/>
            <a:ext cx="2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반복 던전 / 성장 체감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21000" y="1820000"/>
            <a:ext cx="4200000" cy="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1000" y="1870000"/>
            <a:ext cx="4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PC 중심 조작 vs 모바일 최적화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1000" y="2320000"/>
            <a:ext cx="18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1000" y="2370000"/>
            <a:ext cx="17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브롤스타즈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1000" y="2320000"/>
            <a:ext cx="22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1000" y="2370000"/>
            <a:ext cx="2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짧은 단판 / 즉각 보상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1000" y="2320000"/>
            <a:ext cx="4200000" cy="50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61000" y="2370000"/>
            <a:ext cx="412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PVP 중심 vs PVE 빌드 중심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핵심 게임플레이 루프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440" y="90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보스 선택 및 도전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650000"/>
            <a:ext cx="40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179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440" y="187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액션 전투
보스 패턴 대응 + 기믹 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2620000"/>
            <a:ext cx="40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276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440" y="284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보상 획득
랜덤 스킬이 담긴 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0000" y="82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000" y="90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무기 스킬 조합 구성
(빌드 구성)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000" y="1650000"/>
            <a:ext cx="40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0000" y="179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0000" y="187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던닝 — 일일 반복
등급 강화 도전 (5회 제한)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0000" y="2620000"/>
            <a:ext cx="40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0000" y="2760000"/>
            <a:ext cx="4000000" cy="8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0000" y="2840000"/>
            <a:ext cx="386000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</a:rPr>
              <a:t>더 높은 난이도 보스 도전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0000" y="1920000"/>
            <a:ext cx="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50000" y="820000"/>
            <a:ext cx="355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0000" y="920000"/>
            <a:ext cx="3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루프 설계 의도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000" y="1300000"/>
            <a:ext cx="3350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매 클리어마다 다른 무기가 나오므로
반복 도전에도 새로운 조합 경험.
던닝 5회 제한:
일일 접속 동기 부여 + 과도한
플레이 부담 방지.
등급 강화 확률이 난이도에 비례:
더 어려운 보스를 도전하는
자연스러운 동기 형성.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아이템 등급 체계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6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등급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440" y="820000"/>
            <a:ext cx="18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1440" y="87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무기 스킬 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1440" y="820000"/>
            <a:ext cx="19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1440" y="87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성능 범위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1440" y="820000"/>
            <a:ext cx="25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440" y="87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장신구 속성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1440" y="820000"/>
            <a:ext cx="3200000" cy="47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1440" y="87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특이사항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1290000"/>
            <a:ext cx="16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440" y="134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노멀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440" y="129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1440" y="134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1개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1440" y="1290000"/>
            <a:ext cx="19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1440" y="134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1 ~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1440" y="1290000"/>
            <a:ext cx="25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440" y="134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91440" y="1290000"/>
            <a:ext cx="32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31440" y="134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1440" y="1760000"/>
            <a:ext cx="16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440" y="181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수작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440" y="176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1440" y="181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1개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91440" y="1760000"/>
            <a:ext cx="19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31440" y="181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8 ~ 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1440" y="1760000"/>
            <a:ext cx="25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31440" y="181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화염, 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91440" y="1760000"/>
            <a:ext cx="32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31440" y="181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91440" y="2230000"/>
            <a:ext cx="16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440" y="228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명품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91440" y="223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1440" y="228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2개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91440" y="2230000"/>
            <a:ext cx="19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31440" y="228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34 ~ 55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1440" y="2230000"/>
            <a:ext cx="25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31440" y="228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바람 추가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91440" y="2230000"/>
            <a:ext cx="32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31440" y="228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91440" y="2700000"/>
            <a:ext cx="16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1440" y="275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유일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91440" y="2700000"/>
            <a:ext cx="18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1440" y="275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3개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91440" y="2700000"/>
            <a:ext cx="19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31440" y="275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89 ~ 144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1440" y="2700000"/>
            <a:ext cx="25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31440" y="275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전 속성 가능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91440" y="2700000"/>
            <a:ext cx="3200000" cy="47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31440" y="275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91440" y="3170000"/>
            <a:ext cx="16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1440" y="3220000"/>
            <a:ext cx="15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악몽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91440" y="3170000"/>
            <a:ext cx="18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31440" y="3220000"/>
            <a:ext cx="17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3개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91440" y="3170000"/>
            <a:ext cx="19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31440" y="3220000"/>
            <a:ext cx="18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55 ~ 144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1440" y="3170000"/>
            <a:ext cx="25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31440" y="3220000"/>
            <a:ext cx="24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열화 속성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91440" y="3170000"/>
            <a:ext cx="3200000" cy="47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31440" y="3220000"/>
            <a:ext cx="3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패널티 수치 포함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" y="3620000"/>
            <a:ext cx="12009120" cy="30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1440" y="37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등급 설계 의도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1440" y="4120000"/>
            <a:ext cx="1180912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성능 수치가 피보나치 수열에 가까운 이유: 등급 간 격차를 체감할 수 있도록 설계.
악몽 등급은 높은 수치와 함께 패널티가 붙어 리스크/리워드 판단을 요구한다.
무기에 랜덤으로 붙는 스킬의 성능 최댓값이 등급에 따라 다르므로,
같은 등급 무기도 어떤 스킬이 붙느냐에 따라 가치가 달라진다.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보스 기믹 (1/2) — 반전 &amp; 선고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285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2009120" cy="26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40000"/>
            <a:ext cx="118491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반전 (Reversal)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60000"/>
            <a:ext cx="11849120" cy="24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파괴 가능한 오브젝트 기반 기믹.
5가지 타입: 스탯 반전 / 조작 반전 / 데미지·회복 역변 / 속성 변경 / 시점 변경.
난이도별로 각 타입 1개씩 추가 개방.
오브젝트 파괴 시 해당 패턴은 재등장 불가.
→ 기믹 오브젝트를 먼저 찾아서 파괴할 것인가,
  보스에게 집중 딜을 넣을 것인가의 판단을 유도.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3919000"/>
            <a:ext cx="12009120" cy="285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3919000"/>
            <a:ext cx="1200912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440" y="3939000"/>
            <a:ext cx="118491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선고 (Sentence)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40" y="4259000"/>
            <a:ext cx="11849120" cy="24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사망지대를 생성. 일정 시간 체류 시 '죽음 선고' 부여.
선고받은 몬스터는 보스에게만 공격, 플레이어에게 무공해.
일정 시간 후 보스가 동서남북 방향으로 확정 발사 — 해당 방향의 선고받은 개체 즉사.
→ 플레이어가 몬스터를 선고 지대로 유도하는 컨트롤 기믹.
  실수로 본인이 들어가면 자신도 선고 상태가 되는 리스크.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보스 기믹 (2/2) — 탐욕 &amp; 저주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285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200912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40000"/>
            <a:ext cx="118491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탐욕 (Greed)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60000"/>
            <a:ext cx="11849120" cy="24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체력 1짜리 다양한 내성 몬스터 소환.
일정 시간 후 디스폰되지만, 플레이어가 처치한 수에 비례해 보스 체력 회복.
→ 처치하면 보스가 회복되고, 안 처치하면 몬스터가 방해.
  무시할지 처치할지 선택을 지속적으로 강요.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3919000"/>
            <a:ext cx="12009120" cy="285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3919000"/>
            <a:ext cx="1200912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440" y="3939000"/>
            <a:ext cx="1184912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저주 (Curse)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40" y="4259000"/>
            <a:ext cx="11849120" cy="24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피격 시 '저주 표식' 부여.
표식 상태에서 공격하면 준 데미지에 비례해 자신의 체력 감소.
회복하면 회복량에 비례해 보스 체력 증가.
→ 공격하면 내가 죽고, 회복하면 보스가 살아나는 딜레마.
  저주 해제 조건을 찾거나 극딜로 버티는 선택 필요.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장기 리텐션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278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2784780" cy="26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840000"/>
            <a:ext cx="262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빌드 시너지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160000"/>
            <a:ext cx="262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장신구 속성 간 조합 효과 추가.
무기 스킬과의 다양한 조합 유도.
→ '이 조합을 써보고 싶다'
   라는 장기 동기 형성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6220" y="820000"/>
            <a:ext cx="278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6220" y="820000"/>
            <a:ext cx="278478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6220" y="840000"/>
            <a:ext cx="262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시즌제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220" y="1160000"/>
            <a:ext cx="262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시즌별 다른 무기 스킬
장신구 속성 / 보스 제공.
→ 매 시즌 새로운 최강 빌드
   탐구 동기 부여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1000" y="820000"/>
            <a:ext cx="278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1000" y="820000"/>
            <a:ext cx="278478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1000" y="840000"/>
            <a:ext cx="262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보스 다변화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000" y="1160000"/>
            <a:ext cx="262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동일 보스도 고난이도에서
새로운 패턴 추가.
→ 클리어한 보스도
   상위 난이도에서 재도전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5780" y="820000"/>
            <a:ext cx="278478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5780" y="820000"/>
            <a:ext cx="2784780" cy="26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5780" y="840000"/>
            <a:ext cx="26247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도감 컨텐츠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5780" y="1160000"/>
            <a:ext cx="2624780" cy="5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최고 난이도에서 낮은 확률
추가 드랍 아이템.
→ 장기 수집 목표 제공
→ 극한 도전 동기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경쟁작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22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0" y="87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게임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2291440" y="820000"/>
            <a:ext cx="30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440" y="870000"/>
            <a:ext cx="2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공통점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91440" y="820000"/>
            <a:ext cx="6000000" cy="480000"/>
          </a:xfrm>
          <a:prstGeom prst="rect">
            <a:avLst/>
          </a:prstGeom>
          <a:solidFill>
            <a:srgbClr val="1C2538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1440" y="870000"/>
            <a:ext cx="5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노룸베가와의 차이점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300000"/>
            <a:ext cx="2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440" y="135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에픽세븐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91440" y="1300000"/>
            <a:ext cx="30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440" y="1350000"/>
            <a:ext cx="2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보스 반복 / 아이템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1440" y="1300000"/>
            <a:ext cx="60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1440" y="1350000"/>
            <a:ext cx="5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캐릭터 수집 중심 vs 무기 스킬 빌드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1780000"/>
            <a:ext cx="2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440" y="183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던전앤파이터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1440" y="1780000"/>
            <a:ext cx="30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440" y="1830000"/>
            <a:ext cx="2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반복 던전 / 성장 체감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91440" y="1780000"/>
            <a:ext cx="60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1440" y="1830000"/>
            <a:ext cx="5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PC 대용량 조작 vs 모바일 터치 최적화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260000"/>
            <a:ext cx="22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0" y="231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브롤스타즈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91440" y="2260000"/>
            <a:ext cx="30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440" y="2310000"/>
            <a:ext cx="2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짧은 단판 / 즉각 보상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1440" y="2260000"/>
            <a:ext cx="6000000" cy="480000"/>
          </a:xfrm>
          <a:prstGeom prst="rect">
            <a:avLst/>
          </a:prstGeom>
          <a:solidFill>
            <a:srgbClr val="1C222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1440" y="2310000"/>
            <a:ext cx="5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PVP 중심 vs PVE + 빌드 구성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2740000"/>
            <a:ext cx="22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440" y="2790000"/>
            <a:ext cx="21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디아블로 이모탈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1440" y="2740000"/>
            <a:ext cx="30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440" y="2790000"/>
            <a:ext cx="2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모바일 액션 RPG / 보스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91440" y="2740000"/>
            <a:ext cx="6000000" cy="48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1440" y="2790000"/>
            <a:ext cx="59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넓은 오픈월드 vs 보스 집중형 구조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" y="3220000"/>
            <a:ext cx="12009120" cy="3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1440" y="332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노룸베가의 핵심 차별점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1440" y="3720000"/>
            <a:ext cx="1180912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"무기에 랜덤 스킬이 붙는다" — 이것이 반복 도전의 핵심 동기다.
같은 등급의 무기라도 어떤 스킬 조합이 나오느냐에 따라 가치가 완전히 달라진다.
이는 경쟁작들이 제공하지 않는 '빌드 발견의 재미'를 핵심으로 삼는 구조다.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미결 사항 &amp; 개발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8288" cy="784666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440" y="860000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보스 패턴 수치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440" y="860000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기믹 설계 완료, 구체적 수치 미확정 (프로토타입 필요)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854666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" y="1854666"/>
            <a:ext cx="18288" cy="784666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440" y="1894666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밸런스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440" y="1894666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아이템 등급 수치 및 보상량 검증 미진행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2889332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2889332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440" y="2929332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UI/UX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440" y="2929332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보스 전투 화면 / 인벤토리 / 강화 화면 미설계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3923998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" y="3923998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1440" y="3963998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기술 스택 선정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440" y="3963998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3D 전환 시 반전[시점] 기믹 구현 가능성 검토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4958664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" y="4958664"/>
            <a:ext cx="18288" cy="78466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440" y="4998664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개발 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440" y="4998664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마일스톤 미확정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" y="5993330"/>
            <a:ext cx="12009120" cy="78466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" y="5993330"/>
            <a:ext cx="18288" cy="784666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1440" y="6033330"/>
            <a:ext cx="300000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프로토타입 제작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440" y="6033330"/>
            <a:ext cx="8709120" cy="72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미진행 — 핵심 시스템 검증을 위해 우선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