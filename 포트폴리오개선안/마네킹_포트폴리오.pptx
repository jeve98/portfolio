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" y="0"/>
            <a:ext cx="7400000" cy="33000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0000" y="430000"/>
            <a:ext cx="71000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6EDF3"/>
                </a:solidFill>
              </a:rPr>
              <a:t>마네킹: 헌티드 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00" y="1380000"/>
            <a:ext cx="71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 i="0">
                <a:solidFill>
                  <a:srgbClr val="58A6FF"/>
                </a:solidFill>
              </a:rPr>
              <a:t>Mannequin: Haunted Mall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0000" y="1890000"/>
            <a:ext cx="2100000" cy="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000" y="1990000"/>
            <a:ext cx="7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</a:rPr>
              <a:t>비대칭 멀티플레이 PVP  |  Unity · Photon PUN2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0" y="150000"/>
            <a:ext cx="4450000" cy="655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00000" y="3125000"/>
            <a:ext cx="445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0000" y="3545000"/>
            <a:ext cx="445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게임 스크린샷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2026.02 ~ 2026.03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4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1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팀 구성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1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6인 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6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기술 스택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Unity (C#) · Photon PUN2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0000" y="3550000"/>
            <a:ext cx="1720000" cy="73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50000" y="3630000"/>
            <a:ext cx="172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담당 역할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0000" y="3920000"/>
            <a:ext cx="17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기획 · 구현 · 최적화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000" y="6498000"/>
            <a:ext cx="7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전연욱  |  jeve98.github.io/Portfolio  |  jadam41817@gmail.com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게임 개요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7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0000" y="92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기획 의도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000" y="1280000"/>
            <a:ext cx="55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현대 게이머의 평균 플레이 타임 감소 추세를 반영하여
로그라이크 장르의 핵심 요소를 비대칭 PVP에 접목했다.
• 짧은 단판 플레이
• 매 판 새로운 경험  →  증강 시스템
• 자연스러운 반복 플레이 유도
증강 시스템을 통해 플레이 템포를 가속화하고
리플레이어빌리티를 확보하는 것이 핵심 목표다.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0000" y="820000"/>
            <a:ext cx="6100000" cy="25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프로젝트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000" y="133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장르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0000" y="133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비대칭 멀티플레이 PVP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000" y="169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0000" y="169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2026.02.20 ~ 03.25  (5주)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000" y="205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0000" y="205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6인 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000" y="241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0000" y="241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Unity (C#), Photon PUN2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000" y="2770000"/>
            <a:ext cx="11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0000" y="2770000"/>
            <a:ext cx="4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SSAFY 원내 배포 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0000" y="3500000"/>
            <a:ext cx="6100000" cy="327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000" y="4839000"/>
            <a:ext cx="6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0000" y="5259000"/>
            <a:ext cx="6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플레이 영상 캡처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담당 역할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18288" cy="71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440" y="9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기획 참여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440" y="121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살인마 스킬 기획 및 밸런스 논의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71440" y="82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71440" y="820000"/>
            <a:ext cx="18288" cy="71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1440" y="9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살인마 진영 구현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1440" y="121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더미 설치 · 전이 · 교란 · 위장 스킬 4종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61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610000"/>
            <a:ext cx="18288" cy="71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440" y="16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스폰 시스템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40" y="20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네트워크 트래픽 50% 감소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1440" y="161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71440" y="1610000"/>
            <a:ext cx="18288" cy="71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1440" y="16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상호작용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1440" y="200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IInteractable 인터페이스 기반 설계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" y="240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" y="2400000"/>
            <a:ext cx="18288" cy="71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1440" y="248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증강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440" y="27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AbilityBase 추상 클래스 기반 설계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71440" y="240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71440" y="2400000"/>
            <a:ext cx="18288" cy="71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1440" y="248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렌더링 최적화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1440" y="279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Occlusion Culling — 13 fps → 63.6 fps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" y="3190000"/>
            <a:ext cx="5600000" cy="71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" y="3190000"/>
            <a:ext cx="18288" cy="71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1440" y="327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네트워크 안정화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440" y="3580000"/>
            <a:ext cx="560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Jitter 완화  (서버 동기화 기준 일원화)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80000" y="820000"/>
            <a:ext cx="600000" cy="595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80000" y="3499000"/>
            <a:ext cx="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80000" y="3919000"/>
            <a:ext cx="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인게임 스크린샷 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4010000"/>
            <a:ext cx="5600000" cy="2768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" y="5094000"/>
            <a:ext cx="56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" y="5514000"/>
            <a:ext cx="56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인게임 화면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살인마 진영 스킬 4종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각 스킬은 마네킹의 위장·기만·심리전 컨셉을 강화하는 방향으로 설계됨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800000" cy="27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1440" y="85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더미 설치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17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맵의 정해진 구역에 마네킹을 배치.
설치 가능 위치 리스트를 순회하여
가장 가까운 유효 지점을 자동 선택.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1440" y="112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1440" y="198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1440" y="240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1440" y="82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1440" y="820000"/>
            <a:ext cx="5800000" cy="27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1440" y="85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전이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1440" y="117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더미 마네킹만 렌더링하는 전용 카메라 추가.
맵 안개로 인한 시야 차단을 막기 위해
커스텀 쉐이더를 제작 적용.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1440" y="112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1440" y="198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1440" y="240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377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" y="3770000"/>
            <a:ext cx="5800000" cy="27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1440" y="380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교란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440" y="412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전이 스킬이 애니메이션으로 간파되는 문제 해결.
교란 시 모든 더미에 동시 애니메이션 재생 →
실제 전이와 구분 불가능하도록 설계.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91440" y="407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1440" y="493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91440" y="535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1440" y="3770000"/>
            <a:ext cx="5800000" cy="27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1440" y="3770000"/>
            <a:ext cx="5800000" cy="270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1440" y="3800000"/>
            <a:ext cx="580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위장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440" y="4120000"/>
            <a:ext cx="31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1인칭 시점의 제한된 색적 보완을 위해
3인칭 전환 기능 추가.
근처 생존자 효음 신호 차단 → 마네킹으로 위장.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41440" y="4070000"/>
            <a:ext cx="2380000" cy="2330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41440" y="4935000"/>
            <a:ext cx="238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1440" y="5355000"/>
            <a:ext cx="238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스킬 화면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스폰 시스템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문제 발견 &amp; 원인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70000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00" y="84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1160000"/>
            <a:ext cx="5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position(x, y, z) + rotation(x, y, z)
총 6개 값을 매 프레임 네트워크로 전송
→ 멀티플레이 환경에서 불필요한 트래픽 지속 발생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3370000"/>
            <a:ext cx="5700000" cy="20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3370000"/>
            <a:ext cx="570000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000" y="339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00" y="3710000"/>
            <a:ext cx="5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position.y  →  고정값  (살인마 108f / 생존자 1f)
rotation.x  →  고정값  (항상 0)
rotation.z  →  고정값  (항상 0)
실제 변수:  position.x / position.z / rotation.y  →  3개만 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0000" y="820000"/>
            <a:ext cx="6100000" cy="14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0000" y="900000"/>
            <a:ext cx="6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전송 값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0000" y="125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전송 항목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0000" y="125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기존  (6개)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000" y="125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최적화  (3개)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0000" y="140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position.x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0000" y="140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0000" y="140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0000" y="156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position.y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0000" y="156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0000" y="156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— 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0000" y="171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position.z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0000" y="171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0000" y="171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0000" y="187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rotation.x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00000" y="187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0000" y="187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— 고정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0000" y="202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rotation.y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0000" y="202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0000" y="2025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0000" y="218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rotation.z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0000" y="218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5149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0000" y="2180000"/>
            <a:ext cx="1800000" cy="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FB950"/>
                </a:solidFill>
              </a:rPr>
              <a:t>— 고정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00000" y="2390000"/>
            <a:ext cx="6100000" cy="3000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00000" y="2390000"/>
            <a:ext cx="600000" cy="22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20000" y="240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000" y="2660000"/>
            <a:ext cx="5940000" cy="26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C0FF"/>
                </a:solidFill>
                <a:latin typeface="Courier New"/>
              </a:rPr>
              <a:t>// 기존 스폰 데이터 구조
float posX, posY, posZ;
float rotX, rotY, rotZ;
// → 6개 float 전송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스폰 시스템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최적화 적용 코드 &amp;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68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600000" cy="22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44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440" y="1090000"/>
            <a:ext cx="66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9C0FF"/>
                </a:solidFill>
                <a:latin typeface="Courier New"/>
              </a:rPr>
              <a:t>// 최적화 후 스폰 데이터 구조
float posX, posZ;      // posY 고정
float rotY;            // rotX, rotZ 고정
// 살인마 스폰
SpawnData GetKillerSpawnData() {
    return new SpawnData {
        posX = spawnPoint.x,
        posZ = spawnPoint.z,
        rotY = spawnPoint.eulerAngles.y
    };
}
// 생존자 스폰
SpawnData GetSurvivorSpawnData(int order) {
    var pt = survivorSpawnPoints[order];
    return new SpawnData {
        posX = pt.x, posZ = pt.z, rotY = 0f
    };
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00000" y="820000"/>
            <a:ext cx="50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00000" y="132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</a:rPr>
              <a:t>네트워크 트래픽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1820000"/>
            <a:ext cx="5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3FB950"/>
                </a:solidFill>
              </a:rPr>
              <a:t>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000" y="3870000"/>
            <a:ext cx="5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3FB950"/>
                </a:solidFill>
              </a:rPr>
              <a:t>감소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0000" y="4720000"/>
            <a:ext cx="4600000" cy="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0000" y="4870000"/>
            <a:ext cx="5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전송 값:  6개  →  3개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0000" y="5370000"/>
            <a:ext cx="5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position.y  /  rotation.x  /  rotation.z
고정값으로 처리하여 전송 제외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상호작용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인터페이스를 선택한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설계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290000"/>
            <a:ext cx="4900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대상:  파괴  /  정화  /  뛰어넘기
선택 근거 ①
부모-자식 수직 확장이 아닌 수평 확장 관계.
공통 구현 없이 계약(Contract)만 필요한 구조.
선택 근거 ②
C# 단일 상속 제약.
파괴·정화는 NetworkBehaviour 상속 필요,
뛰어넘기는 MonoBehaviour 상속 필요.
→ 추상 클래스로는 동시에 충족 불가.
결론:  인터페이스로 계약만 강제하고
각 클래스가 필요한 베이스를 자유롭게 상속.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600000" cy="22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090000"/>
            <a:ext cx="65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public interface IInteractable
{
    // UI에 표시될 안내 텍스트
    string GetInteractionText();
    // 재생할 애니메이션 트리거
    string GetAnimationTrigger();
    // 실제 상호작용 실행
    void OnInteract();
}
// 뛰어넘기 — MonoBehaviour 상속
public class VaultableObject
    : MonoBehaviour, IInteractable
{
    public string GetInteractionText()
        =&gt; "뛰어넘기";
    public string GetAnimationTrigger()
        =&gt; "Vault";
    public void OnInteract()
    {
        // 뛰어넘기 로직
    }
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증강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추상 클래스를 선택한 이유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설계 판단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290000"/>
            <a:ext cx="4900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대상:  SpeedUpAbility 등 각종 증강
선택 근거 ①
기능이 계층적으로 확장되는 수직 구조.
모든 증강이 공통 초기화 로직을 공유함.
Activate()  →  추상 함수
미구현 시 게임이 동작하지 않음.
컴파일 타임에 강제하는 것이 안전.
Awake()  →  가상 함수
방어 코드 성격의 선택적 초기화.
오버라이드 여지를 남겨 유연성 부여.
결론:  상호작용(수평 확장)에는 인터페이스,
증강(수직 확장)에는 추상 클래스. 기준을 분리.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600000" cy="22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090000"/>
            <a:ext cx="65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// 모든 증강의 베이스
public abstract class AbilityBase
    : NetworkBehaviour
{
    // 미구현 시 치명적 → 강제화
    public abstract void Activate();
    // 선택적 초기화 → 유연성
    protected virtual void Awake() { }
}
// 속도 증강 구현 예시
public class SpeedUpAbility : AbilityBase
{
    public override void Activate()
    {
        runSpeed += 150f;
        StartCoroutine(Deactivate(180f));
    }
    IEnumerator Deactivate(float delay)
    {
        yield return new WaitForSeconds(delay);
        runSpeed -= 150f;
        gameObject.SetActive(false);
    }
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Occlusion Culling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Frustum Culling만으로 부족했던 이유와 선택 근거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60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85149"/>
                </a:solidFill>
              </a:rPr>
              <a:t>Frustum Culling의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300000"/>
            <a:ext cx="5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AI로 생성된 3D 메시가 많아 vertex가 복잡
• 맵 규모가 상당하여 화면 밖 오브젝트도 많음
• Frustum Culling만으로는 성능 부족
  → 카메라 절두체 안에 있으나 가려진 오브젝트까지
     모두 렌더링하는 문제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00" y="3420000"/>
            <a:ext cx="5700000" cy="8000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000" y="3550000"/>
            <a:ext cx="5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Occlusion Culling 선택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00" y="3920000"/>
            <a:ext cx="58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가려진 오브젝트를 공간 단위로 렌더링 제외
• 약 5주 개발 기간 → 개별 LOD 적용은 비현실적
• 공간 단위 Culling이 비용 대비 효과 최대
• Unity 내장 기능이므로 추가 구현 비용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820000"/>
            <a:ext cx="5800000" cy="2899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000" y="1969500"/>
            <a:ext cx="5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000" y="2389500"/>
            <a:ext cx="5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적용 전 (Frustum Only)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3879000"/>
            <a:ext cx="5800000" cy="2899000"/>
          </a:xfrm>
          <a:prstGeom prst="rect">
            <a:avLst/>
          </a:prstGeom>
          <a:solidFill>
            <a:srgbClr val="1C2128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000" y="5028500"/>
            <a:ext cx="5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8B949E"/>
                </a:solidFill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5448500"/>
            <a:ext cx="58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</a:rPr>
              <a:t>[ 적용 후 (Occlusion 적용)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Occlusion Culling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성능 측정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3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122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85149"/>
                </a:solidFill>
              </a:rPr>
              <a:t>적용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720000"/>
            <a:ext cx="53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85149"/>
                </a:solidFill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4020000"/>
            <a:ext cx="5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85149"/>
                </a:solidFill>
              </a:rPr>
              <a:t>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0000" y="2920000"/>
            <a:ext cx="11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58A6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00000" y="820000"/>
            <a:ext cx="53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0000" y="1220000"/>
            <a:ext cx="53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FB950"/>
                </a:solidFill>
              </a:rPr>
              <a:t>적용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00" y="1720000"/>
            <a:ext cx="53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3FB950"/>
                </a:solidFill>
              </a:rPr>
              <a:t>63.6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000" y="4020000"/>
            <a:ext cx="5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3FB950"/>
                </a:solidFill>
              </a:rPr>
              <a:t>fps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" y="5878000"/>
            <a:ext cx="12000000" cy="82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" y="5938000"/>
            <a:ext cx="12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FB950"/>
                </a:solidFill>
              </a:rPr>
              <a:t>약 390% 성능 향상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Jitter 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문제 발생과 원인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700000" cy="26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" y="820000"/>
            <a:ext cx="5700000" cy="26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000" y="84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문제 발생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1170000"/>
            <a:ext cx="55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특정 증강 아이템 획득 시 Jitter 발생
→ 캐릭터가 시각적으로 떨리며 부자연스러운 이동
→ 플레이어 경험에 직접적인 영향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" y="3570000"/>
            <a:ext cx="5700000" cy="28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" y="3570000"/>
            <a:ext cx="5700000" cy="26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0000" y="3590000"/>
            <a:ext cx="5500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6EDF3"/>
                </a:solidFill>
              </a:rPr>
              <a:t>원인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00" y="3930000"/>
            <a:ext cx="5500000" cy="2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6EDF3"/>
                </a:solidFill>
              </a:rPr>
              <a:t>서버와 클라이언트가
서로 다른 시간축으로 상태(State)를 변경
→ 증강 적용 타이밍이 서버/클라이언트 간 불일치
→ 위치 보정 값이 누적되며 Jitter로 시각화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00000" y="820000"/>
            <a:ext cx="6100000" cy="5958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0000" y="920000"/>
            <a:ext cx="5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타이밍 불일치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0000" y="1420000"/>
            <a:ext cx="1500000" cy="28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0000" y="142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서버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0000" y="142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t=0.0s  증강 상태 변경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0000" y="237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  ↓  네트워크 지연 발생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00000" y="3320000"/>
            <a:ext cx="1500000" cy="2800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0000" y="332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클라이언트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0000" y="332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t=0.1s  상태 수신 및 적용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0000" y="427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    ↓  위치 보정 계산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0000" y="5220000"/>
            <a:ext cx="1500000" cy="280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0000" y="522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6EDF3"/>
                </a:solidFill>
              </a:rPr>
              <a:t>렌더링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50000" y="5220000"/>
            <a:ext cx="42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</a:rPr>
              <a:t>t=0.1s  보정 값 누적 → Jitter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Jitter 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" y="480000"/>
            <a:ext cx="100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</a:rPr>
              <a:t>해결 방법 및 적용 코드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820000"/>
            <a:ext cx="5100000" cy="5958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0000" y="920000"/>
            <a:ext cx="5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</a:rPr>
              <a:t>해결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1300000"/>
            <a:ext cx="4900000" cy="5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① RPC로 상태값 추가 확정
   서버에서 상태를 변경한 뒤
   RPC로 클라이언트에 명시적으로 전달.
   (방어 코드 삽입)
② 동기화 기준을 서버로 일원화
   클라이언트가 로컬에서 먼저 처리하지 않고
   서버 확인 후 상태 적용.
③ 증강 적용을 의도적으로 지연
   동기화 확인 후 일정 시간 대기 후 적용.
   → 서버-클라이언트 타이밍 일치.
결과:  Jitter 발생 안정화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80000" y="820000"/>
            <a:ext cx="6700000" cy="5958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80000" y="820000"/>
            <a:ext cx="600000" cy="220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0000" y="830000"/>
            <a:ext cx="56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C#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0000" y="1090000"/>
            <a:ext cx="6540000" cy="562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9C0FF"/>
                </a:solidFill>
                <a:latin typeface="Courier New"/>
              </a:rPr>
              <a:t>// ① RPC로 상태 확정 (방어 코드)
[Rpc(RpcSources.StateAuthority,
     RpcTargets.All)]
public void RPC_ConfirmAbility(int abilityId)
{
    ApplyAbility(abilityId);
}
// ② 서버 기준 동기화 후 지연 적용
IEnumerator ApplyAfterSync(int abilityId)
{
    // ③ 동기화 확인을 위한 의도적 대기
    yield return new WaitForSeconds(0.1f);
    if (Object.HasStateAuthority)
    {
        RPC_ConfirmAbility(abilityId);
    }
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2000" cy="914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" y="130000"/>
            <a:ext cx="100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6EDF3"/>
                </a:solidFill>
              </a:rPr>
              <a:t>성과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820000"/>
            <a:ext cx="3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" y="11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네트워크 트래픽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1500000"/>
            <a:ext cx="37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FB950"/>
                </a:solidFill>
              </a:rPr>
              <a:t>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52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FB950"/>
                </a:solidFill>
              </a:rPr>
              <a:t>감소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1440" y="820000"/>
            <a:ext cx="3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1440" y="11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렌더링 성능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1440" y="1500000"/>
            <a:ext cx="37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58A6FF"/>
                </a:solidFill>
              </a:rPr>
              <a:t>390%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1440" y="252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58A6FF"/>
                </a:solidFill>
              </a:rPr>
              <a:t>향상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1440" y="820000"/>
            <a:ext cx="3700000" cy="2400000"/>
          </a:xfrm>
          <a:prstGeom prst="rect">
            <a:avLst/>
          </a:prstGeom>
          <a:solidFill>
            <a:srgbClr val="21262D"/>
          </a:solidFill>
          <a:ln w="25400">
            <a:solidFill>
              <a:srgbClr val="D29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1440" y="11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Jitter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1440" y="1500000"/>
            <a:ext cx="37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D29922"/>
                </a:solidFill>
              </a:rPr>
              <a:t>안정화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440" y="2520000"/>
            <a:ext cx="3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29922"/>
                </a:solidFill>
              </a:rPr>
              <a:t>완료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" y="3420000"/>
            <a:ext cx="12000000" cy="290000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0000" y="353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핵심 경험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000" y="4000000"/>
            <a:ext cx="1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설계 판단에 근거를 두는 것 — 인터페이스/추상 클래스 선택 기준을 직접 언어로 설명할 수 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000" y="4680000"/>
            <a:ext cx="1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수치로 증명하는 최적화 — 13fps → 63.6fps, 트래픽 50% 감소라는 구체적 결과를 만들었다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00" y="5360000"/>
            <a:ext cx="1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</a:rPr>
              <a:t>• 멀티플레이 실전 디버깅 — Jitter 원인 분석과 서버 동기화 일원화로 문제를 해결했다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