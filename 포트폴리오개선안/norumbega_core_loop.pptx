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1B22"/>
                </a:solidFill>
                <a:latin typeface="Malgun Gothic"/>
              </a:rPr>
              <a:t>노룸베가 — 코어 루프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3444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CFBF9"/>
          </a:solidFill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C9A227"/>
                </a:solidFill>
                <a:latin typeface="Malgun Gothic"/>
              </a:rPr>
              <a:t>던닝  (일일 5회)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C1B22"/>
                </a:solidFill>
                <a:latin typeface="Malgun Gothic"/>
              </a:rPr>
              <a:t>방어구 / 장신구 드랍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C1B22"/>
                </a:solidFill>
                <a:latin typeface="Malgun Gothic"/>
              </a:rPr>
              <a:t>패시브 스탯 · 속성 옵션 확인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26679" y="123444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CFBF9"/>
          </a:solidFill>
          <a:ln w="31750">
            <a:solidFill>
              <a:srgbClr val="9B2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9B2335"/>
                </a:solidFill>
                <a:latin typeface="Malgun Gothic"/>
              </a:rPr>
              <a:t>보스레이드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C1B22"/>
                </a:solidFill>
                <a:latin typeface="Malgun Gothic"/>
              </a:rPr>
              <a:t>보스 선택 → 기믹 파악 → 클리어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C1B22"/>
                </a:solidFill>
                <a:latin typeface="Malgun Gothic"/>
              </a:rPr>
              <a:t>무기(액티브 스킬) + 결정 드랍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425196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CFBF9"/>
          </a:solidFill>
          <a:ln w="31750">
            <a:solidFill>
              <a:srgbClr val="9B2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9B2335"/>
                </a:solidFill>
                <a:latin typeface="Malgun Gothic"/>
              </a:rPr>
              <a:t>빌드 강화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C1B22"/>
                </a:solidFill>
                <a:latin typeface="Malgun Gothic"/>
              </a:rPr>
              <a:t>결정 → 무기 스킬 재롤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C1B22"/>
                </a:solidFill>
                <a:latin typeface="Malgun Gothic"/>
              </a:rPr>
              <a:t>토큰 → 무기 수치 재롤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5196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CFBF9"/>
          </a:solidFill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C9A227"/>
                </a:solidFill>
                <a:latin typeface="Malgun Gothic"/>
              </a:rPr>
              <a:t>상위 난이도 도전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C1B22"/>
                </a:solidFill>
                <a:latin typeface="Malgun Gothic"/>
              </a:rPr>
              <a:t>더 높은 난이도의 보스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C1B22"/>
                </a:solidFill>
                <a:latin typeface="Malgun Gothic"/>
              </a:rPr>
              <a:t>→ 더 높은 등급의 아이템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80560" y="2217420"/>
            <a:ext cx="3246119" cy="0"/>
          </a:xfrm>
          <a:prstGeom prst="line">
            <a:avLst/>
          </a:prstGeom>
          <a:ln w="31750">
            <a:solidFill>
              <a:srgbClr val="9B2335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54980" y="1760220"/>
            <a:ext cx="10972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B2335"/>
                </a:solidFill>
                <a:latin typeface="Malgun Gothic"/>
              </a:rPr>
              <a:t>보완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555480" y="3200400"/>
            <a:ext cx="0" cy="1051560"/>
          </a:xfrm>
          <a:prstGeom prst="line">
            <a:avLst/>
          </a:prstGeom>
          <a:ln w="31750">
            <a:solidFill>
              <a:srgbClr val="9B2335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480560" y="5234940"/>
            <a:ext cx="3246119" cy="0"/>
          </a:xfrm>
          <a:prstGeom prst="line">
            <a:avLst/>
          </a:prstGeom>
          <a:ln w="31750">
            <a:solidFill>
              <a:srgbClr val="9B2335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651760" y="3200400"/>
            <a:ext cx="0" cy="1051560"/>
          </a:xfrm>
          <a:prstGeom prst="line">
            <a:avLst/>
          </a:prstGeom>
          <a:ln w="31750">
            <a:solidFill>
              <a:srgbClr val="9B2335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06040" y="3561588"/>
            <a:ext cx="10972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B2335"/>
                </a:solidFill>
                <a:latin typeface="Malgun Gothic"/>
              </a:rPr>
              <a:t>반복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66160" y="3200400"/>
            <a:ext cx="5074920" cy="1051560"/>
          </a:xfrm>
          <a:prstGeom prst="line">
            <a:avLst/>
          </a:prstGeom>
          <a:ln w="25400">
            <a:solidFill>
              <a:srgbClr val="C9A227"/>
            </a:solidFill>
            <a:prstDash val="dash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80660" y="3561588"/>
            <a:ext cx="10972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C9A227"/>
                </a:solidFill>
                <a:latin typeface="Malgun Gothic"/>
              </a:rPr>
              <a:t>토큰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355080"/>
            <a:ext cx="320040" cy="73152"/>
          </a:xfrm>
          <a:prstGeom prst="rect">
            <a:avLst/>
          </a:prstGeom>
          <a:solidFill>
            <a:srgbClr val="9B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6227064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C1B22"/>
                </a:solidFill>
                <a:latin typeface="Malgun Gothic"/>
              </a:rPr>
              <a:t>메인 루프 흐름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6355080"/>
            <a:ext cx="32004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62270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C1B22"/>
                </a:solidFill>
                <a:latin typeface="Malgun Gothic"/>
              </a:rPr>
              <a:t>보조 자원 공급 (토큰)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