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887200" cy="1920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274320"/>
            <a:ext cx="36576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2229"/>
                </a:solidFill>
              </a:rPr>
              <a:t>코어 루프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23360" y="1060704"/>
            <a:ext cx="3840480" cy="804672"/>
          </a:xfrm>
          <a:prstGeom prst="roundRect">
            <a:avLst>
              <a:gd name="adj" fmla="val 6000"/>
            </a:avLst>
          </a:prstGeom>
          <a:solidFill>
            <a:srgbClr val="262A33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CD34D"/>
                </a:solidFill>
              </a:rPr>
              <a:t>지도</a:t>
            </a:r>
          </a:p>
          <a:p>
            <a:pPr algn="ctr"/>
            <a:r>
              <a:rPr b="0" sz="1050">
                <a:solidFill>
                  <a:srgbClr val="9CA3AF"/>
                </a:solidFill>
              </a:rPr>
              <a:t>연대기 지도에서 스테이지 선택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79" y="2843783"/>
            <a:ext cx="4206240" cy="1261872"/>
          </a:xfrm>
          <a:prstGeom prst="roundRect">
            <a:avLst>
              <a:gd name="adj" fmla="val 6000"/>
            </a:avLst>
          </a:prstGeom>
          <a:solidFill>
            <a:srgbClr val="262A33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CD34D"/>
                </a:solidFill>
              </a:rPr>
              <a:t>배치 단계</a:t>
            </a:r>
          </a:p>
          <a:p>
            <a:pPr algn="ctr"/>
            <a:r>
              <a:rPr b="0" sz="1050">
                <a:solidFill>
                  <a:srgbClr val="9CA3AF"/>
                </a:solidFill>
              </a:rPr>
              <a:t>사령관 선택  →  병력 배치</a:t>
            </a:r>
          </a:p>
          <a:p>
            <a:pPr algn="ctr"/>
            <a:r>
              <a:rPr b="0" sz="1050">
                <a:solidFill>
                  <a:srgbClr val="9CA3AF"/>
                </a:solidFill>
              </a:rPr>
              <a:t>( Wave 정보 비공개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79" y="4946904"/>
            <a:ext cx="4206240" cy="1261872"/>
          </a:xfrm>
          <a:prstGeom prst="roundRect">
            <a:avLst>
              <a:gd name="adj" fmla="val 6000"/>
            </a:avLst>
          </a:prstGeom>
          <a:solidFill>
            <a:srgbClr val="262A33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CD34D"/>
                </a:solidFill>
              </a:rPr>
              <a:t>전쟁 단계</a:t>
            </a:r>
          </a:p>
          <a:p>
            <a:pPr algn="ctr"/>
            <a:r>
              <a:rPr b="0" sz="1050">
                <a:solidFill>
                  <a:srgbClr val="9CA3AF"/>
                </a:solidFill>
              </a:rPr>
              <a:t>시뮬레이션 전투</a:t>
            </a:r>
          </a:p>
          <a:p>
            <a:pPr algn="ctr"/>
            <a:r>
              <a:rPr b="0" sz="1050">
                <a:solidFill>
                  <a:srgbClr val="9CA3AF"/>
                </a:solidFill>
              </a:rPr>
              <a:t>( 골드 소모 추가 배치 가능 )</a:t>
            </a:r>
          </a:p>
        </p:txBody>
      </p:sp>
      <p:sp>
        <p:nvSpPr>
          <p:cNvPr id="6" name="Diamond 5"/>
          <p:cNvSpPr/>
          <p:nvPr/>
        </p:nvSpPr>
        <p:spPr>
          <a:xfrm>
            <a:off x="4206240" y="7200900"/>
            <a:ext cx="3474720" cy="960120"/>
          </a:xfrm>
          <a:prstGeom prst="diamond">
            <a:avLst/>
          </a:prstGeom>
          <a:solidFill>
            <a:srgbClr val="FCD34D"/>
          </a:solidFill>
          <a:ln w="1905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62A33"/>
                </a:solidFill>
              </a:rPr>
              <a:t>스테이지 결과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79" y="7050024"/>
            <a:ext cx="2011680" cy="1261872"/>
          </a:xfrm>
          <a:prstGeom prst="roundRect">
            <a:avLst>
              <a:gd name="adj" fmla="val 6000"/>
            </a:avLst>
          </a:prstGeom>
          <a:solidFill>
            <a:srgbClr val="262A33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E8EAED"/>
                </a:solidFill>
              </a:rPr>
              <a:t>재도전 / 항복</a:t>
            </a:r>
          </a:p>
          <a:p>
            <a:pPr algn="ctr"/>
            <a:r>
              <a:rPr b="0" sz="1050">
                <a:solidFill>
                  <a:srgbClr val="9CA3AF"/>
                </a:solidFill>
              </a:rPr>
              <a:t>성벽 붕괴 또는 전멸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9198864"/>
            <a:ext cx="3840480" cy="804672"/>
          </a:xfrm>
          <a:prstGeom prst="roundRect">
            <a:avLst>
              <a:gd name="adj" fmla="val 6000"/>
            </a:avLst>
          </a:prstGeom>
          <a:solidFill>
            <a:srgbClr val="262A33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CD34D"/>
                </a:solidFill>
              </a:rPr>
              <a:t>골드 획득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0949940"/>
            <a:ext cx="3840480" cy="960120"/>
          </a:xfrm>
          <a:prstGeom prst="diamond">
            <a:avLst/>
          </a:prstGeom>
          <a:solidFill>
            <a:srgbClr val="FCD34D"/>
          </a:solidFill>
          <a:ln w="1905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62A33"/>
                </a:solidFill>
              </a:rPr>
              <a:t>사령관 모집  /  탐사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2582144"/>
            <a:ext cx="2560320" cy="804672"/>
          </a:xfrm>
          <a:prstGeom prst="roundRect">
            <a:avLst>
              <a:gd name="adj" fmla="val 6000"/>
            </a:avLst>
          </a:prstGeom>
          <a:solidFill>
            <a:srgbClr val="262A33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E8EAED"/>
                </a:solidFill>
              </a:rPr>
              <a:t>사령관 모집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788384"/>
            <a:ext cx="3840480" cy="804672"/>
          </a:xfrm>
          <a:prstGeom prst="roundRect">
            <a:avLst>
              <a:gd name="adj" fmla="val 6000"/>
            </a:avLst>
          </a:prstGeom>
          <a:solidFill>
            <a:srgbClr val="262A33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CD34D"/>
                </a:solidFill>
              </a:rPr>
              <a:t>병력 모집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0936224"/>
            <a:ext cx="3840480" cy="987552"/>
          </a:xfrm>
          <a:prstGeom prst="roundRect">
            <a:avLst>
              <a:gd name="adj" fmla="val 6000"/>
            </a:avLst>
          </a:prstGeom>
          <a:solidFill>
            <a:srgbClr val="262A33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CD34D"/>
                </a:solidFill>
              </a:rPr>
              <a:t>탐사 진입</a:t>
            </a:r>
          </a:p>
          <a:p>
            <a:pPr algn="ctr"/>
            <a:r>
              <a:rPr b="0" sz="1050">
                <a:solidFill>
                  <a:srgbClr val="9CA3AF"/>
                </a:solidFill>
              </a:rPr>
              <a:t>사령관 선택 (소모)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2252960"/>
            <a:ext cx="4023360" cy="1463040"/>
          </a:xfrm>
          <a:prstGeom prst="roundRect">
            <a:avLst>
              <a:gd name="adj" fmla="val 6000"/>
            </a:avLst>
          </a:prstGeom>
          <a:solidFill>
            <a:srgbClr val="262A33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CD34D"/>
                </a:solidFill>
              </a:rPr>
              <a:t>탐사 진행  ×  최대 5 스테이지</a:t>
            </a:r>
          </a:p>
          <a:p>
            <a:pPr algn="ctr"/>
            <a:r>
              <a:rPr b="0" sz="1050">
                <a:solidFill>
                  <a:srgbClr val="9CA3AF"/>
                </a:solidFill>
              </a:rPr>
              <a:t>매 스테이지: 정신력↓</a:t>
            </a:r>
          </a:p>
          <a:p>
            <a:pPr algn="ctr"/>
            <a:r>
              <a:rPr b="0" sz="1050">
                <a:solidFill>
                  <a:srgbClr val="9CA3AF"/>
                </a:solidFill>
              </a:rPr>
              <a:t>Wave 정보 획득 / 계속 or 종료 선택</a:t>
            </a:r>
          </a:p>
        </p:txBody>
      </p:sp>
      <p:sp>
        <p:nvSpPr>
          <p:cNvPr id="14" name="Diamond 13"/>
          <p:cNvSpPr/>
          <p:nvPr/>
        </p:nvSpPr>
        <p:spPr>
          <a:xfrm>
            <a:off x="9235440" y="14150340"/>
            <a:ext cx="3474720" cy="960120"/>
          </a:xfrm>
          <a:prstGeom prst="diamond">
            <a:avLst/>
          </a:prstGeom>
          <a:solidFill>
            <a:srgbClr val="FCD34D"/>
          </a:solidFill>
          <a:ln w="1905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62A33"/>
                </a:solidFill>
              </a:rPr>
              <a:t>탐사 결과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5508224"/>
            <a:ext cx="3840480" cy="987552"/>
          </a:xfrm>
          <a:prstGeom prst="roundRect">
            <a:avLst>
              <a:gd name="adj" fmla="val 6000"/>
            </a:avLst>
          </a:prstGeom>
          <a:solidFill>
            <a:srgbClr val="262A33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CD34D"/>
                </a:solidFill>
              </a:rPr>
              <a:t>강력한 사령관 획득</a:t>
            </a:r>
          </a:p>
          <a:p>
            <a:pPr algn="ctr"/>
            <a:r>
              <a:rPr b="0" sz="1050">
                <a:solidFill>
                  <a:srgbClr val="9CA3AF"/>
                </a:solidFill>
              </a:rPr>
              <a:t>최종 도달 + 정신력 잔존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1865376"/>
            <a:ext cx="0" cy="978407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43600" y="4105656"/>
            <a:ext cx="0" cy="841248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43600" y="6208775"/>
            <a:ext cx="0" cy="992125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43600" y="8161020"/>
            <a:ext cx="0" cy="1037844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43600" y="10003536"/>
            <a:ext cx="0" cy="946404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52160" y="8497062"/>
            <a:ext cx="9144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F2229"/>
                </a:solidFill>
              </a:rPr>
              <a:t>성공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194560" y="7680960"/>
            <a:ext cx="2011680" cy="0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200" y="7242048"/>
            <a:ext cx="9144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F2229"/>
                </a:solidFill>
              </a:rPr>
              <a:t>실패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188720" y="3474720"/>
            <a:ext cx="0" cy="3575304"/>
          </a:xfrm>
          <a:prstGeom prst="line">
            <a:avLst/>
          </a:prstGeom>
          <a:ln w="25400">
            <a:solidFill>
              <a:srgbClr val="A162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88720" y="3474720"/>
            <a:ext cx="2651759" cy="0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64591" y="5394960"/>
            <a:ext cx="146304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F2229"/>
                </a:solidFill>
              </a:rPr>
              <a:t>재도전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657600" y="11430000"/>
            <a:ext cx="365760" cy="0"/>
          </a:xfrm>
          <a:prstGeom prst="line">
            <a:avLst/>
          </a:prstGeom>
          <a:ln w="25400">
            <a:solidFill>
              <a:srgbClr val="A162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57600" y="11430000"/>
            <a:ext cx="0" cy="1152144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43200" y="10991088"/>
            <a:ext cx="219456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F2229"/>
                </a:solidFill>
              </a:rPr>
              <a:t>사령관 모집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63840" y="11430000"/>
            <a:ext cx="1188720" cy="0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09560" y="10991088"/>
            <a:ext cx="109728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F2229"/>
                </a:solidFill>
              </a:rPr>
              <a:t>탐사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57600" y="13386816"/>
            <a:ext cx="0" cy="3803904"/>
          </a:xfrm>
          <a:prstGeom prst="line">
            <a:avLst/>
          </a:prstGeom>
          <a:ln w="25400">
            <a:solidFill>
              <a:srgbClr val="A162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657600" y="17190720"/>
            <a:ext cx="365760" cy="0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972800" y="11923776"/>
            <a:ext cx="0" cy="329184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972800" y="13716000"/>
            <a:ext cx="0" cy="434340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972800" y="15110459"/>
            <a:ext cx="0" cy="397765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469880" y="15126462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F2229"/>
                </a:solidFill>
              </a:rPr>
              <a:t>최종+잔존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7589520" y="14630400"/>
            <a:ext cx="1645920" cy="0"/>
          </a:xfrm>
          <a:prstGeom prst="line">
            <a:avLst/>
          </a:prstGeom>
          <a:ln w="25400">
            <a:solidFill>
              <a:srgbClr val="A162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949440" y="14173200"/>
            <a:ext cx="292608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F2229"/>
                </a:solidFill>
              </a:rPr>
              <a:t>임의 종료 / 정신력 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589520" y="14630400"/>
            <a:ext cx="0" cy="2560320"/>
          </a:xfrm>
          <a:prstGeom prst="line">
            <a:avLst/>
          </a:prstGeom>
          <a:ln w="25400">
            <a:solidFill>
              <a:srgbClr val="A162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589520" y="17190720"/>
            <a:ext cx="274320" cy="0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589520" y="16002000"/>
            <a:ext cx="1463040" cy="0"/>
          </a:xfrm>
          <a:prstGeom prst="line">
            <a:avLst/>
          </a:prstGeom>
          <a:ln w="25400">
            <a:solidFill>
              <a:srgbClr val="A162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43600" y="17593056"/>
            <a:ext cx="0" cy="512064"/>
          </a:xfrm>
          <a:prstGeom prst="line">
            <a:avLst/>
          </a:prstGeom>
          <a:ln w="25400">
            <a:solidFill>
              <a:srgbClr val="A162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943600" y="18105120"/>
            <a:ext cx="7315200" cy="0"/>
          </a:xfrm>
          <a:prstGeom prst="line">
            <a:avLst/>
          </a:prstGeom>
          <a:ln w="25400">
            <a:solidFill>
              <a:srgbClr val="A162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3258800" y="1463040"/>
            <a:ext cx="0" cy="16642080"/>
          </a:xfrm>
          <a:prstGeom prst="line">
            <a:avLst/>
          </a:prstGeom>
          <a:ln w="25400">
            <a:solidFill>
              <a:srgbClr val="A162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7863840" y="1463040"/>
            <a:ext cx="5394960" cy="0"/>
          </a:xfrm>
          <a:prstGeom prst="line">
            <a:avLst/>
          </a:prstGeom>
          <a:ln w="25400">
            <a:solidFill>
              <a:srgbClr val="A16207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2618720" y="9144000"/>
            <a:ext cx="201168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F2229"/>
                </a:solidFill>
              </a:rPr>
              <a:t>다음 스테이지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